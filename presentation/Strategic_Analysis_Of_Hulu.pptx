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72" r:id="rId4"/>
    <p:sldId id="264" r:id="rId5"/>
    <p:sldId id="266" r:id="rId6"/>
    <p:sldId id="267" r:id="rId7"/>
    <p:sldId id="273" r:id="rId8"/>
    <p:sldId id="261" r:id="rId9"/>
    <p:sldId id="268" r:id="rId10"/>
    <p:sldId id="274" r:id="rId11"/>
    <p:sldId id="275" r:id="rId12"/>
    <p:sldId id="270" r:id="rId13"/>
    <p:sldId id="263"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AF2C"/>
    <a:srgbClr val="118121"/>
    <a:srgbClr val="00D836"/>
    <a:srgbClr val="00A4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10"/>
  </p:normalViewPr>
  <p:slideViewPr>
    <p:cSldViewPr snapToGrid="0" snapToObjects="1">
      <p:cViewPr>
        <p:scale>
          <a:sx n="150" d="100"/>
          <a:sy n="150" d="100"/>
        </p:scale>
        <p:origin x="144"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4100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0F"/>
        </a:solidFill>
        <a:effectLst/>
      </p:bgPr>
    </p:bg>
    <p:spTree>
      <p:nvGrpSpPr>
        <p:cNvPr id="1" name=""/>
        <p:cNvGrpSpPr/>
        <p:nvPr/>
      </p:nvGrpSpPr>
      <p:grpSpPr>
        <a:xfrm>
          <a:off x="0" y="0"/>
          <a:ext cx="0" cy="0"/>
          <a:chOff x="0" y="0"/>
          <a:chExt cx="0" cy="0"/>
        </a:xfrm>
      </p:grpSpPr>
      <p:sp>
        <p:nvSpPr>
          <p:cNvPr id="2" name="Text 0"/>
          <p:cNvSpPr/>
          <p:nvPr/>
        </p:nvSpPr>
        <p:spPr>
          <a:xfrm>
            <a:off x="9363341" y="2241510"/>
            <a:ext cx="1725207" cy="1827570"/>
          </a:xfrm>
          <a:prstGeom prst="rect">
            <a:avLst/>
          </a:prstGeom>
          <a:noFill/>
          <a:ln/>
        </p:spPr>
        <p:txBody>
          <a:bodyPr wrap="square" rtlCol="0" anchor="ctr"/>
          <a:lstStyle/>
          <a:p>
            <a:pPr marL="0" indent="0">
              <a:buNone/>
            </a:pPr>
            <a:r>
              <a:rPr lang="en-US" sz="3600" b="1" kern="0" spc="100" dirty="0">
                <a:solidFill>
                  <a:srgbClr val="1CE783"/>
                </a:solidFill>
                <a:latin typeface="Cambria" pitchFamily="34" charset="0"/>
                <a:ea typeface="Cambria" pitchFamily="34" charset="-122"/>
                <a:cs typeface="Cambria" pitchFamily="34" charset="-120"/>
              </a:rPr>
              <a:t>hulu</a:t>
            </a:r>
            <a:endParaRPr lang="en-US" sz="3600" dirty="0"/>
          </a:p>
        </p:txBody>
      </p:sp>
      <p:sp>
        <p:nvSpPr>
          <p:cNvPr id="3" name="Text 1"/>
          <p:cNvSpPr/>
          <p:nvPr/>
        </p:nvSpPr>
        <p:spPr>
          <a:xfrm>
            <a:off x="502919" y="2148840"/>
            <a:ext cx="7703531" cy="1920240"/>
          </a:xfrm>
          <a:prstGeom prst="rect">
            <a:avLst/>
          </a:prstGeom>
          <a:noFill/>
          <a:ln/>
        </p:spPr>
        <p:txBody>
          <a:bodyPr wrap="square"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Strategic Analysis of Hulu’s Streaming Content Portfolio</a:t>
            </a:r>
            <a:endParaRPr lang="en-US" sz="4600" dirty="0"/>
          </a:p>
        </p:txBody>
      </p:sp>
      <p:sp>
        <p:nvSpPr>
          <p:cNvPr id="4" name="Text 2"/>
          <p:cNvSpPr/>
          <p:nvPr/>
        </p:nvSpPr>
        <p:spPr>
          <a:xfrm>
            <a:off x="502920" y="4251960"/>
            <a:ext cx="8778240" cy="822960"/>
          </a:xfrm>
          <a:prstGeom prst="rect">
            <a:avLst/>
          </a:prstGeom>
          <a:noFill/>
          <a:ln/>
        </p:spPr>
        <p:txBody>
          <a:bodyPr wrap="square" rtlCol="0" anchor="ctr"/>
          <a:lstStyle/>
          <a:p>
            <a:pPr marL="0" indent="0">
              <a:lnSpc>
                <a:spcPts val="2000"/>
              </a:lnSpc>
              <a:buNone/>
            </a:pPr>
            <a:r>
              <a:rPr lang="en-US" sz="1400" dirty="0">
                <a:solidFill>
                  <a:srgbClr val="C7CBCC"/>
                </a:solidFill>
                <a:latin typeface="Calibri" pitchFamily="34" charset="0"/>
                <a:ea typeface="Calibri" pitchFamily="34" charset="-122"/>
                <a:cs typeface="Calibri" pitchFamily="34" charset="-120"/>
              </a:rPr>
              <a:t>Ei Yadana</a:t>
            </a:r>
            <a:endParaRPr lang="en-US" sz="1400" dirty="0"/>
          </a:p>
        </p:txBody>
      </p:sp>
      <p:sp>
        <p:nvSpPr>
          <p:cNvPr id="5" name="Shape 3"/>
          <p:cNvSpPr/>
          <p:nvPr/>
        </p:nvSpPr>
        <p:spPr>
          <a:xfrm>
            <a:off x="502920" y="5257800"/>
            <a:ext cx="1005840" cy="0"/>
          </a:xfrm>
          <a:prstGeom prst="line">
            <a:avLst/>
          </a:prstGeom>
          <a:noFill/>
          <a:ln w="38100">
            <a:solidFill>
              <a:srgbClr val="1CE783"/>
            </a:solidFill>
            <a:prstDash val="solid"/>
          </a:ln>
        </p:spPr>
        <p:txBody>
          <a:bodyPr/>
          <a:lstStyle/>
          <a:p>
            <a:endParaRPr lang="en-US"/>
          </a:p>
        </p:txBody>
      </p:sp>
      <p:sp>
        <p:nvSpPr>
          <p:cNvPr id="9" name="TextBox 8">
            <a:extLst>
              <a:ext uri="{FF2B5EF4-FFF2-40B4-BE49-F238E27FC236}">
                <a16:creationId xmlns:a16="http://schemas.microsoft.com/office/drawing/2014/main" id="{267E769A-610E-D397-C326-9385B0558B4C}"/>
              </a:ext>
            </a:extLst>
          </p:cNvPr>
          <p:cNvSpPr txBox="1"/>
          <p:nvPr/>
        </p:nvSpPr>
        <p:spPr>
          <a:xfrm>
            <a:off x="7176304" y="4815068"/>
            <a:ext cx="184731"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419657"/>
            <a:ext cx="11185855" cy="548640"/>
          </a:xfrm>
          <a:prstGeom prst="rect">
            <a:avLst/>
          </a:prstGeom>
          <a:noFill/>
          <a:ln/>
        </p:spPr>
        <p:txBody>
          <a:bodyPr wrap="square" rtlCol="0" anchor="ctr"/>
          <a:lstStyle/>
          <a:p>
            <a:pPr marL="0" indent="0">
              <a:buNone/>
            </a:pPr>
            <a:r>
              <a:rPr lang="en-US" sz="3000" b="1" dirty="0">
                <a:solidFill>
                  <a:srgbClr val="0B0E0F"/>
                </a:solidFill>
                <a:latin typeface="Cambria" pitchFamily="34" charset="0"/>
                <a:ea typeface="Cambria" pitchFamily="34" charset="-122"/>
                <a:cs typeface="Cambria" pitchFamily="34" charset="-120"/>
              </a:rPr>
              <a:t>Project Overview</a:t>
            </a:r>
            <a:endParaRPr lang="en-US" sz="3000" dirty="0"/>
          </a:p>
        </p:txBody>
      </p:sp>
      <p:sp>
        <p:nvSpPr>
          <p:cNvPr id="6" name="Text 4"/>
          <p:cNvSpPr/>
          <p:nvPr/>
        </p:nvSpPr>
        <p:spPr>
          <a:xfrm>
            <a:off x="452628" y="1193870"/>
            <a:ext cx="5984748" cy="1371600"/>
          </a:xfrm>
          <a:prstGeom prst="rect">
            <a:avLst/>
          </a:prstGeom>
          <a:noFill/>
          <a:ln/>
        </p:spPr>
        <p:txBody>
          <a:bodyPr wrap="square" rtlCol="0" anchor="ctr"/>
          <a:lstStyle/>
          <a:p>
            <a:pPr marL="0" indent="0">
              <a:lnSpc>
                <a:spcPts val="2200"/>
              </a:lnSpc>
              <a:buNone/>
            </a:pPr>
            <a:r>
              <a:rPr lang="en-US" sz="1450" dirty="0">
                <a:solidFill>
                  <a:srgbClr val="1A1D1E"/>
                </a:solidFill>
                <a:latin typeface="Calibri" pitchFamily="34" charset="0"/>
                <a:ea typeface="Calibri" pitchFamily="34" charset="-122"/>
                <a:cs typeface="Calibri" pitchFamily="34" charset="-120"/>
              </a:rPr>
              <a:t>This project applies business intelligence methods to Streaming Video on Demand (SVoD) data through cleaning, exploring, and analyzing content libraries across four major platforms, then translating findings into a focused growth strategy for Hulu.</a:t>
            </a:r>
            <a:endParaRPr lang="en-US" sz="1450" dirty="0"/>
          </a:p>
        </p:txBody>
      </p:sp>
      <p:sp>
        <p:nvSpPr>
          <p:cNvPr id="7" name="Shape 5"/>
          <p:cNvSpPr/>
          <p:nvPr/>
        </p:nvSpPr>
        <p:spPr>
          <a:xfrm>
            <a:off x="502920" y="2880360"/>
            <a:ext cx="3108960" cy="1417320"/>
          </a:xfrm>
          <a:prstGeom prst="roundRect">
            <a:avLst>
              <a:gd name="adj" fmla="val 5161"/>
            </a:avLst>
          </a:prstGeom>
          <a:solidFill>
            <a:srgbClr val="E7FBF1"/>
          </a:solidFill>
          <a:ln w="12700">
            <a:solidFill>
              <a:srgbClr val="C9F2DE"/>
            </a:solidFill>
            <a:prstDash val="solid"/>
          </a:ln>
        </p:spPr>
        <p:txBody>
          <a:bodyPr/>
          <a:lstStyle/>
          <a:p>
            <a:endParaRPr lang="en-US" dirty="0"/>
          </a:p>
        </p:txBody>
      </p:sp>
      <p:sp>
        <p:nvSpPr>
          <p:cNvPr id="8" name="Text 6"/>
          <p:cNvSpPr/>
          <p:nvPr/>
        </p:nvSpPr>
        <p:spPr>
          <a:xfrm>
            <a:off x="640080" y="2971800"/>
            <a:ext cx="2834640" cy="779526"/>
          </a:xfrm>
          <a:prstGeom prst="rect">
            <a:avLst/>
          </a:prstGeom>
          <a:noFill/>
          <a:ln/>
        </p:spPr>
        <p:txBody>
          <a:bodyPr wrap="square" rtlCol="0" anchor="b"/>
          <a:lstStyle/>
          <a:p>
            <a:pPr marL="0" indent="0" algn="l">
              <a:buNone/>
            </a:pPr>
            <a:r>
              <a:rPr lang="en-US" sz="2200" b="1" dirty="0">
                <a:solidFill>
                  <a:srgbClr val="0F9D5A"/>
                </a:solidFill>
                <a:latin typeface="Cambria" pitchFamily="34" charset="0"/>
                <a:ea typeface="Cambria" pitchFamily="34" charset="-122"/>
                <a:cs typeface="Cambria" pitchFamily="34" charset="-120"/>
              </a:rPr>
              <a:t>15,551</a:t>
            </a:r>
            <a:endParaRPr lang="en-US" sz="2200" dirty="0"/>
          </a:p>
        </p:txBody>
      </p:sp>
      <p:sp>
        <p:nvSpPr>
          <p:cNvPr id="9" name="Text 7"/>
          <p:cNvSpPr/>
          <p:nvPr/>
        </p:nvSpPr>
        <p:spPr>
          <a:xfrm>
            <a:off x="640080" y="3705606"/>
            <a:ext cx="2834640" cy="475488"/>
          </a:xfrm>
          <a:prstGeom prst="rect">
            <a:avLst/>
          </a:prstGeom>
          <a:noFill/>
          <a:ln/>
        </p:spPr>
        <p:txBody>
          <a:bodyPr wrap="square" rtlCol="0" anchor="t"/>
          <a:lstStyle/>
          <a:p>
            <a:pPr marL="0" indent="0" algn="l">
              <a:buNone/>
            </a:pPr>
            <a:r>
              <a:rPr lang="en-US" sz="1050" dirty="0">
                <a:solidFill>
                  <a:srgbClr val="5B6467"/>
                </a:solidFill>
                <a:latin typeface="Calibri" pitchFamily="34" charset="0"/>
                <a:ea typeface="Calibri" pitchFamily="34" charset="-122"/>
                <a:cs typeface="Calibri" pitchFamily="34" charset="-120"/>
              </a:rPr>
              <a:t>movie &amp; TV titles analyzed across</a:t>
            </a:r>
            <a:endParaRPr lang="en-US" sz="1050" dirty="0"/>
          </a:p>
          <a:p>
            <a:pPr marL="0" indent="0" algn="l">
              <a:buNone/>
            </a:pPr>
            <a:r>
              <a:rPr lang="en-US" sz="1050" dirty="0">
                <a:solidFill>
                  <a:srgbClr val="5B6467"/>
                </a:solidFill>
                <a:latin typeface="Calibri" pitchFamily="34" charset="0"/>
                <a:ea typeface="Calibri" pitchFamily="34" charset="-122"/>
                <a:cs typeface="Calibri" pitchFamily="34" charset="-120"/>
              </a:rPr>
              <a:t>Netflix, Hulu, Prime Video &amp; Disney+</a:t>
            </a:r>
            <a:endParaRPr lang="en-US" sz="1050" dirty="0"/>
          </a:p>
        </p:txBody>
      </p:sp>
      <p:sp>
        <p:nvSpPr>
          <p:cNvPr id="10" name="Shape 8"/>
          <p:cNvSpPr/>
          <p:nvPr/>
        </p:nvSpPr>
        <p:spPr>
          <a:xfrm>
            <a:off x="502920" y="4434840"/>
            <a:ext cx="3108960" cy="1417320"/>
          </a:xfrm>
          <a:prstGeom prst="roundRect">
            <a:avLst>
              <a:gd name="adj" fmla="val 5161"/>
            </a:avLst>
          </a:prstGeom>
          <a:solidFill>
            <a:srgbClr val="F4F5F6"/>
          </a:solidFill>
          <a:ln w="12700">
            <a:solidFill>
              <a:srgbClr val="E4E7E8"/>
            </a:solidFill>
            <a:prstDash val="solid"/>
          </a:ln>
        </p:spPr>
        <p:txBody>
          <a:bodyPr/>
          <a:lstStyle/>
          <a:p>
            <a:endParaRPr lang="en-US"/>
          </a:p>
        </p:txBody>
      </p:sp>
      <p:sp>
        <p:nvSpPr>
          <p:cNvPr id="11" name="Text 9"/>
          <p:cNvSpPr/>
          <p:nvPr/>
        </p:nvSpPr>
        <p:spPr>
          <a:xfrm>
            <a:off x="640080" y="4526280"/>
            <a:ext cx="2834640" cy="779526"/>
          </a:xfrm>
          <a:prstGeom prst="rect">
            <a:avLst/>
          </a:prstGeom>
          <a:noFill/>
          <a:ln/>
        </p:spPr>
        <p:txBody>
          <a:bodyPr wrap="square" rtlCol="0" anchor="b"/>
          <a:lstStyle/>
          <a:p>
            <a:pPr marL="0" indent="0" algn="l">
              <a:buNone/>
            </a:pPr>
            <a:r>
              <a:rPr lang="en-US" sz="2200" b="1" dirty="0">
                <a:solidFill>
                  <a:srgbClr val="0B0E0F"/>
                </a:solidFill>
                <a:latin typeface="Cambria" pitchFamily="34" charset="0"/>
                <a:ea typeface="Cambria" pitchFamily="34" charset="-122"/>
                <a:cs typeface="Cambria" pitchFamily="34" charset="-120"/>
              </a:rPr>
              <a:t>4</a:t>
            </a:r>
            <a:endParaRPr lang="en-US" sz="2200" dirty="0"/>
          </a:p>
        </p:txBody>
      </p:sp>
      <p:sp>
        <p:nvSpPr>
          <p:cNvPr id="12" name="Text 10"/>
          <p:cNvSpPr/>
          <p:nvPr/>
        </p:nvSpPr>
        <p:spPr>
          <a:xfrm>
            <a:off x="640080" y="5260086"/>
            <a:ext cx="2834640" cy="475488"/>
          </a:xfrm>
          <a:prstGeom prst="rect">
            <a:avLst/>
          </a:prstGeom>
          <a:noFill/>
          <a:ln/>
        </p:spPr>
        <p:txBody>
          <a:bodyPr wrap="square" rtlCol="0" anchor="t"/>
          <a:lstStyle/>
          <a:p>
            <a:pPr marL="0" indent="0" algn="l">
              <a:buNone/>
            </a:pPr>
            <a:r>
              <a:rPr lang="en-US" sz="1050" dirty="0">
                <a:solidFill>
                  <a:srgbClr val="5B6467"/>
                </a:solidFill>
                <a:latin typeface="Calibri" pitchFamily="34" charset="0"/>
                <a:ea typeface="Calibri" pitchFamily="34" charset="-122"/>
                <a:cs typeface="Calibri" pitchFamily="34" charset="-120"/>
              </a:rPr>
              <a:t>platforms benchmarked side-by-side</a:t>
            </a:r>
            <a:endParaRPr lang="en-US" sz="1050" dirty="0"/>
          </a:p>
          <a:p>
            <a:pPr marL="0" indent="0" algn="l">
              <a:buNone/>
            </a:pPr>
            <a:r>
              <a:rPr lang="en-US" sz="1050" dirty="0">
                <a:solidFill>
                  <a:srgbClr val="5B6467"/>
                </a:solidFill>
                <a:latin typeface="Calibri" pitchFamily="34" charset="0"/>
                <a:ea typeface="Calibri" pitchFamily="34" charset="-122"/>
                <a:cs typeface="Calibri" pitchFamily="34" charset="-120"/>
              </a:rPr>
              <a:t>on volume, genre mix &amp; quality</a:t>
            </a:r>
            <a:endParaRPr lang="en-US" sz="1050" dirty="0"/>
          </a:p>
        </p:txBody>
      </p:sp>
      <p:sp>
        <p:nvSpPr>
          <p:cNvPr id="13" name="Shape 11"/>
          <p:cNvSpPr/>
          <p:nvPr/>
        </p:nvSpPr>
        <p:spPr>
          <a:xfrm>
            <a:off x="3794760" y="2880360"/>
            <a:ext cx="2514600" cy="2971800"/>
          </a:xfrm>
          <a:prstGeom prst="roundRect">
            <a:avLst>
              <a:gd name="adj" fmla="val 3636"/>
            </a:avLst>
          </a:prstGeom>
          <a:solidFill>
            <a:srgbClr val="0B0E0F"/>
          </a:solidFill>
          <a:ln/>
          <a:effectLst>
            <a:outerShdw blurRad="101600" dist="38100" dir="5400000" algn="bl" rotWithShape="0">
              <a:srgbClr val="3A3A3A">
                <a:alpha val="18000"/>
              </a:srgbClr>
            </a:outerShdw>
          </a:effectLst>
        </p:spPr>
        <p:txBody>
          <a:bodyPr/>
          <a:lstStyle/>
          <a:p>
            <a:endParaRPr lang="en-US"/>
          </a:p>
        </p:txBody>
      </p:sp>
      <p:sp>
        <p:nvSpPr>
          <p:cNvPr id="14" name="Text 12"/>
          <p:cNvSpPr/>
          <p:nvPr/>
        </p:nvSpPr>
        <p:spPr>
          <a:xfrm>
            <a:off x="3977640" y="3108960"/>
            <a:ext cx="2148840" cy="457200"/>
          </a:xfrm>
          <a:prstGeom prst="rect">
            <a:avLst/>
          </a:prstGeom>
          <a:noFill/>
          <a:ln/>
        </p:spPr>
        <p:txBody>
          <a:bodyPr wrap="square" rtlCol="0" anchor="ctr"/>
          <a:lstStyle/>
          <a:p>
            <a:pPr marL="0" indent="0">
              <a:buNone/>
            </a:pPr>
            <a:r>
              <a:rPr lang="en-US" sz="1050" b="1" kern="0" spc="200" dirty="0">
                <a:solidFill>
                  <a:srgbClr val="8A9294"/>
                </a:solidFill>
                <a:latin typeface="Calibri" pitchFamily="34" charset="0"/>
                <a:ea typeface="Calibri" pitchFamily="34" charset="-122"/>
                <a:cs typeface="Calibri" pitchFamily="34" charset="-120"/>
              </a:rPr>
              <a:t>FOCUS</a:t>
            </a:r>
            <a:endParaRPr lang="en-US" sz="1050" dirty="0"/>
          </a:p>
          <a:p>
            <a:pPr marL="0" indent="0">
              <a:buNone/>
            </a:pPr>
            <a:r>
              <a:rPr lang="en-US" sz="1050" b="1" kern="0" spc="200" dirty="0">
                <a:solidFill>
                  <a:srgbClr val="8A9294"/>
                </a:solidFill>
                <a:latin typeface="Calibri" pitchFamily="34" charset="0"/>
                <a:ea typeface="Calibri" pitchFamily="34" charset="-122"/>
                <a:cs typeface="Calibri" pitchFamily="34" charset="-120"/>
              </a:rPr>
              <a:t>PLATFORM</a:t>
            </a:r>
            <a:endParaRPr lang="en-US" sz="1050" dirty="0"/>
          </a:p>
        </p:txBody>
      </p:sp>
      <p:sp>
        <p:nvSpPr>
          <p:cNvPr id="15" name="Text 13"/>
          <p:cNvSpPr/>
          <p:nvPr/>
        </p:nvSpPr>
        <p:spPr>
          <a:xfrm>
            <a:off x="3977640" y="3520440"/>
            <a:ext cx="2148840" cy="640080"/>
          </a:xfrm>
          <a:prstGeom prst="rect">
            <a:avLst/>
          </a:prstGeom>
          <a:noFill/>
          <a:ln/>
        </p:spPr>
        <p:txBody>
          <a:bodyPr wrap="square" rtlCol="0" anchor="ctr"/>
          <a:lstStyle/>
          <a:p>
            <a:pPr marL="0" indent="0">
              <a:buNone/>
            </a:pPr>
            <a:r>
              <a:rPr lang="en-US" sz="3000" b="1" dirty="0">
                <a:solidFill>
                  <a:srgbClr val="1CE783"/>
                </a:solidFill>
                <a:latin typeface="Cambria" pitchFamily="34" charset="0"/>
                <a:ea typeface="Cambria" pitchFamily="34" charset="-122"/>
                <a:cs typeface="Cambria" pitchFamily="34" charset="-120"/>
              </a:rPr>
              <a:t>hulu</a:t>
            </a:r>
            <a:endParaRPr lang="en-US" sz="3000" dirty="0"/>
          </a:p>
        </p:txBody>
      </p:sp>
      <p:sp>
        <p:nvSpPr>
          <p:cNvPr id="16" name="Text 14"/>
          <p:cNvSpPr/>
          <p:nvPr/>
        </p:nvSpPr>
        <p:spPr>
          <a:xfrm>
            <a:off x="3977640" y="4251960"/>
            <a:ext cx="2148840" cy="1463040"/>
          </a:xfrm>
          <a:prstGeom prst="rect">
            <a:avLst/>
          </a:prstGeom>
          <a:noFill/>
          <a:ln/>
        </p:spPr>
        <p:txBody>
          <a:bodyPr wrap="square" rtlCol="0" anchor="ctr"/>
          <a:lstStyle/>
          <a:p>
            <a:pPr marL="0" indent="0">
              <a:lnSpc>
                <a:spcPts val="1600"/>
              </a:lnSpc>
              <a:buNone/>
            </a:pPr>
            <a:r>
              <a:rPr lang="en-US" sz="1150" dirty="0">
                <a:solidFill>
                  <a:srgbClr val="D8DBDB"/>
                </a:solidFill>
                <a:latin typeface="Calibri" pitchFamily="34" charset="0"/>
                <a:ea typeface="Calibri" pitchFamily="34" charset="-122"/>
                <a:cs typeface="Calibri" pitchFamily="34" charset="-120"/>
              </a:rPr>
              <a:t>Deep-dive into content mix, quality, and competitive position to shape the recommendations ahead.</a:t>
            </a:r>
            <a:endParaRPr lang="en-US" sz="1150" dirty="0"/>
          </a:p>
        </p:txBody>
      </p:sp>
      <p:sp>
        <p:nvSpPr>
          <p:cNvPr id="17" name="Text 15"/>
          <p:cNvSpPr/>
          <p:nvPr/>
        </p:nvSpPr>
        <p:spPr>
          <a:xfrm>
            <a:off x="6629400" y="1417320"/>
            <a:ext cx="5074920" cy="274320"/>
          </a:xfrm>
          <a:prstGeom prst="rect">
            <a:avLst/>
          </a:prstGeom>
          <a:noFill/>
          <a:ln/>
        </p:spPr>
        <p:txBody>
          <a:bodyPr wrap="square" rtlCol="0" anchor="ctr"/>
          <a:lstStyle/>
          <a:p>
            <a:r>
              <a:rPr lang="en-US" sz="1500" b="1" dirty="0">
                <a:solidFill>
                  <a:schemeClr val="bg2">
                    <a:lumMod val="50000"/>
                  </a:schemeClr>
                </a:solidFill>
              </a:rPr>
              <a:t>Methodology</a:t>
            </a:r>
          </a:p>
        </p:txBody>
      </p:sp>
      <p:sp>
        <p:nvSpPr>
          <p:cNvPr id="18" name="Shape 16"/>
          <p:cNvSpPr/>
          <p:nvPr/>
        </p:nvSpPr>
        <p:spPr>
          <a:xfrm>
            <a:off x="6629400" y="1783080"/>
            <a:ext cx="5074920" cy="777240"/>
          </a:xfrm>
          <a:prstGeom prst="roundRect">
            <a:avLst>
              <a:gd name="adj" fmla="val 9412"/>
            </a:avLst>
          </a:prstGeom>
          <a:solidFill>
            <a:srgbClr val="F4F5F6"/>
          </a:solidFill>
          <a:ln w="12700">
            <a:solidFill>
              <a:srgbClr val="E4E7E8"/>
            </a:solidFill>
            <a:prstDash val="solid"/>
          </a:ln>
        </p:spPr>
        <p:txBody>
          <a:bodyPr/>
          <a:lstStyle/>
          <a:p>
            <a:endParaRPr lang="en-US"/>
          </a:p>
        </p:txBody>
      </p:sp>
      <p:sp>
        <p:nvSpPr>
          <p:cNvPr id="20" name="Text 18"/>
          <p:cNvSpPr/>
          <p:nvPr/>
        </p:nvSpPr>
        <p:spPr>
          <a:xfrm>
            <a:off x="6793992" y="1915668"/>
            <a:ext cx="512064" cy="51206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1</a:t>
            </a:r>
            <a:endParaRPr lang="en-US" sz="1500" dirty="0"/>
          </a:p>
        </p:txBody>
      </p:sp>
      <p:sp>
        <p:nvSpPr>
          <p:cNvPr id="21" name="Text 19"/>
          <p:cNvSpPr/>
          <p:nvPr/>
        </p:nvSpPr>
        <p:spPr>
          <a:xfrm>
            <a:off x="7498080" y="1856232"/>
            <a:ext cx="4069080" cy="310896"/>
          </a:xfrm>
          <a:prstGeom prst="rect">
            <a:avLst/>
          </a:prstGeom>
          <a:noFill/>
          <a:ln/>
        </p:spPr>
        <p:txBody>
          <a:bodyPr wrap="square" rtlCol="0" anchor="ctr"/>
          <a:lstStyle/>
          <a:p>
            <a:pPr marL="0" indent="0">
              <a:buNone/>
            </a:pPr>
            <a:r>
              <a:rPr lang="en-US" sz="1350" b="1" dirty="0">
                <a:solidFill>
                  <a:srgbClr val="0B0E0F"/>
                </a:solidFill>
                <a:latin typeface="Calibri" pitchFamily="34" charset="0"/>
                <a:ea typeface="Calibri" pitchFamily="34" charset="-122"/>
                <a:cs typeface="Calibri" pitchFamily="34" charset="-120"/>
              </a:rPr>
              <a:t>Data Cleaning</a:t>
            </a:r>
            <a:endParaRPr lang="en-US" sz="1350" dirty="0"/>
          </a:p>
        </p:txBody>
      </p:sp>
      <p:sp>
        <p:nvSpPr>
          <p:cNvPr id="22" name="Text 20"/>
          <p:cNvSpPr/>
          <p:nvPr/>
        </p:nvSpPr>
        <p:spPr>
          <a:xfrm>
            <a:off x="7498080" y="2167128"/>
            <a:ext cx="4069080" cy="320040"/>
          </a:xfrm>
          <a:prstGeom prst="rect">
            <a:avLst/>
          </a:prstGeom>
          <a:noFill/>
          <a:ln/>
        </p:spPr>
        <p:txBody>
          <a:bodyPr wrap="square" rtlCol="0" anchor="ctr"/>
          <a:lstStyle/>
          <a:p>
            <a:pPr marL="0" indent="0">
              <a:buNone/>
            </a:pPr>
            <a:r>
              <a:rPr lang="en-US" sz="1050" dirty="0">
                <a:solidFill>
                  <a:srgbClr val="5B6467"/>
                </a:solidFill>
                <a:latin typeface="Calibri" pitchFamily="34" charset="0"/>
                <a:ea typeface="Calibri" pitchFamily="34" charset="-122"/>
                <a:cs typeface="Calibri" pitchFamily="34" charset="-120"/>
              </a:rPr>
              <a:t>ETL on movie &amp; TV datasets across all four platforms</a:t>
            </a:r>
            <a:endParaRPr lang="en-US" sz="1050" dirty="0"/>
          </a:p>
        </p:txBody>
      </p:sp>
      <p:sp>
        <p:nvSpPr>
          <p:cNvPr id="23" name="Shape 21"/>
          <p:cNvSpPr/>
          <p:nvPr/>
        </p:nvSpPr>
        <p:spPr>
          <a:xfrm>
            <a:off x="6629400" y="2697480"/>
            <a:ext cx="5074920" cy="777240"/>
          </a:xfrm>
          <a:prstGeom prst="roundRect">
            <a:avLst>
              <a:gd name="adj" fmla="val 9412"/>
            </a:avLst>
          </a:prstGeom>
          <a:solidFill>
            <a:srgbClr val="F4F5F6"/>
          </a:solidFill>
          <a:ln w="12700">
            <a:solidFill>
              <a:srgbClr val="E4E7E8"/>
            </a:solidFill>
            <a:prstDash val="solid"/>
          </a:ln>
        </p:spPr>
        <p:txBody>
          <a:bodyPr/>
          <a:lstStyle/>
          <a:p>
            <a:endParaRPr lang="en-US"/>
          </a:p>
        </p:txBody>
      </p:sp>
      <p:sp>
        <p:nvSpPr>
          <p:cNvPr id="25" name="Text 23"/>
          <p:cNvSpPr/>
          <p:nvPr/>
        </p:nvSpPr>
        <p:spPr>
          <a:xfrm>
            <a:off x="6793992" y="2830068"/>
            <a:ext cx="512064" cy="51206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2</a:t>
            </a:r>
            <a:endParaRPr lang="en-US" sz="1500" dirty="0"/>
          </a:p>
        </p:txBody>
      </p:sp>
      <p:sp>
        <p:nvSpPr>
          <p:cNvPr id="26" name="Text 24"/>
          <p:cNvSpPr/>
          <p:nvPr/>
        </p:nvSpPr>
        <p:spPr>
          <a:xfrm>
            <a:off x="7498080" y="2770632"/>
            <a:ext cx="4069080" cy="310896"/>
          </a:xfrm>
          <a:prstGeom prst="rect">
            <a:avLst/>
          </a:prstGeom>
          <a:noFill/>
          <a:ln/>
        </p:spPr>
        <p:txBody>
          <a:bodyPr wrap="square" rtlCol="0" anchor="ctr"/>
          <a:lstStyle/>
          <a:p>
            <a:pPr marL="0" indent="0">
              <a:buNone/>
            </a:pPr>
            <a:r>
              <a:rPr lang="en-US" sz="1350" b="1" dirty="0">
                <a:solidFill>
                  <a:srgbClr val="0B0E0F"/>
                </a:solidFill>
                <a:latin typeface="Calibri" pitchFamily="34" charset="0"/>
                <a:ea typeface="Calibri" pitchFamily="34" charset="-122"/>
                <a:cs typeface="Calibri" pitchFamily="34" charset="-120"/>
              </a:rPr>
              <a:t>Exploratory Analysis</a:t>
            </a:r>
            <a:endParaRPr lang="en-US" sz="1350" dirty="0"/>
          </a:p>
        </p:txBody>
      </p:sp>
      <p:sp>
        <p:nvSpPr>
          <p:cNvPr id="27" name="Text 25"/>
          <p:cNvSpPr/>
          <p:nvPr/>
        </p:nvSpPr>
        <p:spPr>
          <a:xfrm>
            <a:off x="7498080" y="3081528"/>
            <a:ext cx="4069080" cy="320040"/>
          </a:xfrm>
          <a:prstGeom prst="rect">
            <a:avLst/>
          </a:prstGeom>
          <a:noFill/>
          <a:ln/>
        </p:spPr>
        <p:txBody>
          <a:bodyPr wrap="square" rtlCol="0" anchor="ctr"/>
          <a:lstStyle/>
          <a:p>
            <a:pPr marL="0" indent="0">
              <a:buNone/>
            </a:pPr>
            <a:r>
              <a:rPr lang="en-US" sz="1050" dirty="0">
                <a:solidFill>
                  <a:srgbClr val="5B6467"/>
                </a:solidFill>
                <a:latin typeface="Calibri" pitchFamily="34" charset="0"/>
                <a:ea typeface="Calibri" pitchFamily="34" charset="-122"/>
                <a:cs typeface="Calibri" pitchFamily="34" charset="-120"/>
              </a:rPr>
              <a:t>Trends by genre, release year, and platform</a:t>
            </a:r>
            <a:endParaRPr lang="en-US" sz="1050" dirty="0"/>
          </a:p>
        </p:txBody>
      </p:sp>
      <p:sp>
        <p:nvSpPr>
          <p:cNvPr id="28" name="Shape 26"/>
          <p:cNvSpPr/>
          <p:nvPr/>
        </p:nvSpPr>
        <p:spPr>
          <a:xfrm>
            <a:off x="6629400" y="3611880"/>
            <a:ext cx="5074920" cy="777240"/>
          </a:xfrm>
          <a:prstGeom prst="roundRect">
            <a:avLst>
              <a:gd name="adj" fmla="val 9412"/>
            </a:avLst>
          </a:prstGeom>
          <a:solidFill>
            <a:srgbClr val="F4F5F6"/>
          </a:solidFill>
          <a:ln w="12700">
            <a:solidFill>
              <a:srgbClr val="E4E7E8"/>
            </a:solidFill>
            <a:prstDash val="solid"/>
          </a:ln>
        </p:spPr>
        <p:txBody>
          <a:bodyPr/>
          <a:lstStyle/>
          <a:p>
            <a:endParaRPr lang="en-US"/>
          </a:p>
        </p:txBody>
      </p:sp>
      <p:sp>
        <p:nvSpPr>
          <p:cNvPr id="30" name="Text 28"/>
          <p:cNvSpPr/>
          <p:nvPr/>
        </p:nvSpPr>
        <p:spPr>
          <a:xfrm>
            <a:off x="6793992" y="3744468"/>
            <a:ext cx="512064" cy="51206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3</a:t>
            </a:r>
            <a:endParaRPr lang="en-US" sz="1500" dirty="0"/>
          </a:p>
        </p:txBody>
      </p:sp>
      <p:sp>
        <p:nvSpPr>
          <p:cNvPr id="31" name="Text 29"/>
          <p:cNvSpPr/>
          <p:nvPr/>
        </p:nvSpPr>
        <p:spPr>
          <a:xfrm>
            <a:off x="7498080" y="3685032"/>
            <a:ext cx="4069080" cy="310896"/>
          </a:xfrm>
          <a:prstGeom prst="rect">
            <a:avLst/>
          </a:prstGeom>
          <a:noFill/>
          <a:ln/>
        </p:spPr>
        <p:txBody>
          <a:bodyPr wrap="square" rtlCol="0" anchor="ctr"/>
          <a:lstStyle/>
          <a:p>
            <a:pPr marL="0" indent="0">
              <a:buNone/>
            </a:pPr>
            <a:r>
              <a:rPr lang="en-US" sz="1350" b="1" dirty="0">
                <a:solidFill>
                  <a:srgbClr val="0B0E0F"/>
                </a:solidFill>
                <a:latin typeface="Calibri" pitchFamily="34" charset="0"/>
                <a:cs typeface="Calibri" pitchFamily="34" charset="-120"/>
              </a:rPr>
              <a:t>Platform Analysis: Hulu </a:t>
            </a:r>
            <a:endParaRPr lang="en-US" sz="1350" dirty="0"/>
          </a:p>
        </p:txBody>
      </p:sp>
      <p:sp>
        <p:nvSpPr>
          <p:cNvPr id="32" name="Text 30"/>
          <p:cNvSpPr/>
          <p:nvPr/>
        </p:nvSpPr>
        <p:spPr>
          <a:xfrm>
            <a:off x="7498080" y="3995928"/>
            <a:ext cx="4069080" cy="320040"/>
          </a:xfrm>
          <a:prstGeom prst="rect">
            <a:avLst/>
          </a:prstGeom>
          <a:noFill/>
          <a:ln/>
        </p:spPr>
        <p:txBody>
          <a:bodyPr wrap="square" rtlCol="0" anchor="ctr"/>
          <a:lstStyle/>
          <a:p>
            <a:pPr marL="0" indent="0">
              <a:buNone/>
            </a:pPr>
            <a:r>
              <a:rPr lang="en-US" sz="1050" dirty="0">
                <a:solidFill>
                  <a:srgbClr val="5B6467"/>
                </a:solidFill>
                <a:latin typeface="Calibri" pitchFamily="34" charset="0"/>
                <a:ea typeface="Calibri" pitchFamily="34" charset="-122"/>
                <a:cs typeface="Calibri" pitchFamily="34" charset="-120"/>
              </a:rPr>
              <a:t>Content mix, ratings, and competitive position</a:t>
            </a:r>
            <a:endParaRPr lang="en-US" sz="1050" dirty="0"/>
          </a:p>
        </p:txBody>
      </p:sp>
      <p:sp>
        <p:nvSpPr>
          <p:cNvPr id="33" name="Shape 31"/>
          <p:cNvSpPr/>
          <p:nvPr/>
        </p:nvSpPr>
        <p:spPr>
          <a:xfrm>
            <a:off x="6629400" y="4526280"/>
            <a:ext cx="5074920" cy="777240"/>
          </a:xfrm>
          <a:prstGeom prst="roundRect">
            <a:avLst>
              <a:gd name="adj" fmla="val 9412"/>
            </a:avLst>
          </a:prstGeom>
          <a:solidFill>
            <a:srgbClr val="F4F5F6"/>
          </a:solidFill>
          <a:ln w="12700">
            <a:solidFill>
              <a:srgbClr val="E4E7E8"/>
            </a:solidFill>
            <a:prstDash val="solid"/>
          </a:ln>
        </p:spPr>
        <p:txBody>
          <a:bodyPr/>
          <a:lstStyle/>
          <a:p>
            <a:endParaRPr lang="en-US"/>
          </a:p>
        </p:txBody>
      </p:sp>
      <p:sp>
        <p:nvSpPr>
          <p:cNvPr id="35" name="Text 33"/>
          <p:cNvSpPr/>
          <p:nvPr/>
        </p:nvSpPr>
        <p:spPr>
          <a:xfrm>
            <a:off x="6793992" y="4658868"/>
            <a:ext cx="512064" cy="51206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4</a:t>
            </a:r>
            <a:endParaRPr lang="en-US" sz="1500" dirty="0"/>
          </a:p>
        </p:txBody>
      </p:sp>
      <p:sp>
        <p:nvSpPr>
          <p:cNvPr id="36" name="Text 34"/>
          <p:cNvSpPr/>
          <p:nvPr/>
        </p:nvSpPr>
        <p:spPr>
          <a:xfrm>
            <a:off x="7498080" y="4599432"/>
            <a:ext cx="4069080" cy="310896"/>
          </a:xfrm>
          <a:prstGeom prst="rect">
            <a:avLst/>
          </a:prstGeom>
          <a:noFill/>
          <a:ln/>
        </p:spPr>
        <p:txBody>
          <a:bodyPr wrap="square" rtlCol="0" anchor="ctr"/>
          <a:lstStyle/>
          <a:p>
            <a:pPr marL="0" indent="0">
              <a:buNone/>
            </a:pPr>
            <a:r>
              <a:rPr lang="en-US" sz="1350" b="1" dirty="0">
                <a:solidFill>
                  <a:srgbClr val="0B0E0F"/>
                </a:solidFill>
                <a:latin typeface="Calibri" pitchFamily="34" charset="0"/>
                <a:ea typeface="Calibri" pitchFamily="34" charset="-122"/>
                <a:cs typeface="Calibri" pitchFamily="34" charset="-120"/>
              </a:rPr>
              <a:t>Strategic Recommendations</a:t>
            </a:r>
            <a:endParaRPr lang="en-US" sz="1350" dirty="0"/>
          </a:p>
        </p:txBody>
      </p:sp>
      <p:sp>
        <p:nvSpPr>
          <p:cNvPr id="37" name="Text 35"/>
          <p:cNvSpPr/>
          <p:nvPr/>
        </p:nvSpPr>
        <p:spPr>
          <a:xfrm>
            <a:off x="7498080" y="4910328"/>
            <a:ext cx="4069080" cy="320040"/>
          </a:xfrm>
          <a:prstGeom prst="rect">
            <a:avLst/>
          </a:prstGeom>
          <a:noFill/>
          <a:ln/>
        </p:spPr>
        <p:txBody>
          <a:bodyPr wrap="square" rtlCol="0" anchor="ctr"/>
          <a:lstStyle/>
          <a:p>
            <a:pPr marL="0" indent="0">
              <a:buNone/>
            </a:pPr>
            <a:r>
              <a:rPr lang="en-US" sz="1050" dirty="0">
                <a:solidFill>
                  <a:srgbClr val="5B6467"/>
                </a:solidFill>
                <a:latin typeface="Calibri" pitchFamily="34" charset="0"/>
                <a:ea typeface="Calibri" pitchFamily="34" charset="-122"/>
                <a:cs typeface="Calibri" pitchFamily="34" charset="-120"/>
              </a:rPr>
              <a:t>Strategic actions grounded in the data</a:t>
            </a:r>
            <a:endParaRPr lang="en-US" sz="1050" dirty="0"/>
          </a:p>
        </p:txBody>
      </p:sp>
      <p:sp>
        <p:nvSpPr>
          <p:cNvPr id="38" name="Text 36"/>
          <p:cNvSpPr/>
          <p:nvPr/>
        </p:nvSpPr>
        <p:spPr>
          <a:xfrm>
            <a:off x="6629400" y="5486400"/>
            <a:ext cx="5074920" cy="274320"/>
          </a:xfrm>
          <a:prstGeom prst="rect">
            <a:avLst/>
          </a:prstGeom>
          <a:noFill/>
          <a:ln/>
        </p:spPr>
        <p:txBody>
          <a:bodyPr wrap="square" rtlCol="0" anchor="ctr"/>
          <a:lstStyle/>
          <a:p>
            <a:pPr marL="0" indent="0">
              <a:buNone/>
            </a:pPr>
            <a:r>
              <a:rPr lang="en-US" sz="1400" dirty="0">
                <a:solidFill>
                  <a:srgbClr val="5B6467"/>
                </a:solidFill>
                <a:latin typeface="Calibri" pitchFamily="34" charset="0"/>
                <a:ea typeface="Calibri" pitchFamily="34" charset="-122"/>
                <a:cs typeface="Calibri" pitchFamily="34" charset="-120"/>
              </a:rPr>
              <a:t>Tools: Python (Pandas, NumPy, Matplotlib), Jupyter Notebook</a:t>
            </a:r>
            <a:endParaRPr lang="en-US" sz="1400" dirty="0"/>
          </a:p>
        </p:txBody>
      </p:sp>
      <p:sp>
        <p:nvSpPr>
          <p:cNvPr id="40" name="TextBox 39">
            <a:extLst>
              <a:ext uri="{FF2B5EF4-FFF2-40B4-BE49-F238E27FC236}">
                <a16:creationId xmlns:a16="http://schemas.microsoft.com/office/drawing/2014/main" id="{D7D2510B-62D1-8AAC-C49A-67811DEBC435}"/>
              </a:ext>
            </a:extLst>
          </p:cNvPr>
          <p:cNvSpPr txBox="1"/>
          <p:nvPr/>
        </p:nvSpPr>
        <p:spPr>
          <a:xfrm>
            <a:off x="640080" y="2909726"/>
            <a:ext cx="6099858" cy="369332"/>
          </a:xfrm>
          <a:prstGeom prst="rect">
            <a:avLst/>
          </a:prstGeom>
          <a:noFill/>
        </p:spPr>
        <p:txBody>
          <a:bodyPr wrap="square">
            <a:spAutoFit/>
          </a:bodyPr>
          <a:lstStyle/>
          <a:p>
            <a:pPr marL="0" indent="0">
              <a:buNone/>
            </a:pPr>
            <a:r>
              <a:rPr lang="en-US" sz="1800" b="1" dirty="0">
                <a:solidFill>
                  <a:srgbClr val="14181A"/>
                </a:solidFill>
                <a:latin typeface="Cambria" pitchFamily="34" charset="0"/>
                <a:ea typeface="Cambria" pitchFamily="34" charset="-122"/>
                <a:cs typeface="Cambria" pitchFamily="34" charset="-120"/>
              </a:rPr>
              <a:t>Dataset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CA16272E-E296-E852-15F7-C0F733A7339B}"/>
              </a:ext>
            </a:extLst>
          </p:cNvPr>
          <p:cNvSpPr/>
          <p:nvPr/>
        </p:nvSpPr>
        <p:spPr>
          <a:xfrm>
            <a:off x="503072" y="318477"/>
            <a:ext cx="11185855" cy="548640"/>
          </a:xfrm>
          <a:prstGeom prst="rect">
            <a:avLst/>
          </a:prstGeom>
          <a:noFill/>
          <a:ln/>
        </p:spPr>
        <p:txBody>
          <a:bodyPr wrap="square" rtlCol="0" anchor="ctr"/>
          <a:lstStyle/>
          <a:p>
            <a:pPr marL="0" indent="0">
              <a:buNone/>
            </a:pPr>
            <a:r>
              <a:rPr lang="en-US" sz="3000" b="1" dirty="0">
                <a:solidFill>
                  <a:srgbClr val="0B0E0F"/>
                </a:solidFill>
                <a:latin typeface="Cambria" pitchFamily="34" charset="0"/>
              </a:rPr>
              <a:t>Industry Landscape</a:t>
            </a:r>
            <a:endParaRPr lang="en-US" sz="3000" dirty="0"/>
          </a:p>
        </p:txBody>
      </p:sp>
      <p:sp>
        <p:nvSpPr>
          <p:cNvPr id="14" name="Shape 14">
            <a:extLst>
              <a:ext uri="{FF2B5EF4-FFF2-40B4-BE49-F238E27FC236}">
                <a16:creationId xmlns:a16="http://schemas.microsoft.com/office/drawing/2014/main" id="{01D9A95B-E94F-DE05-30E9-64F61D91CD1A}"/>
              </a:ext>
            </a:extLst>
          </p:cNvPr>
          <p:cNvSpPr/>
          <p:nvPr/>
        </p:nvSpPr>
        <p:spPr>
          <a:xfrm>
            <a:off x="3091069" y="1935043"/>
            <a:ext cx="1051560" cy="310896"/>
          </a:xfrm>
          <a:prstGeom prst="roundRect">
            <a:avLst>
              <a:gd name="adj" fmla="val 50000"/>
            </a:avLst>
          </a:prstGeom>
          <a:solidFill>
            <a:schemeClr val="tx1"/>
          </a:solidFill>
          <a:ln>
            <a:noFill/>
          </a:ln>
        </p:spPr>
        <p:txBody>
          <a:bodyPr/>
          <a:lstStyle/>
          <a:p>
            <a:endParaRPr lang="en-US" dirty="0"/>
          </a:p>
        </p:txBody>
      </p:sp>
      <p:sp>
        <p:nvSpPr>
          <p:cNvPr id="15" name="Text 15">
            <a:extLst>
              <a:ext uri="{FF2B5EF4-FFF2-40B4-BE49-F238E27FC236}">
                <a16:creationId xmlns:a16="http://schemas.microsoft.com/office/drawing/2014/main" id="{EDE45D55-7E07-544B-14E2-2A6E1AF72CBC}"/>
              </a:ext>
            </a:extLst>
          </p:cNvPr>
          <p:cNvSpPr/>
          <p:nvPr/>
        </p:nvSpPr>
        <p:spPr>
          <a:xfrm>
            <a:off x="3091069" y="1950587"/>
            <a:ext cx="105156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Very High</a:t>
            </a:r>
            <a:endParaRPr lang="en-US" sz="950" dirty="0"/>
          </a:p>
        </p:txBody>
      </p:sp>
      <p:sp>
        <p:nvSpPr>
          <p:cNvPr id="16" name="Text 16">
            <a:extLst>
              <a:ext uri="{FF2B5EF4-FFF2-40B4-BE49-F238E27FC236}">
                <a16:creationId xmlns:a16="http://schemas.microsoft.com/office/drawing/2014/main" id="{112BCF12-E7C1-1D25-F0C9-EF9470DCEF1C}"/>
              </a:ext>
            </a:extLst>
          </p:cNvPr>
          <p:cNvSpPr/>
          <p:nvPr/>
        </p:nvSpPr>
        <p:spPr>
          <a:xfrm>
            <a:off x="4371229" y="1746676"/>
            <a:ext cx="2103120" cy="718718"/>
          </a:xfrm>
          <a:prstGeom prst="rect">
            <a:avLst/>
          </a:prstGeom>
          <a:noFill/>
          <a:ln/>
        </p:spPr>
        <p:txBody>
          <a:bodyPr wrap="square" rtlCol="0" anchor="ctr"/>
          <a:lstStyle/>
          <a:p>
            <a:pPr marL="0" indent="0">
              <a:lnSpc>
                <a:spcPts val="1400"/>
              </a:lnSpc>
              <a:buNone/>
            </a:pPr>
            <a:r>
              <a:rPr lang="en-US" sz="1250" b="1" dirty="0">
                <a:solidFill>
                  <a:srgbClr val="0B0E0F"/>
                </a:solidFill>
                <a:latin typeface="Calibri" pitchFamily="34" charset="0"/>
                <a:ea typeface="Calibri" pitchFamily="34" charset="-122"/>
                <a:cs typeface="Calibri" pitchFamily="34" charset="-120"/>
              </a:rPr>
              <a:t>Competitive Rivalry</a:t>
            </a:r>
            <a:endParaRPr lang="en-US" sz="1250" dirty="0"/>
          </a:p>
        </p:txBody>
      </p:sp>
      <p:sp>
        <p:nvSpPr>
          <p:cNvPr id="17" name="Text 17">
            <a:extLst>
              <a:ext uri="{FF2B5EF4-FFF2-40B4-BE49-F238E27FC236}">
                <a16:creationId xmlns:a16="http://schemas.microsoft.com/office/drawing/2014/main" id="{CF8B691E-4914-D7CC-2D81-D83F1E7AA514}"/>
              </a:ext>
            </a:extLst>
          </p:cNvPr>
          <p:cNvSpPr/>
          <p:nvPr/>
        </p:nvSpPr>
        <p:spPr>
          <a:xfrm>
            <a:off x="6565789" y="1746676"/>
            <a:ext cx="4774759" cy="718718"/>
          </a:xfrm>
          <a:prstGeom prst="rect">
            <a:avLst/>
          </a:prstGeom>
          <a:noFill/>
          <a:ln/>
        </p:spPr>
        <p:txBody>
          <a:bodyPr wrap="square" rtlCol="0" anchor="ctr"/>
          <a:lstStyle/>
          <a:p>
            <a:pPr marL="0" indent="0">
              <a:lnSpc>
                <a:spcPts val="1300"/>
              </a:lnSpc>
              <a:buNone/>
            </a:pPr>
            <a:r>
              <a:rPr lang="en-US" sz="1050" b="0" i="0" u="none" strike="noStrike" dirty="0">
                <a:solidFill>
                  <a:srgbClr val="0A0A0A"/>
                </a:solidFill>
                <a:effectLst/>
                <a:latin typeface="Calibri" panose="020F0502020204030204" pitchFamily="34" charset="0"/>
                <a:cs typeface="Calibri" panose="020F0502020204030204" pitchFamily="34" charset="0"/>
              </a:rPr>
              <a:t>Competition is intense as established streaming providers continuously invest in exclusive content, technology, advertising, and pricing strategies to attract and retain subscribers in a saturated market.</a:t>
            </a:r>
            <a:endParaRPr lang="en-US" sz="1050" dirty="0">
              <a:latin typeface="Calibri" panose="020F0502020204030204" pitchFamily="34" charset="0"/>
              <a:cs typeface="Calibri" panose="020F0502020204030204" pitchFamily="34" charset="0"/>
            </a:endParaRPr>
          </a:p>
        </p:txBody>
      </p:sp>
      <p:sp>
        <p:nvSpPr>
          <p:cNvPr id="18" name="Shape 18">
            <a:extLst>
              <a:ext uri="{FF2B5EF4-FFF2-40B4-BE49-F238E27FC236}">
                <a16:creationId xmlns:a16="http://schemas.microsoft.com/office/drawing/2014/main" id="{9E8516BE-159A-4E61-9BAA-1855083F7FC0}"/>
              </a:ext>
            </a:extLst>
          </p:cNvPr>
          <p:cNvSpPr/>
          <p:nvPr/>
        </p:nvSpPr>
        <p:spPr>
          <a:xfrm>
            <a:off x="3091069" y="2556834"/>
            <a:ext cx="7573975" cy="0"/>
          </a:xfrm>
          <a:prstGeom prst="line">
            <a:avLst/>
          </a:prstGeom>
          <a:noFill/>
          <a:ln w="12700">
            <a:solidFill>
              <a:srgbClr val="E4E7E8"/>
            </a:solidFill>
            <a:prstDash val="solid"/>
          </a:ln>
        </p:spPr>
        <p:txBody>
          <a:bodyPr/>
          <a:lstStyle/>
          <a:p>
            <a:endParaRPr lang="en-US"/>
          </a:p>
        </p:txBody>
      </p:sp>
      <p:sp>
        <p:nvSpPr>
          <p:cNvPr id="19" name="Shape 19">
            <a:extLst>
              <a:ext uri="{FF2B5EF4-FFF2-40B4-BE49-F238E27FC236}">
                <a16:creationId xmlns:a16="http://schemas.microsoft.com/office/drawing/2014/main" id="{9CC92969-A888-BABC-B052-7295597E521D}"/>
              </a:ext>
            </a:extLst>
          </p:cNvPr>
          <p:cNvSpPr/>
          <p:nvPr/>
        </p:nvSpPr>
        <p:spPr>
          <a:xfrm>
            <a:off x="3091069" y="2852186"/>
            <a:ext cx="1051560" cy="310896"/>
          </a:xfrm>
          <a:prstGeom prst="roundRect">
            <a:avLst>
              <a:gd name="adj" fmla="val 50000"/>
            </a:avLst>
          </a:prstGeom>
          <a:solidFill>
            <a:schemeClr val="tx1"/>
          </a:solidFill>
          <a:ln/>
        </p:spPr>
        <p:txBody>
          <a:bodyPr/>
          <a:lstStyle/>
          <a:p>
            <a:endParaRPr lang="en-US"/>
          </a:p>
        </p:txBody>
      </p:sp>
      <p:sp>
        <p:nvSpPr>
          <p:cNvPr id="20" name="Text 20">
            <a:extLst>
              <a:ext uri="{FF2B5EF4-FFF2-40B4-BE49-F238E27FC236}">
                <a16:creationId xmlns:a16="http://schemas.microsoft.com/office/drawing/2014/main" id="{87BF2796-9F03-69D1-07A9-96055B5B5107}"/>
              </a:ext>
            </a:extLst>
          </p:cNvPr>
          <p:cNvSpPr/>
          <p:nvPr/>
        </p:nvSpPr>
        <p:spPr>
          <a:xfrm>
            <a:off x="3091069" y="2852186"/>
            <a:ext cx="105156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Moderate</a:t>
            </a:r>
            <a:endParaRPr lang="en-US" sz="950" dirty="0"/>
          </a:p>
        </p:txBody>
      </p:sp>
      <p:sp>
        <p:nvSpPr>
          <p:cNvPr id="21" name="Text 21">
            <a:extLst>
              <a:ext uri="{FF2B5EF4-FFF2-40B4-BE49-F238E27FC236}">
                <a16:creationId xmlns:a16="http://schemas.microsoft.com/office/drawing/2014/main" id="{CB751796-E5A9-E903-D5D1-159C8408AB9C}"/>
              </a:ext>
            </a:extLst>
          </p:cNvPr>
          <p:cNvSpPr/>
          <p:nvPr/>
        </p:nvSpPr>
        <p:spPr>
          <a:xfrm>
            <a:off x="4371229" y="2648274"/>
            <a:ext cx="2103120" cy="718718"/>
          </a:xfrm>
          <a:prstGeom prst="rect">
            <a:avLst/>
          </a:prstGeom>
          <a:noFill/>
          <a:ln/>
        </p:spPr>
        <p:txBody>
          <a:bodyPr wrap="square" rtlCol="0" anchor="ctr"/>
          <a:lstStyle/>
          <a:p>
            <a:pPr marL="0" indent="0">
              <a:lnSpc>
                <a:spcPts val="1400"/>
              </a:lnSpc>
              <a:buNone/>
            </a:pPr>
            <a:r>
              <a:rPr lang="en-US" sz="1250" b="1" dirty="0">
                <a:solidFill>
                  <a:srgbClr val="0B0E0F"/>
                </a:solidFill>
                <a:latin typeface="Calibri" pitchFamily="34" charset="0"/>
                <a:ea typeface="Calibri" pitchFamily="34" charset="-122"/>
                <a:cs typeface="Calibri" pitchFamily="34" charset="-120"/>
              </a:rPr>
              <a:t>Threat of New Entrants</a:t>
            </a:r>
            <a:endParaRPr lang="en-US" sz="1250" dirty="0"/>
          </a:p>
        </p:txBody>
      </p:sp>
      <p:sp>
        <p:nvSpPr>
          <p:cNvPr id="22" name="Text 22">
            <a:extLst>
              <a:ext uri="{FF2B5EF4-FFF2-40B4-BE49-F238E27FC236}">
                <a16:creationId xmlns:a16="http://schemas.microsoft.com/office/drawing/2014/main" id="{960A1B5F-ACAD-3977-BD39-CB4C9BD57728}"/>
              </a:ext>
            </a:extLst>
          </p:cNvPr>
          <p:cNvSpPr/>
          <p:nvPr/>
        </p:nvSpPr>
        <p:spPr>
          <a:xfrm>
            <a:off x="6565789" y="2648273"/>
            <a:ext cx="4774759" cy="997669"/>
          </a:xfrm>
          <a:prstGeom prst="rect">
            <a:avLst/>
          </a:prstGeom>
          <a:noFill/>
          <a:ln/>
        </p:spPr>
        <p:txBody>
          <a:bodyPr wrap="square" rtlCol="0" anchor="ctr"/>
          <a:lstStyle/>
          <a:p>
            <a:pPr rtl="0">
              <a:spcBef>
                <a:spcPts val="0"/>
              </a:spcBef>
              <a:spcAft>
                <a:spcPts val="0"/>
              </a:spcAft>
            </a:pPr>
            <a:r>
              <a:rPr lang="en-US" sz="1050" b="0" i="0" u="none" strike="noStrike" dirty="0">
                <a:solidFill>
                  <a:srgbClr val="0A0A0A"/>
                </a:solidFill>
                <a:effectLst/>
                <a:latin typeface="Calibri" panose="020F0502020204030204" pitchFamily="34" charset="0"/>
                <a:cs typeface="Calibri" panose="020F0502020204030204" pitchFamily="34" charset="0"/>
              </a:rPr>
              <a:t>The streaming industry has high barriers to entry because companies must invest heavily in technology, original content, licensing, and marketing. Established brands also benefit from large subscriber bases and economies of scale, making it difficult for new firms to compete.</a:t>
            </a:r>
            <a:endParaRPr lang="en-US" sz="1050" b="0" dirty="0">
              <a:effectLst/>
              <a:latin typeface="Calibri" panose="020F0502020204030204" pitchFamily="34" charset="0"/>
              <a:cs typeface="Calibri" panose="020F0502020204030204" pitchFamily="34" charset="0"/>
            </a:endParaRPr>
          </a:p>
          <a:p>
            <a:br>
              <a:rPr lang="en-US" sz="1050" dirty="0"/>
            </a:br>
            <a:endParaRPr lang="en-US" sz="1050" dirty="0"/>
          </a:p>
        </p:txBody>
      </p:sp>
      <p:sp>
        <p:nvSpPr>
          <p:cNvPr id="23" name="Shape 23">
            <a:extLst>
              <a:ext uri="{FF2B5EF4-FFF2-40B4-BE49-F238E27FC236}">
                <a16:creationId xmlns:a16="http://schemas.microsoft.com/office/drawing/2014/main" id="{FDDE4127-C97B-0324-B3B4-73C04DAE1D2D}"/>
              </a:ext>
            </a:extLst>
          </p:cNvPr>
          <p:cNvSpPr/>
          <p:nvPr/>
        </p:nvSpPr>
        <p:spPr>
          <a:xfrm>
            <a:off x="3091069" y="3458433"/>
            <a:ext cx="7573975" cy="0"/>
          </a:xfrm>
          <a:prstGeom prst="line">
            <a:avLst/>
          </a:prstGeom>
          <a:noFill/>
          <a:ln w="12700">
            <a:solidFill>
              <a:srgbClr val="E4E7E8"/>
            </a:solidFill>
            <a:prstDash val="solid"/>
          </a:ln>
        </p:spPr>
        <p:txBody>
          <a:bodyPr/>
          <a:lstStyle/>
          <a:p>
            <a:endParaRPr lang="en-US"/>
          </a:p>
        </p:txBody>
      </p:sp>
      <p:sp>
        <p:nvSpPr>
          <p:cNvPr id="24" name="Shape 24">
            <a:extLst>
              <a:ext uri="{FF2B5EF4-FFF2-40B4-BE49-F238E27FC236}">
                <a16:creationId xmlns:a16="http://schemas.microsoft.com/office/drawing/2014/main" id="{7B399F1B-3DCE-EA44-9C7D-2E63DA1A4D32}"/>
              </a:ext>
            </a:extLst>
          </p:cNvPr>
          <p:cNvSpPr/>
          <p:nvPr/>
        </p:nvSpPr>
        <p:spPr>
          <a:xfrm>
            <a:off x="3091069" y="3753784"/>
            <a:ext cx="1051560" cy="310896"/>
          </a:xfrm>
          <a:prstGeom prst="roundRect">
            <a:avLst>
              <a:gd name="adj" fmla="val 50000"/>
            </a:avLst>
          </a:prstGeom>
          <a:solidFill>
            <a:schemeClr val="tx1"/>
          </a:solidFill>
          <a:ln/>
        </p:spPr>
        <p:txBody>
          <a:bodyPr/>
          <a:lstStyle/>
          <a:p>
            <a:endParaRPr lang="en-US"/>
          </a:p>
        </p:txBody>
      </p:sp>
      <p:sp>
        <p:nvSpPr>
          <p:cNvPr id="25" name="Text 25">
            <a:extLst>
              <a:ext uri="{FF2B5EF4-FFF2-40B4-BE49-F238E27FC236}">
                <a16:creationId xmlns:a16="http://schemas.microsoft.com/office/drawing/2014/main" id="{883DDF86-09E1-15B1-865F-1E7956F6C0ED}"/>
              </a:ext>
            </a:extLst>
          </p:cNvPr>
          <p:cNvSpPr/>
          <p:nvPr/>
        </p:nvSpPr>
        <p:spPr>
          <a:xfrm>
            <a:off x="3091069" y="3753784"/>
            <a:ext cx="105156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High</a:t>
            </a:r>
            <a:endParaRPr lang="en-US" sz="950" dirty="0"/>
          </a:p>
        </p:txBody>
      </p:sp>
      <p:sp>
        <p:nvSpPr>
          <p:cNvPr id="26" name="Text 26">
            <a:extLst>
              <a:ext uri="{FF2B5EF4-FFF2-40B4-BE49-F238E27FC236}">
                <a16:creationId xmlns:a16="http://schemas.microsoft.com/office/drawing/2014/main" id="{C75708EA-31BF-69FC-323D-FE4786E23599}"/>
              </a:ext>
            </a:extLst>
          </p:cNvPr>
          <p:cNvSpPr/>
          <p:nvPr/>
        </p:nvSpPr>
        <p:spPr>
          <a:xfrm>
            <a:off x="4371228" y="3549873"/>
            <a:ext cx="2506827" cy="718718"/>
          </a:xfrm>
          <a:prstGeom prst="rect">
            <a:avLst/>
          </a:prstGeom>
          <a:noFill/>
          <a:ln/>
        </p:spPr>
        <p:txBody>
          <a:bodyPr wrap="square" rtlCol="0" anchor="ctr"/>
          <a:lstStyle/>
          <a:p>
            <a:pPr marL="0" indent="0">
              <a:lnSpc>
                <a:spcPts val="1400"/>
              </a:lnSpc>
              <a:buNone/>
            </a:pPr>
            <a:r>
              <a:rPr lang="en-US" sz="1250" b="1" dirty="0">
                <a:solidFill>
                  <a:srgbClr val="0B0E0F"/>
                </a:solidFill>
                <a:latin typeface="Calibri" pitchFamily="34" charset="0"/>
                <a:ea typeface="Calibri" pitchFamily="34" charset="-122"/>
                <a:cs typeface="Calibri" pitchFamily="34" charset="-120"/>
              </a:rPr>
              <a:t>Bargaining Power of Suppliers</a:t>
            </a:r>
            <a:endParaRPr lang="en-US" sz="1250" dirty="0"/>
          </a:p>
        </p:txBody>
      </p:sp>
      <p:sp>
        <p:nvSpPr>
          <p:cNvPr id="27" name="Text 27">
            <a:extLst>
              <a:ext uri="{FF2B5EF4-FFF2-40B4-BE49-F238E27FC236}">
                <a16:creationId xmlns:a16="http://schemas.microsoft.com/office/drawing/2014/main" id="{05C5A2F7-A997-ED94-04BE-FE906F19AC30}"/>
              </a:ext>
            </a:extLst>
          </p:cNvPr>
          <p:cNvSpPr/>
          <p:nvPr/>
        </p:nvSpPr>
        <p:spPr>
          <a:xfrm>
            <a:off x="6565789" y="3549872"/>
            <a:ext cx="4774759" cy="975629"/>
          </a:xfrm>
          <a:prstGeom prst="rect">
            <a:avLst/>
          </a:prstGeom>
          <a:noFill/>
          <a:ln/>
        </p:spPr>
        <p:txBody>
          <a:bodyPr wrap="square" rtlCol="0" anchor="ctr"/>
          <a:lstStyle/>
          <a:p>
            <a:pPr rtl="0">
              <a:spcBef>
                <a:spcPts val="0"/>
              </a:spcBef>
              <a:spcAft>
                <a:spcPts val="0"/>
              </a:spcAft>
            </a:pPr>
            <a:r>
              <a:rPr lang="en-US" sz="1800" b="0" i="0" u="none" strike="noStrike" dirty="0">
                <a:solidFill>
                  <a:srgbClr val="0A0A0A"/>
                </a:solidFill>
                <a:effectLst/>
                <a:latin typeface="Commissioner"/>
              </a:rPr>
              <a:t> </a:t>
            </a:r>
            <a:endParaRPr lang="en-US" sz="1050" b="0" i="0" u="none" strike="noStrike" dirty="0">
              <a:solidFill>
                <a:srgbClr val="0A0A0A"/>
              </a:solidFill>
              <a:effectLst/>
              <a:latin typeface="Calibri" panose="020F0502020204030204" pitchFamily="34" charset="0"/>
              <a:cs typeface="Calibri" panose="020F0502020204030204" pitchFamily="34" charset="0"/>
            </a:endParaRPr>
          </a:p>
          <a:p>
            <a:pPr rtl="0">
              <a:spcBef>
                <a:spcPts val="0"/>
              </a:spcBef>
              <a:spcAft>
                <a:spcPts val="0"/>
              </a:spcAft>
            </a:pPr>
            <a:r>
              <a:rPr lang="en-US" sz="1050" b="0" i="0" u="none" strike="noStrike" dirty="0">
                <a:solidFill>
                  <a:srgbClr val="0A0A0A"/>
                </a:solidFill>
                <a:effectLst/>
                <a:latin typeface="Calibri" panose="020F0502020204030204" pitchFamily="34" charset="0"/>
                <a:cs typeface="Calibri" panose="020F0502020204030204" pitchFamily="34" charset="0"/>
              </a:rPr>
              <a:t>Content creators, production studios, and sports leagues own valuable intellectual property, allowing them to negotiate higher licensing fees and lower production costs. Streaming companies rely on premium content to attract and retain subscribers.</a:t>
            </a:r>
            <a:endParaRPr lang="en-US" sz="1050" b="0" dirty="0">
              <a:effectLst/>
              <a:latin typeface="Calibri" panose="020F0502020204030204" pitchFamily="34" charset="0"/>
              <a:cs typeface="Calibri" panose="020F0502020204030204" pitchFamily="34" charset="0"/>
            </a:endParaRPr>
          </a:p>
          <a:p>
            <a:br>
              <a:rPr lang="en-US" sz="1050" dirty="0"/>
            </a:br>
            <a:br>
              <a:rPr lang="en-US" sz="1050" dirty="0"/>
            </a:br>
            <a:endParaRPr lang="en-US" sz="1050" dirty="0"/>
          </a:p>
        </p:txBody>
      </p:sp>
      <p:sp>
        <p:nvSpPr>
          <p:cNvPr id="28" name="Shape 28">
            <a:extLst>
              <a:ext uri="{FF2B5EF4-FFF2-40B4-BE49-F238E27FC236}">
                <a16:creationId xmlns:a16="http://schemas.microsoft.com/office/drawing/2014/main" id="{A0107F65-7233-2A5B-00E3-F26F3FB5E0B0}"/>
              </a:ext>
            </a:extLst>
          </p:cNvPr>
          <p:cNvSpPr/>
          <p:nvPr/>
        </p:nvSpPr>
        <p:spPr>
          <a:xfrm>
            <a:off x="3091069" y="4360031"/>
            <a:ext cx="7573975" cy="0"/>
          </a:xfrm>
          <a:prstGeom prst="line">
            <a:avLst/>
          </a:prstGeom>
          <a:noFill/>
          <a:ln w="12700">
            <a:solidFill>
              <a:srgbClr val="E4E7E8"/>
            </a:solidFill>
            <a:prstDash val="solid"/>
          </a:ln>
        </p:spPr>
        <p:txBody>
          <a:bodyPr/>
          <a:lstStyle/>
          <a:p>
            <a:endParaRPr lang="en-US"/>
          </a:p>
        </p:txBody>
      </p:sp>
      <p:sp>
        <p:nvSpPr>
          <p:cNvPr id="29" name="Shape 29">
            <a:extLst>
              <a:ext uri="{FF2B5EF4-FFF2-40B4-BE49-F238E27FC236}">
                <a16:creationId xmlns:a16="http://schemas.microsoft.com/office/drawing/2014/main" id="{7B914EC9-48FB-2289-3306-8520D4F4D4DE}"/>
              </a:ext>
            </a:extLst>
          </p:cNvPr>
          <p:cNvSpPr/>
          <p:nvPr/>
        </p:nvSpPr>
        <p:spPr>
          <a:xfrm>
            <a:off x="3091069" y="4655382"/>
            <a:ext cx="1051560" cy="310896"/>
          </a:xfrm>
          <a:prstGeom prst="roundRect">
            <a:avLst>
              <a:gd name="adj" fmla="val 50000"/>
            </a:avLst>
          </a:prstGeom>
          <a:solidFill>
            <a:schemeClr val="tx1"/>
          </a:solidFill>
          <a:ln/>
        </p:spPr>
        <p:txBody>
          <a:bodyPr/>
          <a:lstStyle/>
          <a:p>
            <a:endParaRPr lang="en-US"/>
          </a:p>
        </p:txBody>
      </p:sp>
      <p:sp>
        <p:nvSpPr>
          <p:cNvPr id="30" name="Text 30">
            <a:extLst>
              <a:ext uri="{FF2B5EF4-FFF2-40B4-BE49-F238E27FC236}">
                <a16:creationId xmlns:a16="http://schemas.microsoft.com/office/drawing/2014/main" id="{8C24C0BE-A2BD-0799-52B5-C0EDD1B99BAE}"/>
              </a:ext>
            </a:extLst>
          </p:cNvPr>
          <p:cNvSpPr/>
          <p:nvPr/>
        </p:nvSpPr>
        <p:spPr>
          <a:xfrm>
            <a:off x="3091069" y="4655382"/>
            <a:ext cx="105156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Very High</a:t>
            </a:r>
            <a:endParaRPr lang="en-US" sz="950" dirty="0"/>
          </a:p>
        </p:txBody>
      </p:sp>
      <p:sp>
        <p:nvSpPr>
          <p:cNvPr id="31" name="Text 31">
            <a:extLst>
              <a:ext uri="{FF2B5EF4-FFF2-40B4-BE49-F238E27FC236}">
                <a16:creationId xmlns:a16="http://schemas.microsoft.com/office/drawing/2014/main" id="{FB9CA8B3-BFF1-F25F-D8DE-C2D3756CC01A}"/>
              </a:ext>
            </a:extLst>
          </p:cNvPr>
          <p:cNvSpPr/>
          <p:nvPr/>
        </p:nvSpPr>
        <p:spPr>
          <a:xfrm>
            <a:off x="4371229" y="4451471"/>
            <a:ext cx="2103120" cy="718718"/>
          </a:xfrm>
          <a:prstGeom prst="rect">
            <a:avLst/>
          </a:prstGeom>
          <a:noFill/>
          <a:ln/>
        </p:spPr>
        <p:txBody>
          <a:bodyPr wrap="square" rtlCol="0" anchor="ctr"/>
          <a:lstStyle/>
          <a:p>
            <a:pPr marL="0" indent="0">
              <a:lnSpc>
                <a:spcPts val="1400"/>
              </a:lnSpc>
              <a:buNone/>
            </a:pPr>
            <a:r>
              <a:rPr lang="en-US" sz="1250" b="1" dirty="0">
                <a:solidFill>
                  <a:srgbClr val="0B0E0F"/>
                </a:solidFill>
                <a:latin typeface="Calibri" pitchFamily="34" charset="0"/>
                <a:ea typeface="Calibri" pitchFamily="34" charset="-122"/>
                <a:cs typeface="Calibri" pitchFamily="34" charset="-120"/>
              </a:rPr>
              <a:t>Bargaining Power of Buyers</a:t>
            </a:r>
            <a:endParaRPr lang="en-US" sz="1250" dirty="0"/>
          </a:p>
        </p:txBody>
      </p:sp>
      <p:sp>
        <p:nvSpPr>
          <p:cNvPr id="32" name="Text 32">
            <a:extLst>
              <a:ext uri="{FF2B5EF4-FFF2-40B4-BE49-F238E27FC236}">
                <a16:creationId xmlns:a16="http://schemas.microsoft.com/office/drawing/2014/main" id="{13F35773-AFA5-DD84-0558-A964C7D15EC8}"/>
              </a:ext>
            </a:extLst>
          </p:cNvPr>
          <p:cNvSpPr/>
          <p:nvPr/>
        </p:nvSpPr>
        <p:spPr>
          <a:xfrm>
            <a:off x="6565789" y="4743283"/>
            <a:ext cx="4933785" cy="548636"/>
          </a:xfrm>
          <a:prstGeom prst="rect">
            <a:avLst/>
          </a:prstGeom>
          <a:noFill/>
          <a:ln/>
        </p:spPr>
        <p:txBody>
          <a:bodyPr wrap="square" rtlCol="0" anchor="ctr"/>
          <a:lstStyle/>
          <a:p>
            <a:pPr rtl="0">
              <a:spcBef>
                <a:spcPts val="0"/>
              </a:spcBef>
              <a:spcAft>
                <a:spcPts val="0"/>
              </a:spcAft>
            </a:pPr>
            <a:r>
              <a:rPr lang="en-US" sz="1050" b="0" i="0" u="none" strike="noStrike" dirty="0">
                <a:solidFill>
                  <a:srgbClr val="0A0A0A"/>
                </a:solidFill>
                <a:effectLst/>
                <a:latin typeface="Calibri" panose="020F0502020204030204" pitchFamily="34" charset="0"/>
                <a:cs typeface="Calibri" panose="020F0502020204030204" pitchFamily="34" charset="0"/>
              </a:rPr>
              <a:t>Consumers can easily compare streaming platforms and switch subscriptions with minimal cost. This gives customers strong influence over pricing, content quality, and overall user experience.</a:t>
            </a:r>
            <a:endParaRPr lang="en-US" sz="1050" b="0" dirty="0">
              <a:effectLst/>
              <a:latin typeface="Calibri" panose="020F0502020204030204" pitchFamily="34" charset="0"/>
              <a:cs typeface="Calibri" panose="020F0502020204030204" pitchFamily="34" charset="0"/>
            </a:endParaRPr>
          </a:p>
          <a:p>
            <a:br>
              <a:rPr lang="en-US" sz="1050" dirty="0"/>
            </a:br>
            <a:br>
              <a:rPr lang="en-US" sz="1050" dirty="0"/>
            </a:br>
            <a:endParaRPr lang="en-US" sz="1050" dirty="0"/>
          </a:p>
        </p:txBody>
      </p:sp>
      <p:sp>
        <p:nvSpPr>
          <p:cNvPr id="33" name="Shape 33">
            <a:extLst>
              <a:ext uri="{FF2B5EF4-FFF2-40B4-BE49-F238E27FC236}">
                <a16:creationId xmlns:a16="http://schemas.microsoft.com/office/drawing/2014/main" id="{43F84D06-468C-6CEC-2243-CCB4A6D2331C}"/>
              </a:ext>
            </a:extLst>
          </p:cNvPr>
          <p:cNvSpPr/>
          <p:nvPr/>
        </p:nvSpPr>
        <p:spPr>
          <a:xfrm>
            <a:off x="3091069" y="5261630"/>
            <a:ext cx="7573975" cy="0"/>
          </a:xfrm>
          <a:prstGeom prst="line">
            <a:avLst/>
          </a:prstGeom>
          <a:noFill/>
          <a:ln w="12700">
            <a:solidFill>
              <a:srgbClr val="E4E7E8"/>
            </a:solidFill>
            <a:prstDash val="solid"/>
          </a:ln>
        </p:spPr>
        <p:txBody>
          <a:bodyPr/>
          <a:lstStyle/>
          <a:p>
            <a:endParaRPr lang="en-US"/>
          </a:p>
        </p:txBody>
      </p:sp>
      <p:sp>
        <p:nvSpPr>
          <p:cNvPr id="34" name="Shape 34">
            <a:extLst>
              <a:ext uri="{FF2B5EF4-FFF2-40B4-BE49-F238E27FC236}">
                <a16:creationId xmlns:a16="http://schemas.microsoft.com/office/drawing/2014/main" id="{B3234BFB-119D-8B4F-0440-45E02B9D71F6}"/>
              </a:ext>
            </a:extLst>
          </p:cNvPr>
          <p:cNvSpPr/>
          <p:nvPr/>
        </p:nvSpPr>
        <p:spPr>
          <a:xfrm>
            <a:off x="3091069" y="5556981"/>
            <a:ext cx="1051560" cy="310896"/>
          </a:xfrm>
          <a:prstGeom prst="roundRect">
            <a:avLst>
              <a:gd name="adj" fmla="val 50000"/>
            </a:avLst>
          </a:prstGeom>
          <a:solidFill>
            <a:schemeClr val="tx1"/>
          </a:solidFill>
          <a:ln/>
        </p:spPr>
        <p:txBody>
          <a:bodyPr/>
          <a:lstStyle/>
          <a:p>
            <a:endParaRPr lang="en-US"/>
          </a:p>
        </p:txBody>
      </p:sp>
      <p:sp>
        <p:nvSpPr>
          <p:cNvPr id="35" name="Text 35">
            <a:extLst>
              <a:ext uri="{FF2B5EF4-FFF2-40B4-BE49-F238E27FC236}">
                <a16:creationId xmlns:a16="http://schemas.microsoft.com/office/drawing/2014/main" id="{D982AB87-FFED-1706-CFE8-D53B7D79429F}"/>
              </a:ext>
            </a:extLst>
          </p:cNvPr>
          <p:cNvSpPr/>
          <p:nvPr/>
        </p:nvSpPr>
        <p:spPr>
          <a:xfrm>
            <a:off x="3091069" y="5556981"/>
            <a:ext cx="105156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Very High</a:t>
            </a:r>
            <a:endParaRPr lang="en-US" sz="950" dirty="0"/>
          </a:p>
        </p:txBody>
      </p:sp>
      <p:sp>
        <p:nvSpPr>
          <p:cNvPr id="36" name="Text 36">
            <a:extLst>
              <a:ext uri="{FF2B5EF4-FFF2-40B4-BE49-F238E27FC236}">
                <a16:creationId xmlns:a16="http://schemas.microsoft.com/office/drawing/2014/main" id="{22A2131D-6C9E-0A48-DCC9-9ABA6E91FFF8}"/>
              </a:ext>
            </a:extLst>
          </p:cNvPr>
          <p:cNvSpPr/>
          <p:nvPr/>
        </p:nvSpPr>
        <p:spPr>
          <a:xfrm>
            <a:off x="4371229" y="5353070"/>
            <a:ext cx="2103120" cy="718718"/>
          </a:xfrm>
          <a:prstGeom prst="rect">
            <a:avLst/>
          </a:prstGeom>
          <a:noFill/>
          <a:ln/>
        </p:spPr>
        <p:txBody>
          <a:bodyPr wrap="square" rtlCol="0" anchor="ctr"/>
          <a:lstStyle/>
          <a:p>
            <a:pPr marL="0" indent="0">
              <a:lnSpc>
                <a:spcPts val="1400"/>
              </a:lnSpc>
              <a:buNone/>
            </a:pPr>
            <a:r>
              <a:rPr lang="en-US" sz="1250" b="1" dirty="0">
                <a:solidFill>
                  <a:srgbClr val="0B0E0F"/>
                </a:solidFill>
                <a:latin typeface="Calibri" pitchFamily="34" charset="0"/>
                <a:ea typeface="Calibri" pitchFamily="34" charset="-122"/>
                <a:cs typeface="Calibri" pitchFamily="34" charset="-120"/>
              </a:rPr>
              <a:t>Threat of Substitutes</a:t>
            </a:r>
            <a:endParaRPr lang="en-US" sz="1250" dirty="0"/>
          </a:p>
        </p:txBody>
      </p:sp>
      <p:sp>
        <p:nvSpPr>
          <p:cNvPr id="37" name="Text 37">
            <a:extLst>
              <a:ext uri="{FF2B5EF4-FFF2-40B4-BE49-F238E27FC236}">
                <a16:creationId xmlns:a16="http://schemas.microsoft.com/office/drawing/2014/main" id="{45FFACB5-E8AD-7360-D344-BAFB9432ECE2}"/>
              </a:ext>
            </a:extLst>
          </p:cNvPr>
          <p:cNvSpPr/>
          <p:nvPr/>
        </p:nvSpPr>
        <p:spPr>
          <a:xfrm>
            <a:off x="6565789" y="5357704"/>
            <a:ext cx="4933785" cy="1031375"/>
          </a:xfrm>
          <a:prstGeom prst="rect">
            <a:avLst/>
          </a:prstGeom>
          <a:noFill/>
          <a:ln/>
        </p:spPr>
        <p:txBody>
          <a:bodyPr wrap="square" rtlCol="0" anchor="ctr"/>
          <a:lstStyle/>
          <a:p>
            <a:pPr rtl="0">
              <a:spcBef>
                <a:spcPts val="0"/>
              </a:spcBef>
              <a:spcAft>
                <a:spcPts val="0"/>
              </a:spcAft>
            </a:pPr>
            <a:r>
              <a:rPr lang="en-US" sz="1050" b="0" i="0" u="none" strike="noStrike" dirty="0">
                <a:effectLst/>
                <a:latin typeface="Calibri" panose="020F0502020204030204" pitchFamily="34" charset="0"/>
                <a:cs typeface="Calibri" panose="020F0502020204030204" pitchFamily="34" charset="0"/>
              </a:rPr>
              <a:t>Streaming services compete with alternative entertainment options such as social media, online video platforms, gaming, cable television, and free streaming services, all of which compete for consumers' time and spending.</a:t>
            </a:r>
            <a:endParaRPr lang="en-US" sz="1050" b="0" dirty="0">
              <a:effectLst/>
              <a:latin typeface="Calibri" panose="020F0502020204030204" pitchFamily="34" charset="0"/>
              <a:cs typeface="Calibri" panose="020F0502020204030204" pitchFamily="34" charset="0"/>
            </a:endParaRPr>
          </a:p>
          <a:p>
            <a:br>
              <a:rPr lang="en-US" sz="1050" dirty="0">
                <a:solidFill>
                  <a:schemeClr val="bg2">
                    <a:lumMod val="75000"/>
                  </a:schemeClr>
                </a:solidFill>
                <a:latin typeface="Calibri" panose="020F0502020204030204" pitchFamily="34" charset="0"/>
                <a:cs typeface="Calibri" panose="020F0502020204030204" pitchFamily="34" charset="0"/>
              </a:rPr>
            </a:br>
            <a:endParaRPr lang="en-US" sz="1050" dirty="0">
              <a:solidFill>
                <a:schemeClr val="bg2">
                  <a:lumMod val="75000"/>
                </a:schemeClr>
              </a:solidFill>
              <a:latin typeface="Calibri" panose="020F0502020204030204" pitchFamily="34" charset="0"/>
              <a:cs typeface="Calibri" panose="020F0502020204030204" pitchFamily="34" charset="0"/>
            </a:endParaRPr>
          </a:p>
        </p:txBody>
      </p:sp>
      <p:pic>
        <p:nvPicPr>
          <p:cNvPr id="38" name="Picture 8" descr="Hulu Icon SVG Vector &amp; PNG Free Download | UXWing">
            <a:extLst>
              <a:ext uri="{FF2B5EF4-FFF2-40B4-BE49-F238E27FC236}">
                <a16:creationId xmlns:a16="http://schemas.microsoft.com/office/drawing/2014/main" id="{C510861A-BAC5-E0BC-C21A-49FD34A63C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543" y="1746676"/>
            <a:ext cx="874853" cy="87485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Why has the Disney Plus logo changed colour? - Yahoo News Australia">
            <a:extLst>
              <a:ext uri="{FF2B5EF4-FFF2-40B4-BE49-F238E27FC236}">
                <a16:creationId xmlns:a16="http://schemas.microsoft.com/office/drawing/2014/main" id="{68CB2E7D-2D01-BA76-AA60-0ED7044E0B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542" y="2984257"/>
            <a:ext cx="874853" cy="87485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descr="Netflix (Rounded) Logo PNG (Transparent) SVG AI – Free Download">
            <a:extLst>
              <a:ext uri="{FF2B5EF4-FFF2-40B4-BE49-F238E27FC236}">
                <a16:creationId xmlns:a16="http://schemas.microsoft.com/office/drawing/2014/main" id="{2885A66D-89BD-CC6A-51CF-99DD9E036D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963" t="21867" r="18616" b="21182"/>
          <a:stretch/>
        </p:blipFill>
        <p:spPr bwMode="auto">
          <a:xfrm>
            <a:off x="944315" y="4119372"/>
            <a:ext cx="1103606" cy="97563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Amazon Prime Video color icon in PNG, SVG">
            <a:extLst>
              <a:ext uri="{FF2B5EF4-FFF2-40B4-BE49-F238E27FC236}">
                <a16:creationId xmlns:a16="http://schemas.microsoft.com/office/drawing/2014/main" id="{821EE4B2-E4DE-DEA3-2B7B-A0CC1254B2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315" y="5229366"/>
            <a:ext cx="1102882" cy="1102882"/>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D2DCDD26-F08F-032A-FA6E-CC426187C92B}"/>
              </a:ext>
            </a:extLst>
          </p:cNvPr>
          <p:cNvSpPr txBox="1"/>
          <p:nvPr/>
        </p:nvSpPr>
        <p:spPr>
          <a:xfrm>
            <a:off x="503072" y="882661"/>
            <a:ext cx="4313583" cy="369332"/>
          </a:xfrm>
          <a:prstGeom prst="rect">
            <a:avLst/>
          </a:prstGeom>
          <a:noFill/>
        </p:spPr>
        <p:txBody>
          <a:bodyPr wrap="square" rtlCol="0">
            <a:spAutoFit/>
          </a:bodyPr>
          <a:lstStyle/>
          <a:p>
            <a:r>
              <a:rPr lang="en-US" b="1" dirty="0">
                <a:solidFill>
                  <a:schemeClr val="bg2">
                    <a:lumMod val="50000"/>
                  </a:schemeClr>
                </a:solidFill>
              </a:rPr>
              <a:t>Porter’s Five Forces: Streaming Industry </a:t>
            </a:r>
          </a:p>
        </p:txBody>
      </p:sp>
    </p:spTree>
    <p:extLst>
      <p:ext uri="{BB962C8B-B14F-4D97-AF65-F5344CB8AC3E}">
        <p14:creationId xmlns:p14="http://schemas.microsoft.com/office/powerpoint/2010/main" val="440258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D5F43CC-0BF7-7F91-4EE0-6A8F6AF88E66}"/>
              </a:ext>
            </a:extLst>
          </p:cNvPr>
          <p:cNvSpPr/>
          <p:nvPr/>
        </p:nvSpPr>
        <p:spPr>
          <a:xfrm>
            <a:off x="505663" y="586038"/>
            <a:ext cx="11183112" cy="566928"/>
          </a:xfrm>
          <a:prstGeom prst="rect">
            <a:avLst/>
          </a:prstGeom>
          <a:noFill/>
          <a:ln/>
        </p:spPr>
        <p:txBody>
          <a:bodyPr wrap="square" rtlCol="0" anchor="ctr"/>
          <a:lstStyle/>
          <a:p>
            <a:pPr marL="0" indent="0">
              <a:buNone/>
            </a:pPr>
            <a:r>
              <a:rPr lang="en-US" sz="2900" b="1" dirty="0">
                <a:solidFill>
                  <a:srgbClr val="14181A"/>
                </a:solidFill>
                <a:latin typeface="Cambria" pitchFamily="34" charset="0"/>
                <a:ea typeface="Cambria" pitchFamily="34" charset="-122"/>
                <a:cs typeface="Cambria" pitchFamily="34" charset="-120"/>
              </a:rPr>
              <a:t>Hulu’s Position in the Streaming Market</a:t>
            </a:r>
            <a:endParaRPr lang="en-US" sz="2900" dirty="0"/>
          </a:p>
        </p:txBody>
      </p:sp>
      <p:sp>
        <p:nvSpPr>
          <p:cNvPr id="4" name="Shape 2">
            <a:extLst>
              <a:ext uri="{FF2B5EF4-FFF2-40B4-BE49-F238E27FC236}">
                <a16:creationId xmlns:a16="http://schemas.microsoft.com/office/drawing/2014/main" id="{314E2C0B-6525-2617-7492-A6ECC4D3EA44}"/>
              </a:ext>
            </a:extLst>
          </p:cNvPr>
          <p:cNvSpPr/>
          <p:nvPr/>
        </p:nvSpPr>
        <p:spPr>
          <a:xfrm>
            <a:off x="502920" y="1417320"/>
            <a:ext cx="6309360" cy="4572000"/>
          </a:xfrm>
          <a:prstGeom prst="roundRect">
            <a:avLst>
              <a:gd name="adj" fmla="val 1600"/>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6" name="Text 3">
            <a:extLst>
              <a:ext uri="{FF2B5EF4-FFF2-40B4-BE49-F238E27FC236}">
                <a16:creationId xmlns:a16="http://schemas.microsoft.com/office/drawing/2014/main" id="{1BCB5CF5-FBDA-2111-C708-E95769A9169F}"/>
              </a:ext>
            </a:extLst>
          </p:cNvPr>
          <p:cNvSpPr/>
          <p:nvPr/>
        </p:nvSpPr>
        <p:spPr>
          <a:xfrm>
            <a:off x="667512" y="5696712"/>
            <a:ext cx="5980176" cy="256032"/>
          </a:xfrm>
          <a:prstGeom prst="rect">
            <a:avLst/>
          </a:prstGeom>
          <a:noFill/>
          <a:ln/>
        </p:spPr>
        <p:txBody>
          <a:bodyPr wrap="square" rtlCol="0" anchor="ctr"/>
          <a:lstStyle/>
          <a:p>
            <a:pPr marL="0" indent="0" algn="ctr">
              <a:buNone/>
            </a:pPr>
            <a:r>
              <a:rPr lang="en-US" sz="950" i="1" dirty="0">
                <a:solidFill>
                  <a:srgbClr val="8A9296"/>
                </a:solidFill>
                <a:latin typeface="Calibri" pitchFamily="34" charset="0"/>
                <a:ea typeface="Calibri" pitchFamily="34" charset="-122"/>
                <a:cs typeface="Calibri" pitchFamily="34" charset="-120"/>
              </a:rPr>
              <a:t>Content volume by platform and type (Movie vs. TV Show)</a:t>
            </a:r>
            <a:endParaRPr lang="en-US" sz="950" dirty="0"/>
          </a:p>
        </p:txBody>
      </p:sp>
      <p:sp>
        <p:nvSpPr>
          <p:cNvPr id="8" name="Text 5">
            <a:extLst>
              <a:ext uri="{FF2B5EF4-FFF2-40B4-BE49-F238E27FC236}">
                <a16:creationId xmlns:a16="http://schemas.microsoft.com/office/drawing/2014/main" id="{AD0ABD1E-4D87-DB25-EB2C-A9C1B57BDC1E}"/>
              </a:ext>
            </a:extLst>
          </p:cNvPr>
          <p:cNvSpPr/>
          <p:nvPr/>
        </p:nvSpPr>
        <p:spPr>
          <a:xfrm>
            <a:off x="7178040" y="1783080"/>
            <a:ext cx="4510735" cy="256032"/>
          </a:xfrm>
          <a:prstGeom prst="rect">
            <a:avLst/>
          </a:prstGeom>
          <a:noFill/>
          <a:ln/>
        </p:spPr>
        <p:txBody>
          <a:bodyPr wrap="square" rtlCol="0" anchor="ctr"/>
          <a:lstStyle/>
          <a:p>
            <a:pPr marL="0" indent="0">
              <a:buNone/>
            </a:pPr>
            <a:r>
              <a:rPr lang="en-US" sz="1200" dirty="0">
                <a:solidFill>
                  <a:srgbClr val="14181A"/>
                </a:solidFill>
                <a:latin typeface="Calibri" pitchFamily="34" charset="0"/>
                <a:ea typeface="Calibri" pitchFamily="34" charset="-122"/>
                <a:cs typeface="Calibri" pitchFamily="34" charset="-120"/>
              </a:rPr>
              <a:t>Prime Video</a:t>
            </a:r>
            <a:endParaRPr lang="en-US" sz="1200" dirty="0"/>
          </a:p>
        </p:txBody>
      </p:sp>
      <p:sp>
        <p:nvSpPr>
          <p:cNvPr id="9" name="Shape 6">
            <a:extLst>
              <a:ext uri="{FF2B5EF4-FFF2-40B4-BE49-F238E27FC236}">
                <a16:creationId xmlns:a16="http://schemas.microsoft.com/office/drawing/2014/main" id="{8FB47B49-8E2F-66F1-0CAC-8479AE88E2AC}"/>
              </a:ext>
            </a:extLst>
          </p:cNvPr>
          <p:cNvSpPr/>
          <p:nvPr/>
        </p:nvSpPr>
        <p:spPr>
          <a:xfrm>
            <a:off x="7178040" y="2057400"/>
            <a:ext cx="3504895" cy="219456"/>
          </a:xfrm>
          <a:prstGeom prst="roundRect">
            <a:avLst>
              <a:gd name="adj" fmla="val 20833"/>
            </a:avLst>
          </a:prstGeom>
          <a:solidFill>
            <a:srgbClr val="F3F5F4"/>
          </a:solidFill>
          <a:ln/>
        </p:spPr>
        <p:txBody>
          <a:bodyPr/>
          <a:lstStyle/>
          <a:p>
            <a:endParaRPr lang="en-US"/>
          </a:p>
        </p:txBody>
      </p:sp>
      <p:sp>
        <p:nvSpPr>
          <p:cNvPr id="10" name="Shape 7">
            <a:extLst>
              <a:ext uri="{FF2B5EF4-FFF2-40B4-BE49-F238E27FC236}">
                <a16:creationId xmlns:a16="http://schemas.microsoft.com/office/drawing/2014/main" id="{BD69EF43-9045-A05E-DE3F-16D0F70F6BE5}"/>
              </a:ext>
            </a:extLst>
          </p:cNvPr>
          <p:cNvSpPr/>
          <p:nvPr/>
        </p:nvSpPr>
        <p:spPr>
          <a:xfrm>
            <a:off x="7178040" y="2057400"/>
            <a:ext cx="3504895" cy="219456"/>
          </a:xfrm>
          <a:prstGeom prst="roundRect">
            <a:avLst>
              <a:gd name="adj" fmla="val 20833"/>
            </a:avLst>
          </a:prstGeom>
          <a:solidFill>
            <a:srgbClr val="1D2224"/>
          </a:solidFill>
          <a:ln/>
        </p:spPr>
        <p:txBody>
          <a:bodyPr/>
          <a:lstStyle/>
          <a:p>
            <a:endParaRPr lang="en-US"/>
          </a:p>
        </p:txBody>
      </p:sp>
      <p:sp>
        <p:nvSpPr>
          <p:cNvPr id="11" name="Text 8">
            <a:extLst>
              <a:ext uri="{FF2B5EF4-FFF2-40B4-BE49-F238E27FC236}">
                <a16:creationId xmlns:a16="http://schemas.microsoft.com/office/drawing/2014/main" id="{89B471A2-DB0F-A25C-7658-C8C1DFEC3F7A}"/>
              </a:ext>
            </a:extLst>
          </p:cNvPr>
          <p:cNvSpPr/>
          <p:nvPr/>
        </p:nvSpPr>
        <p:spPr>
          <a:xfrm>
            <a:off x="10792663" y="2002536"/>
            <a:ext cx="868680" cy="292608"/>
          </a:xfrm>
          <a:prstGeom prst="rect">
            <a:avLst/>
          </a:prstGeom>
          <a:noFill/>
          <a:ln/>
        </p:spPr>
        <p:txBody>
          <a:bodyPr wrap="square" rtlCol="0" anchor="ctr"/>
          <a:lstStyle/>
          <a:p>
            <a:pPr marL="0" indent="0">
              <a:buNone/>
            </a:pPr>
            <a:r>
              <a:rPr lang="en-US" sz="1100" b="1" dirty="0">
                <a:solidFill>
                  <a:srgbClr val="14181A"/>
                </a:solidFill>
                <a:latin typeface="Calibri" pitchFamily="34" charset="0"/>
                <a:ea typeface="Calibri" pitchFamily="34" charset="-122"/>
                <a:cs typeface="Calibri" pitchFamily="34" charset="-120"/>
              </a:rPr>
              <a:t>5,944</a:t>
            </a:r>
            <a:endParaRPr lang="en-US" sz="1100" dirty="0"/>
          </a:p>
        </p:txBody>
      </p:sp>
      <p:sp>
        <p:nvSpPr>
          <p:cNvPr id="12" name="Text 9">
            <a:extLst>
              <a:ext uri="{FF2B5EF4-FFF2-40B4-BE49-F238E27FC236}">
                <a16:creationId xmlns:a16="http://schemas.microsoft.com/office/drawing/2014/main" id="{39085CE9-177D-670D-64BB-B5D595910190}"/>
              </a:ext>
            </a:extLst>
          </p:cNvPr>
          <p:cNvSpPr/>
          <p:nvPr/>
        </p:nvSpPr>
        <p:spPr>
          <a:xfrm>
            <a:off x="7178040" y="2569464"/>
            <a:ext cx="4510735" cy="256032"/>
          </a:xfrm>
          <a:prstGeom prst="rect">
            <a:avLst/>
          </a:prstGeom>
          <a:noFill/>
          <a:ln/>
        </p:spPr>
        <p:txBody>
          <a:bodyPr wrap="square" rtlCol="0" anchor="ctr"/>
          <a:lstStyle/>
          <a:p>
            <a:pPr marL="0" indent="0">
              <a:buNone/>
            </a:pPr>
            <a:r>
              <a:rPr lang="en-US" sz="1200" dirty="0">
                <a:solidFill>
                  <a:srgbClr val="14181A"/>
                </a:solidFill>
                <a:latin typeface="Calibri" pitchFamily="34" charset="0"/>
                <a:ea typeface="Calibri" pitchFamily="34" charset="-122"/>
                <a:cs typeface="Calibri" pitchFamily="34" charset="-120"/>
              </a:rPr>
              <a:t>Netflix</a:t>
            </a:r>
            <a:endParaRPr lang="en-US" sz="1200" dirty="0"/>
          </a:p>
        </p:txBody>
      </p:sp>
      <p:sp>
        <p:nvSpPr>
          <p:cNvPr id="13" name="Shape 10">
            <a:extLst>
              <a:ext uri="{FF2B5EF4-FFF2-40B4-BE49-F238E27FC236}">
                <a16:creationId xmlns:a16="http://schemas.microsoft.com/office/drawing/2014/main" id="{C6928FD2-521E-ED1F-56E4-59BDC0403E67}"/>
              </a:ext>
            </a:extLst>
          </p:cNvPr>
          <p:cNvSpPr/>
          <p:nvPr/>
        </p:nvSpPr>
        <p:spPr>
          <a:xfrm>
            <a:off x="7178040" y="2843784"/>
            <a:ext cx="3504895" cy="219456"/>
          </a:xfrm>
          <a:prstGeom prst="roundRect">
            <a:avLst>
              <a:gd name="adj" fmla="val 20833"/>
            </a:avLst>
          </a:prstGeom>
          <a:solidFill>
            <a:srgbClr val="F3F5F4"/>
          </a:solidFill>
          <a:ln/>
        </p:spPr>
        <p:txBody>
          <a:bodyPr/>
          <a:lstStyle/>
          <a:p>
            <a:endParaRPr lang="en-US"/>
          </a:p>
        </p:txBody>
      </p:sp>
      <p:sp>
        <p:nvSpPr>
          <p:cNvPr id="14" name="Shape 11">
            <a:extLst>
              <a:ext uri="{FF2B5EF4-FFF2-40B4-BE49-F238E27FC236}">
                <a16:creationId xmlns:a16="http://schemas.microsoft.com/office/drawing/2014/main" id="{816AAC17-F294-E845-71D4-E44660FDDAFD}"/>
              </a:ext>
            </a:extLst>
          </p:cNvPr>
          <p:cNvSpPr/>
          <p:nvPr/>
        </p:nvSpPr>
        <p:spPr>
          <a:xfrm>
            <a:off x="7178040" y="2843784"/>
            <a:ext cx="3340972" cy="219456"/>
          </a:xfrm>
          <a:prstGeom prst="roundRect">
            <a:avLst>
              <a:gd name="adj" fmla="val 20833"/>
            </a:avLst>
          </a:prstGeom>
          <a:solidFill>
            <a:srgbClr val="1D2224"/>
          </a:solidFill>
          <a:ln/>
        </p:spPr>
        <p:txBody>
          <a:bodyPr/>
          <a:lstStyle/>
          <a:p>
            <a:endParaRPr lang="en-US"/>
          </a:p>
        </p:txBody>
      </p:sp>
      <p:sp>
        <p:nvSpPr>
          <p:cNvPr id="15" name="Text 12">
            <a:extLst>
              <a:ext uri="{FF2B5EF4-FFF2-40B4-BE49-F238E27FC236}">
                <a16:creationId xmlns:a16="http://schemas.microsoft.com/office/drawing/2014/main" id="{7BA34E67-D08E-4F19-5D7D-F85AC621D56A}"/>
              </a:ext>
            </a:extLst>
          </p:cNvPr>
          <p:cNvSpPr/>
          <p:nvPr/>
        </p:nvSpPr>
        <p:spPr>
          <a:xfrm>
            <a:off x="10792663" y="2788920"/>
            <a:ext cx="868680" cy="292608"/>
          </a:xfrm>
          <a:prstGeom prst="rect">
            <a:avLst/>
          </a:prstGeom>
          <a:noFill/>
          <a:ln/>
        </p:spPr>
        <p:txBody>
          <a:bodyPr wrap="square" rtlCol="0" anchor="ctr"/>
          <a:lstStyle/>
          <a:p>
            <a:pPr marL="0" indent="0">
              <a:buNone/>
            </a:pPr>
            <a:r>
              <a:rPr lang="en-US" sz="1100" b="1" dirty="0">
                <a:solidFill>
                  <a:srgbClr val="14181A"/>
                </a:solidFill>
                <a:latin typeface="Calibri" pitchFamily="34" charset="0"/>
                <a:ea typeface="Calibri" pitchFamily="34" charset="-122"/>
                <a:cs typeface="Calibri" pitchFamily="34" charset="-120"/>
              </a:rPr>
              <a:t>5,666</a:t>
            </a:r>
            <a:endParaRPr lang="en-US" sz="1100" dirty="0"/>
          </a:p>
        </p:txBody>
      </p:sp>
      <p:sp>
        <p:nvSpPr>
          <p:cNvPr id="16" name="Text 13">
            <a:extLst>
              <a:ext uri="{FF2B5EF4-FFF2-40B4-BE49-F238E27FC236}">
                <a16:creationId xmlns:a16="http://schemas.microsoft.com/office/drawing/2014/main" id="{8BCF0827-CBAF-A934-0269-BE89FAF25C37}"/>
              </a:ext>
            </a:extLst>
          </p:cNvPr>
          <p:cNvSpPr/>
          <p:nvPr/>
        </p:nvSpPr>
        <p:spPr>
          <a:xfrm>
            <a:off x="7178040" y="3355848"/>
            <a:ext cx="4510735" cy="256032"/>
          </a:xfrm>
          <a:prstGeom prst="rect">
            <a:avLst/>
          </a:prstGeom>
          <a:noFill/>
          <a:ln/>
        </p:spPr>
        <p:txBody>
          <a:bodyPr wrap="square" rtlCol="0" anchor="ctr"/>
          <a:lstStyle/>
          <a:p>
            <a:pPr marL="0" indent="0">
              <a:buNone/>
            </a:pPr>
            <a:r>
              <a:rPr lang="en-US" sz="1200" b="1" dirty="0">
                <a:solidFill>
                  <a:srgbClr val="0B8A4A"/>
                </a:solidFill>
                <a:latin typeface="Calibri" pitchFamily="34" charset="0"/>
                <a:ea typeface="Calibri" pitchFamily="34" charset="-122"/>
                <a:cs typeface="Calibri" pitchFamily="34" charset="-120"/>
              </a:rPr>
              <a:t>Hulu</a:t>
            </a:r>
            <a:endParaRPr lang="en-US" sz="1200" dirty="0"/>
          </a:p>
        </p:txBody>
      </p:sp>
      <p:sp>
        <p:nvSpPr>
          <p:cNvPr id="17" name="Shape 14">
            <a:extLst>
              <a:ext uri="{FF2B5EF4-FFF2-40B4-BE49-F238E27FC236}">
                <a16:creationId xmlns:a16="http://schemas.microsoft.com/office/drawing/2014/main" id="{FB31F863-40A9-357A-92D4-B3FE8B51D112}"/>
              </a:ext>
            </a:extLst>
          </p:cNvPr>
          <p:cNvSpPr/>
          <p:nvPr/>
        </p:nvSpPr>
        <p:spPr>
          <a:xfrm>
            <a:off x="7178040" y="3630168"/>
            <a:ext cx="3504895" cy="219456"/>
          </a:xfrm>
          <a:prstGeom prst="roundRect">
            <a:avLst>
              <a:gd name="adj" fmla="val 20833"/>
            </a:avLst>
          </a:prstGeom>
          <a:solidFill>
            <a:srgbClr val="F3F5F4"/>
          </a:solidFill>
          <a:ln/>
        </p:spPr>
        <p:txBody>
          <a:bodyPr/>
          <a:lstStyle/>
          <a:p>
            <a:endParaRPr lang="en-US"/>
          </a:p>
        </p:txBody>
      </p:sp>
      <p:sp>
        <p:nvSpPr>
          <p:cNvPr id="18" name="Shape 15">
            <a:extLst>
              <a:ext uri="{FF2B5EF4-FFF2-40B4-BE49-F238E27FC236}">
                <a16:creationId xmlns:a16="http://schemas.microsoft.com/office/drawing/2014/main" id="{ED66CB6A-1EEA-E117-F11C-F5BDBAC91307}"/>
              </a:ext>
            </a:extLst>
          </p:cNvPr>
          <p:cNvSpPr/>
          <p:nvPr/>
        </p:nvSpPr>
        <p:spPr>
          <a:xfrm>
            <a:off x="7178040" y="3630168"/>
            <a:ext cx="1573193" cy="219456"/>
          </a:xfrm>
          <a:prstGeom prst="roundRect">
            <a:avLst>
              <a:gd name="adj" fmla="val 20833"/>
            </a:avLst>
          </a:prstGeom>
          <a:solidFill>
            <a:srgbClr val="1CE783"/>
          </a:solidFill>
          <a:ln/>
        </p:spPr>
        <p:txBody>
          <a:bodyPr/>
          <a:lstStyle/>
          <a:p>
            <a:endParaRPr lang="en-US" dirty="0"/>
          </a:p>
        </p:txBody>
      </p:sp>
      <p:sp>
        <p:nvSpPr>
          <p:cNvPr id="19" name="Text 16">
            <a:extLst>
              <a:ext uri="{FF2B5EF4-FFF2-40B4-BE49-F238E27FC236}">
                <a16:creationId xmlns:a16="http://schemas.microsoft.com/office/drawing/2014/main" id="{B8F97779-2C12-FD8E-EBF4-0C35ECC0B322}"/>
              </a:ext>
            </a:extLst>
          </p:cNvPr>
          <p:cNvSpPr/>
          <p:nvPr/>
        </p:nvSpPr>
        <p:spPr>
          <a:xfrm>
            <a:off x="10792663" y="3575304"/>
            <a:ext cx="868680" cy="292608"/>
          </a:xfrm>
          <a:prstGeom prst="rect">
            <a:avLst/>
          </a:prstGeom>
          <a:noFill/>
          <a:ln/>
        </p:spPr>
        <p:txBody>
          <a:bodyPr wrap="square" rtlCol="0" anchor="ctr"/>
          <a:lstStyle/>
          <a:p>
            <a:pPr marL="0" indent="0">
              <a:buNone/>
            </a:pPr>
            <a:r>
              <a:rPr lang="en-US" sz="1100" b="1" dirty="0">
                <a:solidFill>
                  <a:srgbClr val="14181A"/>
                </a:solidFill>
                <a:latin typeface="Calibri" pitchFamily="34" charset="0"/>
                <a:ea typeface="Calibri" pitchFamily="34" charset="-122"/>
                <a:cs typeface="Calibri" pitchFamily="34" charset="-120"/>
              </a:rPr>
              <a:t>2,668</a:t>
            </a:r>
            <a:endParaRPr lang="en-US" sz="1100" dirty="0"/>
          </a:p>
        </p:txBody>
      </p:sp>
      <p:sp>
        <p:nvSpPr>
          <p:cNvPr id="20" name="Text 17">
            <a:extLst>
              <a:ext uri="{FF2B5EF4-FFF2-40B4-BE49-F238E27FC236}">
                <a16:creationId xmlns:a16="http://schemas.microsoft.com/office/drawing/2014/main" id="{83C3979A-2211-4395-4E4C-D8E86920AD6D}"/>
              </a:ext>
            </a:extLst>
          </p:cNvPr>
          <p:cNvSpPr/>
          <p:nvPr/>
        </p:nvSpPr>
        <p:spPr>
          <a:xfrm>
            <a:off x="7178040" y="4142232"/>
            <a:ext cx="4510735" cy="256032"/>
          </a:xfrm>
          <a:prstGeom prst="rect">
            <a:avLst/>
          </a:prstGeom>
          <a:noFill/>
          <a:ln/>
        </p:spPr>
        <p:txBody>
          <a:bodyPr wrap="square" rtlCol="0" anchor="ctr"/>
          <a:lstStyle/>
          <a:p>
            <a:pPr marL="0" indent="0">
              <a:buNone/>
            </a:pPr>
            <a:r>
              <a:rPr lang="en-US" sz="1200" dirty="0">
                <a:solidFill>
                  <a:srgbClr val="14181A"/>
                </a:solidFill>
                <a:latin typeface="Calibri" pitchFamily="34" charset="0"/>
                <a:ea typeface="Calibri" pitchFamily="34" charset="-122"/>
                <a:cs typeface="Calibri" pitchFamily="34" charset="-120"/>
              </a:rPr>
              <a:t>Disney+</a:t>
            </a:r>
            <a:endParaRPr lang="en-US" sz="1200" dirty="0"/>
          </a:p>
        </p:txBody>
      </p:sp>
      <p:sp>
        <p:nvSpPr>
          <p:cNvPr id="21" name="Shape 18">
            <a:extLst>
              <a:ext uri="{FF2B5EF4-FFF2-40B4-BE49-F238E27FC236}">
                <a16:creationId xmlns:a16="http://schemas.microsoft.com/office/drawing/2014/main" id="{3834D32C-BB1C-4E31-A3E8-AFE263AE5281}"/>
              </a:ext>
            </a:extLst>
          </p:cNvPr>
          <p:cNvSpPr/>
          <p:nvPr/>
        </p:nvSpPr>
        <p:spPr>
          <a:xfrm>
            <a:off x="7178040" y="4416552"/>
            <a:ext cx="3504895" cy="219456"/>
          </a:xfrm>
          <a:prstGeom prst="roundRect">
            <a:avLst>
              <a:gd name="adj" fmla="val 20833"/>
            </a:avLst>
          </a:prstGeom>
          <a:solidFill>
            <a:srgbClr val="F3F5F4"/>
          </a:solidFill>
          <a:ln/>
        </p:spPr>
        <p:txBody>
          <a:bodyPr/>
          <a:lstStyle/>
          <a:p>
            <a:endParaRPr lang="en-US"/>
          </a:p>
        </p:txBody>
      </p:sp>
      <p:sp>
        <p:nvSpPr>
          <p:cNvPr id="22" name="Shape 19">
            <a:extLst>
              <a:ext uri="{FF2B5EF4-FFF2-40B4-BE49-F238E27FC236}">
                <a16:creationId xmlns:a16="http://schemas.microsoft.com/office/drawing/2014/main" id="{3005C167-D143-8219-9407-04E26C76BFFC}"/>
              </a:ext>
            </a:extLst>
          </p:cNvPr>
          <p:cNvSpPr/>
          <p:nvPr/>
        </p:nvSpPr>
        <p:spPr>
          <a:xfrm>
            <a:off x="7178040" y="4416552"/>
            <a:ext cx="750628" cy="219456"/>
          </a:xfrm>
          <a:prstGeom prst="roundRect">
            <a:avLst>
              <a:gd name="adj" fmla="val 20833"/>
            </a:avLst>
          </a:prstGeom>
          <a:solidFill>
            <a:srgbClr val="1D2224"/>
          </a:solidFill>
          <a:ln/>
        </p:spPr>
        <p:txBody>
          <a:bodyPr/>
          <a:lstStyle/>
          <a:p>
            <a:endParaRPr lang="en-US"/>
          </a:p>
        </p:txBody>
      </p:sp>
      <p:sp>
        <p:nvSpPr>
          <p:cNvPr id="24" name="Shape 21">
            <a:extLst>
              <a:ext uri="{FF2B5EF4-FFF2-40B4-BE49-F238E27FC236}">
                <a16:creationId xmlns:a16="http://schemas.microsoft.com/office/drawing/2014/main" id="{8FFE295B-3E09-04A5-138D-335087C4F9D8}"/>
              </a:ext>
            </a:extLst>
          </p:cNvPr>
          <p:cNvSpPr/>
          <p:nvPr/>
        </p:nvSpPr>
        <p:spPr>
          <a:xfrm>
            <a:off x="7178040" y="4974336"/>
            <a:ext cx="4510735" cy="1417320"/>
          </a:xfrm>
          <a:prstGeom prst="roundRect">
            <a:avLst>
              <a:gd name="adj" fmla="val 5161"/>
            </a:avLst>
          </a:prstGeom>
          <a:solidFill>
            <a:srgbClr val="E7FBF1"/>
          </a:solidFill>
          <a:ln w="12700">
            <a:solidFill>
              <a:srgbClr val="E7FBF1"/>
            </a:solidFill>
            <a:prstDash val="solid"/>
          </a:ln>
          <a:effectLst>
            <a:outerShdw blurRad="127000" dist="38100" dir="5400000" algn="bl" rotWithShape="0">
              <a:srgbClr val="1A1A1A">
                <a:alpha val="12000"/>
              </a:srgbClr>
            </a:outerShdw>
          </a:effectLst>
        </p:spPr>
        <p:txBody>
          <a:bodyPr/>
          <a:lstStyle/>
          <a:p>
            <a:endParaRPr lang="en-US"/>
          </a:p>
        </p:txBody>
      </p:sp>
      <p:sp>
        <p:nvSpPr>
          <p:cNvPr id="25" name="Text 22">
            <a:extLst>
              <a:ext uri="{FF2B5EF4-FFF2-40B4-BE49-F238E27FC236}">
                <a16:creationId xmlns:a16="http://schemas.microsoft.com/office/drawing/2014/main" id="{473DE7B2-5E71-12E1-0258-BC539B84224C}"/>
              </a:ext>
            </a:extLst>
          </p:cNvPr>
          <p:cNvSpPr/>
          <p:nvPr/>
        </p:nvSpPr>
        <p:spPr>
          <a:xfrm>
            <a:off x="7360920" y="5111496"/>
            <a:ext cx="4144975" cy="1143000"/>
          </a:xfrm>
          <a:prstGeom prst="rect">
            <a:avLst/>
          </a:prstGeom>
          <a:noFill/>
          <a:ln/>
        </p:spPr>
        <p:txBody>
          <a:bodyPr wrap="square" rtlCol="0" anchor="ctr"/>
          <a:lstStyle/>
          <a:p>
            <a:pPr marL="0" indent="0">
              <a:lnSpc>
                <a:spcPts val="1450"/>
              </a:lnSpc>
              <a:buNone/>
            </a:pPr>
            <a:r>
              <a:rPr lang="en-US" sz="1100" dirty="0"/>
              <a:t>Hulu ranks third in catalog size, but its TV-heavy library (1,621 TV shows vs. 1,047 movies) reflects a strategic focus on viewer engagement and long-term subscriber retention.</a:t>
            </a:r>
          </a:p>
        </p:txBody>
      </p:sp>
      <p:pic>
        <p:nvPicPr>
          <p:cNvPr id="26" name="Image 0" descr="/home/claude/work/assets/platform_volume_comparison_v2.png">
            <a:extLst>
              <a:ext uri="{FF2B5EF4-FFF2-40B4-BE49-F238E27FC236}">
                <a16:creationId xmlns:a16="http://schemas.microsoft.com/office/drawing/2014/main" id="{B075A37B-A2FB-9520-70B5-85E174D7C265}"/>
              </a:ext>
            </a:extLst>
          </p:cNvPr>
          <p:cNvPicPr>
            <a:picLocks noChangeAspect="1"/>
          </p:cNvPicPr>
          <p:nvPr/>
        </p:nvPicPr>
        <p:blipFill>
          <a:blip r:embed="rId2"/>
          <a:stretch>
            <a:fillRect/>
          </a:stretch>
        </p:blipFill>
        <p:spPr>
          <a:xfrm>
            <a:off x="667512" y="1581912"/>
            <a:ext cx="5980176" cy="3942107"/>
          </a:xfrm>
          <a:prstGeom prst="rect">
            <a:avLst/>
          </a:prstGeom>
        </p:spPr>
      </p:pic>
      <p:sp>
        <p:nvSpPr>
          <p:cNvPr id="29" name="Text 5">
            <a:extLst>
              <a:ext uri="{FF2B5EF4-FFF2-40B4-BE49-F238E27FC236}">
                <a16:creationId xmlns:a16="http://schemas.microsoft.com/office/drawing/2014/main" id="{9679B335-4FC8-7BD4-BA8E-F5C8650063C5}"/>
              </a:ext>
            </a:extLst>
          </p:cNvPr>
          <p:cNvSpPr/>
          <p:nvPr/>
        </p:nvSpPr>
        <p:spPr>
          <a:xfrm>
            <a:off x="7178040" y="1783080"/>
            <a:ext cx="4510735" cy="256032"/>
          </a:xfrm>
          <a:prstGeom prst="rect">
            <a:avLst/>
          </a:prstGeom>
          <a:noFill/>
          <a:ln/>
        </p:spPr>
        <p:txBody>
          <a:bodyPr wrap="square" rtlCol="0" anchor="ctr"/>
          <a:lstStyle/>
          <a:p>
            <a:pPr marL="0" indent="0">
              <a:buNone/>
            </a:pPr>
            <a:r>
              <a:rPr lang="en-US" sz="1200" dirty="0">
                <a:solidFill>
                  <a:srgbClr val="14181A"/>
                </a:solidFill>
                <a:latin typeface="Calibri" pitchFamily="34" charset="0"/>
                <a:ea typeface="Calibri" pitchFamily="34" charset="-122"/>
                <a:cs typeface="Calibri" pitchFamily="34" charset="-120"/>
              </a:rPr>
              <a:t>Prime Video</a:t>
            </a:r>
            <a:endParaRPr lang="en-US" sz="1200" dirty="0"/>
          </a:p>
        </p:txBody>
      </p:sp>
      <p:sp>
        <p:nvSpPr>
          <p:cNvPr id="30" name="Shape 6">
            <a:extLst>
              <a:ext uri="{FF2B5EF4-FFF2-40B4-BE49-F238E27FC236}">
                <a16:creationId xmlns:a16="http://schemas.microsoft.com/office/drawing/2014/main" id="{6F1311CE-1C00-5D28-4393-525B00788D88}"/>
              </a:ext>
            </a:extLst>
          </p:cNvPr>
          <p:cNvSpPr/>
          <p:nvPr/>
        </p:nvSpPr>
        <p:spPr>
          <a:xfrm>
            <a:off x="7178040" y="2057400"/>
            <a:ext cx="3504895" cy="219456"/>
          </a:xfrm>
          <a:prstGeom prst="roundRect">
            <a:avLst>
              <a:gd name="adj" fmla="val 20833"/>
            </a:avLst>
          </a:prstGeom>
          <a:solidFill>
            <a:srgbClr val="F3F5F4"/>
          </a:solidFill>
          <a:ln/>
        </p:spPr>
        <p:txBody>
          <a:bodyPr/>
          <a:lstStyle/>
          <a:p>
            <a:endParaRPr lang="en-US"/>
          </a:p>
        </p:txBody>
      </p:sp>
      <p:sp>
        <p:nvSpPr>
          <p:cNvPr id="31" name="Shape 7">
            <a:extLst>
              <a:ext uri="{FF2B5EF4-FFF2-40B4-BE49-F238E27FC236}">
                <a16:creationId xmlns:a16="http://schemas.microsoft.com/office/drawing/2014/main" id="{4A213099-7214-3F08-2397-B8A056986E3D}"/>
              </a:ext>
            </a:extLst>
          </p:cNvPr>
          <p:cNvSpPr/>
          <p:nvPr/>
        </p:nvSpPr>
        <p:spPr>
          <a:xfrm>
            <a:off x="7178040" y="2057400"/>
            <a:ext cx="3504895" cy="219456"/>
          </a:xfrm>
          <a:prstGeom prst="roundRect">
            <a:avLst>
              <a:gd name="adj" fmla="val 20833"/>
            </a:avLst>
          </a:prstGeom>
          <a:solidFill>
            <a:srgbClr val="1D2224"/>
          </a:solidFill>
          <a:ln/>
        </p:spPr>
        <p:txBody>
          <a:bodyPr/>
          <a:lstStyle/>
          <a:p>
            <a:endParaRPr lang="en-US"/>
          </a:p>
        </p:txBody>
      </p:sp>
      <p:sp>
        <p:nvSpPr>
          <p:cNvPr id="32" name="Text 8">
            <a:extLst>
              <a:ext uri="{FF2B5EF4-FFF2-40B4-BE49-F238E27FC236}">
                <a16:creationId xmlns:a16="http://schemas.microsoft.com/office/drawing/2014/main" id="{C808D547-E1F9-16B5-B7DA-5C100AD16EC6}"/>
              </a:ext>
            </a:extLst>
          </p:cNvPr>
          <p:cNvSpPr/>
          <p:nvPr/>
        </p:nvSpPr>
        <p:spPr>
          <a:xfrm>
            <a:off x="10792663" y="2002536"/>
            <a:ext cx="868680" cy="292608"/>
          </a:xfrm>
          <a:prstGeom prst="rect">
            <a:avLst/>
          </a:prstGeom>
          <a:noFill/>
          <a:ln/>
        </p:spPr>
        <p:txBody>
          <a:bodyPr wrap="square" rtlCol="0" anchor="ctr"/>
          <a:lstStyle/>
          <a:p>
            <a:pPr marL="0" indent="0">
              <a:buNone/>
            </a:pPr>
            <a:r>
              <a:rPr lang="en-US" sz="1100" b="1" dirty="0">
                <a:solidFill>
                  <a:srgbClr val="14181A"/>
                </a:solidFill>
                <a:latin typeface="Calibri" pitchFamily="34" charset="0"/>
                <a:ea typeface="Calibri" pitchFamily="34" charset="-122"/>
                <a:cs typeface="Calibri" pitchFamily="34" charset="-120"/>
              </a:rPr>
              <a:t>5,944</a:t>
            </a:r>
            <a:endParaRPr lang="en-US" sz="1100" dirty="0"/>
          </a:p>
        </p:txBody>
      </p:sp>
      <p:sp>
        <p:nvSpPr>
          <p:cNvPr id="33" name="Text 9">
            <a:extLst>
              <a:ext uri="{FF2B5EF4-FFF2-40B4-BE49-F238E27FC236}">
                <a16:creationId xmlns:a16="http://schemas.microsoft.com/office/drawing/2014/main" id="{24501F79-98CA-DAF0-90F8-B24107200238}"/>
              </a:ext>
            </a:extLst>
          </p:cNvPr>
          <p:cNvSpPr/>
          <p:nvPr/>
        </p:nvSpPr>
        <p:spPr>
          <a:xfrm>
            <a:off x="7178040" y="2569464"/>
            <a:ext cx="4510735" cy="256032"/>
          </a:xfrm>
          <a:prstGeom prst="rect">
            <a:avLst/>
          </a:prstGeom>
          <a:noFill/>
          <a:ln/>
        </p:spPr>
        <p:txBody>
          <a:bodyPr wrap="square" rtlCol="0" anchor="ctr"/>
          <a:lstStyle/>
          <a:p>
            <a:pPr marL="0" indent="0">
              <a:buNone/>
            </a:pPr>
            <a:r>
              <a:rPr lang="en-US" sz="1200" dirty="0">
                <a:solidFill>
                  <a:srgbClr val="14181A"/>
                </a:solidFill>
                <a:latin typeface="Calibri" pitchFamily="34" charset="0"/>
                <a:ea typeface="Calibri" pitchFamily="34" charset="-122"/>
                <a:cs typeface="Calibri" pitchFamily="34" charset="-120"/>
              </a:rPr>
              <a:t>Netflix</a:t>
            </a:r>
            <a:endParaRPr lang="en-US" sz="1200" dirty="0"/>
          </a:p>
        </p:txBody>
      </p:sp>
      <p:sp>
        <p:nvSpPr>
          <p:cNvPr id="34" name="Shape 10">
            <a:extLst>
              <a:ext uri="{FF2B5EF4-FFF2-40B4-BE49-F238E27FC236}">
                <a16:creationId xmlns:a16="http://schemas.microsoft.com/office/drawing/2014/main" id="{F2FD8A9D-61A4-2DBB-CABD-5E21DFFDE7F9}"/>
              </a:ext>
            </a:extLst>
          </p:cNvPr>
          <p:cNvSpPr/>
          <p:nvPr/>
        </p:nvSpPr>
        <p:spPr>
          <a:xfrm>
            <a:off x="7178040" y="2843784"/>
            <a:ext cx="3504895" cy="219456"/>
          </a:xfrm>
          <a:prstGeom prst="roundRect">
            <a:avLst>
              <a:gd name="adj" fmla="val 20833"/>
            </a:avLst>
          </a:prstGeom>
          <a:solidFill>
            <a:srgbClr val="F3F5F4"/>
          </a:solidFill>
          <a:ln/>
        </p:spPr>
        <p:txBody>
          <a:bodyPr/>
          <a:lstStyle/>
          <a:p>
            <a:endParaRPr lang="en-US"/>
          </a:p>
        </p:txBody>
      </p:sp>
      <p:sp>
        <p:nvSpPr>
          <p:cNvPr id="35" name="Shape 11">
            <a:extLst>
              <a:ext uri="{FF2B5EF4-FFF2-40B4-BE49-F238E27FC236}">
                <a16:creationId xmlns:a16="http://schemas.microsoft.com/office/drawing/2014/main" id="{2228EA5D-7E15-56CB-5B4A-45C144C5D839}"/>
              </a:ext>
            </a:extLst>
          </p:cNvPr>
          <p:cNvSpPr/>
          <p:nvPr/>
        </p:nvSpPr>
        <p:spPr>
          <a:xfrm>
            <a:off x="7178040" y="2843784"/>
            <a:ext cx="3340972" cy="219456"/>
          </a:xfrm>
          <a:prstGeom prst="roundRect">
            <a:avLst>
              <a:gd name="adj" fmla="val 20833"/>
            </a:avLst>
          </a:prstGeom>
          <a:solidFill>
            <a:srgbClr val="1D2224"/>
          </a:solidFill>
          <a:ln/>
        </p:spPr>
        <p:txBody>
          <a:bodyPr/>
          <a:lstStyle/>
          <a:p>
            <a:endParaRPr lang="en-US"/>
          </a:p>
        </p:txBody>
      </p:sp>
      <p:sp>
        <p:nvSpPr>
          <p:cNvPr id="36" name="Text 12">
            <a:extLst>
              <a:ext uri="{FF2B5EF4-FFF2-40B4-BE49-F238E27FC236}">
                <a16:creationId xmlns:a16="http://schemas.microsoft.com/office/drawing/2014/main" id="{0A627E93-F513-C01C-FB19-B200BDAEF230}"/>
              </a:ext>
            </a:extLst>
          </p:cNvPr>
          <p:cNvSpPr/>
          <p:nvPr/>
        </p:nvSpPr>
        <p:spPr>
          <a:xfrm>
            <a:off x="10792663" y="2788920"/>
            <a:ext cx="868680" cy="292608"/>
          </a:xfrm>
          <a:prstGeom prst="rect">
            <a:avLst/>
          </a:prstGeom>
          <a:noFill/>
          <a:ln/>
        </p:spPr>
        <p:txBody>
          <a:bodyPr wrap="square" rtlCol="0" anchor="ctr"/>
          <a:lstStyle/>
          <a:p>
            <a:pPr marL="0" indent="0">
              <a:buNone/>
            </a:pPr>
            <a:r>
              <a:rPr lang="en-US" sz="1100" b="1" dirty="0">
                <a:solidFill>
                  <a:srgbClr val="14181A"/>
                </a:solidFill>
                <a:latin typeface="Calibri" pitchFamily="34" charset="0"/>
                <a:ea typeface="Calibri" pitchFamily="34" charset="-122"/>
                <a:cs typeface="Calibri" pitchFamily="34" charset="-120"/>
              </a:rPr>
              <a:t>5,666</a:t>
            </a:r>
            <a:endParaRPr lang="en-US" sz="1100" dirty="0"/>
          </a:p>
        </p:txBody>
      </p:sp>
      <p:sp>
        <p:nvSpPr>
          <p:cNvPr id="37" name="Text 13">
            <a:extLst>
              <a:ext uri="{FF2B5EF4-FFF2-40B4-BE49-F238E27FC236}">
                <a16:creationId xmlns:a16="http://schemas.microsoft.com/office/drawing/2014/main" id="{04DCD283-8B94-31A1-4B61-C8D3F2ECEB19}"/>
              </a:ext>
            </a:extLst>
          </p:cNvPr>
          <p:cNvSpPr/>
          <p:nvPr/>
        </p:nvSpPr>
        <p:spPr>
          <a:xfrm>
            <a:off x="7178040" y="3355848"/>
            <a:ext cx="4510735" cy="256032"/>
          </a:xfrm>
          <a:prstGeom prst="rect">
            <a:avLst/>
          </a:prstGeom>
          <a:noFill/>
          <a:ln/>
        </p:spPr>
        <p:txBody>
          <a:bodyPr wrap="square" rtlCol="0" anchor="ctr"/>
          <a:lstStyle/>
          <a:p>
            <a:pPr marL="0" indent="0">
              <a:buNone/>
            </a:pPr>
            <a:r>
              <a:rPr lang="en-US" sz="1200" b="1" dirty="0">
                <a:solidFill>
                  <a:srgbClr val="1C7A4C"/>
                </a:solidFill>
                <a:latin typeface="Calibri" pitchFamily="34" charset="0"/>
                <a:ea typeface="Calibri" pitchFamily="34" charset="-122"/>
                <a:cs typeface="Calibri" pitchFamily="34" charset="-120"/>
              </a:rPr>
              <a:t>Hulu</a:t>
            </a:r>
            <a:endParaRPr lang="en-US" sz="1200" dirty="0"/>
          </a:p>
        </p:txBody>
      </p:sp>
      <p:sp>
        <p:nvSpPr>
          <p:cNvPr id="38" name="Shape 14">
            <a:extLst>
              <a:ext uri="{FF2B5EF4-FFF2-40B4-BE49-F238E27FC236}">
                <a16:creationId xmlns:a16="http://schemas.microsoft.com/office/drawing/2014/main" id="{57949697-19E6-B1E2-4C20-FFA40EEA9EF7}"/>
              </a:ext>
            </a:extLst>
          </p:cNvPr>
          <p:cNvSpPr/>
          <p:nvPr/>
        </p:nvSpPr>
        <p:spPr>
          <a:xfrm>
            <a:off x="7178040" y="3630168"/>
            <a:ext cx="3504895" cy="219456"/>
          </a:xfrm>
          <a:prstGeom prst="roundRect">
            <a:avLst>
              <a:gd name="adj" fmla="val 20833"/>
            </a:avLst>
          </a:prstGeom>
          <a:solidFill>
            <a:srgbClr val="F3F5F4"/>
          </a:solidFill>
          <a:ln/>
        </p:spPr>
        <p:txBody>
          <a:bodyPr/>
          <a:lstStyle/>
          <a:p>
            <a:endParaRPr lang="en-US"/>
          </a:p>
        </p:txBody>
      </p:sp>
      <p:sp>
        <p:nvSpPr>
          <p:cNvPr id="39" name="Shape 15">
            <a:extLst>
              <a:ext uri="{FF2B5EF4-FFF2-40B4-BE49-F238E27FC236}">
                <a16:creationId xmlns:a16="http://schemas.microsoft.com/office/drawing/2014/main" id="{3C532330-D244-02DC-464C-D849C3E14CBF}"/>
              </a:ext>
            </a:extLst>
          </p:cNvPr>
          <p:cNvSpPr/>
          <p:nvPr/>
        </p:nvSpPr>
        <p:spPr>
          <a:xfrm>
            <a:off x="7178040" y="3630168"/>
            <a:ext cx="1573193" cy="219456"/>
          </a:xfrm>
          <a:prstGeom prst="roundRect">
            <a:avLst>
              <a:gd name="adj" fmla="val 20833"/>
            </a:avLst>
          </a:prstGeom>
          <a:solidFill>
            <a:srgbClr val="2FA76B"/>
          </a:solidFill>
          <a:ln/>
        </p:spPr>
        <p:txBody>
          <a:bodyPr/>
          <a:lstStyle/>
          <a:p>
            <a:endParaRPr lang="en-US"/>
          </a:p>
        </p:txBody>
      </p:sp>
      <p:sp>
        <p:nvSpPr>
          <p:cNvPr id="40" name="Text 16">
            <a:extLst>
              <a:ext uri="{FF2B5EF4-FFF2-40B4-BE49-F238E27FC236}">
                <a16:creationId xmlns:a16="http://schemas.microsoft.com/office/drawing/2014/main" id="{60B4B55F-5FD0-6E89-979B-823B18FC6C74}"/>
              </a:ext>
            </a:extLst>
          </p:cNvPr>
          <p:cNvSpPr/>
          <p:nvPr/>
        </p:nvSpPr>
        <p:spPr>
          <a:xfrm>
            <a:off x="10792663" y="3575304"/>
            <a:ext cx="868680" cy="292608"/>
          </a:xfrm>
          <a:prstGeom prst="rect">
            <a:avLst/>
          </a:prstGeom>
          <a:noFill/>
          <a:ln/>
        </p:spPr>
        <p:txBody>
          <a:bodyPr wrap="square" rtlCol="0" anchor="ctr"/>
          <a:lstStyle/>
          <a:p>
            <a:pPr marL="0" indent="0">
              <a:buNone/>
            </a:pPr>
            <a:r>
              <a:rPr lang="en-US" sz="1100" b="1" dirty="0">
                <a:solidFill>
                  <a:srgbClr val="14181A"/>
                </a:solidFill>
                <a:latin typeface="Calibri" pitchFamily="34" charset="0"/>
                <a:ea typeface="Calibri" pitchFamily="34" charset="-122"/>
                <a:cs typeface="Calibri" pitchFamily="34" charset="-120"/>
              </a:rPr>
              <a:t>2,668</a:t>
            </a:r>
            <a:endParaRPr lang="en-US" sz="1100" dirty="0"/>
          </a:p>
        </p:txBody>
      </p:sp>
      <p:sp>
        <p:nvSpPr>
          <p:cNvPr id="41" name="Text 17">
            <a:extLst>
              <a:ext uri="{FF2B5EF4-FFF2-40B4-BE49-F238E27FC236}">
                <a16:creationId xmlns:a16="http://schemas.microsoft.com/office/drawing/2014/main" id="{0E7D0E37-0D5B-BC65-D708-57521D7472B4}"/>
              </a:ext>
            </a:extLst>
          </p:cNvPr>
          <p:cNvSpPr/>
          <p:nvPr/>
        </p:nvSpPr>
        <p:spPr>
          <a:xfrm>
            <a:off x="7178040" y="4142232"/>
            <a:ext cx="4510735" cy="256032"/>
          </a:xfrm>
          <a:prstGeom prst="rect">
            <a:avLst/>
          </a:prstGeom>
          <a:noFill/>
          <a:ln/>
        </p:spPr>
        <p:txBody>
          <a:bodyPr wrap="square" rtlCol="0" anchor="ctr"/>
          <a:lstStyle/>
          <a:p>
            <a:pPr marL="0" indent="0">
              <a:buNone/>
            </a:pPr>
            <a:r>
              <a:rPr lang="en-US" sz="1200" dirty="0">
                <a:solidFill>
                  <a:srgbClr val="14181A"/>
                </a:solidFill>
                <a:latin typeface="Calibri" pitchFamily="34" charset="0"/>
                <a:ea typeface="Calibri" pitchFamily="34" charset="-122"/>
                <a:cs typeface="Calibri" pitchFamily="34" charset="-120"/>
              </a:rPr>
              <a:t>Disney+</a:t>
            </a:r>
            <a:endParaRPr lang="en-US" sz="1200" dirty="0"/>
          </a:p>
        </p:txBody>
      </p:sp>
      <p:sp>
        <p:nvSpPr>
          <p:cNvPr id="42" name="Shape 18">
            <a:extLst>
              <a:ext uri="{FF2B5EF4-FFF2-40B4-BE49-F238E27FC236}">
                <a16:creationId xmlns:a16="http://schemas.microsoft.com/office/drawing/2014/main" id="{414C2F19-1FD1-AF6F-D7C2-DB225D80BCDF}"/>
              </a:ext>
            </a:extLst>
          </p:cNvPr>
          <p:cNvSpPr/>
          <p:nvPr/>
        </p:nvSpPr>
        <p:spPr>
          <a:xfrm>
            <a:off x="7178040" y="4416552"/>
            <a:ext cx="3504895" cy="219456"/>
          </a:xfrm>
          <a:prstGeom prst="roundRect">
            <a:avLst>
              <a:gd name="adj" fmla="val 20833"/>
            </a:avLst>
          </a:prstGeom>
          <a:solidFill>
            <a:srgbClr val="F3F5F4"/>
          </a:solidFill>
          <a:ln/>
        </p:spPr>
        <p:txBody>
          <a:bodyPr/>
          <a:lstStyle/>
          <a:p>
            <a:endParaRPr lang="en-US"/>
          </a:p>
        </p:txBody>
      </p:sp>
      <p:sp>
        <p:nvSpPr>
          <p:cNvPr id="43" name="Shape 19">
            <a:extLst>
              <a:ext uri="{FF2B5EF4-FFF2-40B4-BE49-F238E27FC236}">
                <a16:creationId xmlns:a16="http://schemas.microsoft.com/office/drawing/2014/main" id="{336F8314-03D8-97F5-B889-85DB27165E46}"/>
              </a:ext>
            </a:extLst>
          </p:cNvPr>
          <p:cNvSpPr/>
          <p:nvPr/>
        </p:nvSpPr>
        <p:spPr>
          <a:xfrm>
            <a:off x="7178040" y="4416552"/>
            <a:ext cx="750628" cy="219456"/>
          </a:xfrm>
          <a:prstGeom prst="roundRect">
            <a:avLst>
              <a:gd name="adj" fmla="val 20833"/>
            </a:avLst>
          </a:prstGeom>
          <a:solidFill>
            <a:srgbClr val="1D2224"/>
          </a:solidFill>
          <a:ln/>
        </p:spPr>
        <p:txBody>
          <a:bodyPr/>
          <a:lstStyle/>
          <a:p>
            <a:endParaRPr lang="en-US"/>
          </a:p>
        </p:txBody>
      </p:sp>
      <p:sp>
        <p:nvSpPr>
          <p:cNvPr id="44" name="Text 20">
            <a:extLst>
              <a:ext uri="{FF2B5EF4-FFF2-40B4-BE49-F238E27FC236}">
                <a16:creationId xmlns:a16="http://schemas.microsoft.com/office/drawing/2014/main" id="{C0194080-67AB-63B3-959C-7ED1A351B1BE}"/>
              </a:ext>
            </a:extLst>
          </p:cNvPr>
          <p:cNvSpPr/>
          <p:nvPr/>
        </p:nvSpPr>
        <p:spPr>
          <a:xfrm>
            <a:off x="10792663" y="4361688"/>
            <a:ext cx="868680" cy="292608"/>
          </a:xfrm>
          <a:prstGeom prst="rect">
            <a:avLst/>
          </a:prstGeom>
          <a:noFill/>
          <a:ln/>
        </p:spPr>
        <p:txBody>
          <a:bodyPr wrap="square" rtlCol="0" anchor="ctr"/>
          <a:lstStyle/>
          <a:p>
            <a:pPr marL="0" indent="0">
              <a:buNone/>
            </a:pPr>
            <a:r>
              <a:rPr lang="en-US" sz="1100" b="1" dirty="0">
                <a:solidFill>
                  <a:srgbClr val="14181A"/>
                </a:solidFill>
                <a:latin typeface="Calibri" pitchFamily="34" charset="0"/>
                <a:ea typeface="Calibri" pitchFamily="34" charset="-122"/>
                <a:cs typeface="Calibri" pitchFamily="34" charset="-120"/>
              </a:rPr>
              <a:t>1,273</a:t>
            </a:r>
            <a:endParaRPr lang="en-US" sz="1100" dirty="0"/>
          </a:p>
        </p:txBody>
      </p:sp>
      <p:sp>
        <p:nvSpPr>
          <p:cNvPr id="46" name="TextBox 45">
            <a:extLst>
              <a:ext uri="{FF2B5EF4-FFF2-40B4-BE49-F238E27FC236}">
                <a16:creationId xmlns:a16="http://schemas.microsoft.com/office/drawing/2014/main" id="{88CBC9DD-EE63-2B05-CA4A-5BE0804DEDA9}"/>
              </a:ext>
            </a:extLst>
          </p:cNvPr>
          <p:cNvSpPr txBox="1"/>
          <p:nvPr/>
        </p:nvSpPr>
        <p:spPr>
          <a:xfrm>
            <a:off x="7150608" y="1241798"/>
            <a:ext cx="6097656" cy="307777"/>
          </a:xfrm>
          <a:prstGeom prst="rect">
            <a:avLst/>
          </a:prstGeom>
          <a:noFill/>
        </p:spPr>
        <p:txBody>
          <a:bodyPr wrap="square">
            <a:spAutoFit/>
          </a:bodyPr>
          <a:lstStyle/>
          <a:p>
            <a:r>
              <a:rPr lang="en-US" sz="1400" b="1" dirty="0">
                <a:solidFill>
                  <a:schemeClr val="bg2">
                    <a:lumMod val="50000"/>
                  </a:schemeClr>
                </a:solidFill>
              </a:rPr>
              <a:t>Total Catalog Size</a:t>
            </a:r>
          </a:p>
        </p:txBody>
      </p:sp>
    </p:spTree>
    <p:extLst>
      <p:ext uri="{BB962C8B-B14F-4D97-AF65-F5344CB8AC3E}">
        <p14:creationId xmlns:p14="http://schemas.microsoft.com/office/powerpoint/2010/main" val="1040039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AC33B77C-E709-3056-150D-153C38036816}"/>
              </a:ext>
            </a:extLst>
          </p:cNvPr>
          <p:cNvSpPr/>
          <p:nvPr/>
        </p:nvSpPr>
        <p:spPr>
          <a:xfrm>
            <a:off x="2962219" y="841248"/>
            <a:ext cx="5962761" cy="566928"/>
          </a:xfrm>
          <a:prstGeom prst="rect">
            <a:avLst/>
          </a:prstGeom>
          <a:noFill/>
          <a:ln/>
        </p:spPr>
        <p:txBody>
          <a:bodyPr wrap="square" rtlCol="0" anchor="ctr"/>
          <a:lstStyle/>
          <a:p>
            <a:pPr marL="0" indent="0">
              <a:buNone/>
            </a:pPr>
            <a:r>
              <a:rPr lang="en-US" sz="2000" b="1" dirty="0">
                <a:solidFill>
                  <a:srgbClr val="14181A"/>
                </a:solidFill>
                <a:latin typeface="Cambria" pitchFamily="34" charset="0"/>
                <a:ea typeface="Cambria" pitchFamily="34" charset="-122"/>
                <a:cs typeface="Cambria" pitchFamily="34" charset="-120"/>
              </a:rPr>
              <a:t>A TV-Centric, Reality &amp; Drama-Driven Library</a:t>
            </a:r>
            <a:endParaRPr lang="en-US" sz="2000" dirty="0"/>
          </a:p>
        </p:txBody>
      </p:sp>
      <p:sp>
        <p:nvSpPr>
          <p:cNvPr id="6" name="Text 3">
            <a:extLst>
              <a:ext uri="{FF2B5EF4-FFF2-40B4-BE49-F238E27FC236}">
                <a16:creationId xmlns:a16="http://schemas.microsoft.com/office/drawing/2014/main" id="{2DDC76E3-22AE-D3D9-0682-E8E84803DAEE}"/>
              </a:ext>
            </a:extLst>
          </p:cNvPr>
          <p:cNvSpPr/>
          <p:nvPr/>
        </p:nvSpPr>
        <p:spPr>
          <a:xfrm>
            <a:off x="667512" y="5102352"/>
            <a:ext cx="5111496" cy="256032"/>
          </a:xfrm>
          <a:prstGeom prst="rect">
            <a:avLst/>
          </a:prstGeom>
          <a:noFill/>
          <a:ln/>
        </p:spPr>
        <p:txBody>
          <a:bodyPr wrap="square" rtlCol="0" anchor="ctr"/>
          <a:lstStyle/>
          <a:p>
            <a:pPr marL="0" indent="0" algn="ctr">
              <a:buNone/>
            </a:pPr>
            <a:r>
              <a:rPr lang="en-US" sz="950" i="1" dirty="0">
                <a:solidFill>
                  <a:srgbClr val="8A9296"/>
                </a:solidFill>
                <a:latin typeface="Calibri" pitchFamily="34" charset="0"/>
                <a:ea typeface="Calibri" pitchFamily="34" charset="-122"/>
                <a:cs typeface="Calibri" pitchFamily="34" charset="-120"/>
              </a:rPr>
              <a:t>Hulu: Movie vs. TV Show (count)</a:t>
            </a:r>
            <a:endParaRPr lang="en-US" sz="950" dirty="0"/>
          </a:p>
        </p:txBody>
      </p:sp>
      <p:sp>
        <p:nvSpPr>
          <p:cNvPr id="7" name="Shape 4">
            <a:extLst>
              <a:ext uri="{FF2B5EF4-FFF2-40B4-BE49-F238E27FC236}">
                <a16:creationId xmlns:a16="http://schemas.microsoft.com/office/drawing/2014/main" id="{7B14A9DD-CFC1-456D-AE0B-E88C00AABAA1}"/>
              </a:ext>
            </a:extLst>
          </p:cNvPr>
          <p:cNvSpPr/>
          <p:nvPr/>
        </p:nvSpPr>
        <p:spPr>
          <a:xfrm>
            <a:off x="6245352" y="1417320"/>
            <a:ext cx="5440680" cy="3977640"/>
          </a:xfrm>
          <a:prstGeom prst="roundRect">
            <a:avLst>
              <a:gd name="adj" fmla="val 1839"/>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9" name="Text 5">
            <a:extLst>
              <a:ext uri="{FF2B5EF4-FFF2-40B4-BE49-F238E27FC236}">
                <a16:creationId xmlns:a16="http://schemas.microsoft.com/office/drawing/2014/main" id="{D144E4BB-0D5B-0C71-97D2-DD886C662285}"/>
              </a:ext>
            </a:extLst>
          </p:cNvPr>
          <p:cNvSpPr/>
          <p:nvPr/>
        </p:nvSpPr>
        <p:spPr>
          <a:xfrm>
            <a:off x="6409944" y="5102352"/>
            <a:ext cx="5111496" cy="256032"/>
          </a:xfrm>
          <a:prstGeom prst="rect">
            <a:avLst/>
          </a:prstGeom>
          <a:noFill/>
          <a:ln/>
        </p:spPr>
        <p:txBody>
          <a:bodyPr wrap="square" rtlCol="0" anchor="ctr"/>
          <a:lstStyle/>
          <a:p>
            <a:pPr marL="0" indent="0" algn="ctr">
              <a:buNone/>
            </a:pPr>
            <a:r>
              <a:rPr lang="en-US" sz="950" i="1" dirty="0">
                <a:solidFill>
                  <a:srgbClr val="8A9296"/>
                </a:solidFill>
                <a:latin typeface="Calibri" pitchFamily="34" charset="0"/>
                <a:ea typeface="Calibri" pitchFamily="34" charset="-122"/>
                <a:cs typeface="Calibri" pitchFamily="34" charset="-120"/>
              </a:rPr>
              <a:t>Hulu: Top 10 genres</a:t>
            </a:r>
            <a:endParaRPr lang="en-US" sz="950" dirty="0"/>
          </a:p>
        </p:txBody>
      </p:sp>
      <p:sp>
        <p:nvSpPr>
          <p:cNvPr id="10" name="Shape 6">
            <a:extLst>
              <a:ext uri="{FF2B5EF4-FFF2-40B4-BE49-F238E27FC236}">
                <a16:creationId xmlns:a16="http://schemas.microsoft.com/office/drawing/2014/main" id="{372B57B1-1740-2EE7-F512-5235EE6FC064}"/>
              </a:ext>
            </a:extLst>
          </p:cNvPr>
          <p:cNvSpPr/>
          <p:nvPr/>
        </p:nvSpPr>
        <p:spPr>
          <a:xfrm>
            <a:off x="502920" y="5577840"/>
            <a:ext cx="5440680" cy="960120"/>
          </a:xfrm>
          <a:prstGeom prst="roundRect">
            <a:avLst>
              <a:gd name="adj" fmla="val 7619"/>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11" name="Text 7">
            <a:extLst>
              <a:ext uri="{FF2B5EF4-FFF2-40B4-BE49-F238E27FC236}">
                <a16:creationId xmlns:a16="http://schemas.microsoft.com/office/drawing/2014/main" id="{245DCFD8-ED81-94EB-2A2C-69B80BDF7838}"/>
              </a:ext>
            </a:extLst>
          </p:cNvPr>
          <p:cNvSpPr/>
          <p:nvPr/>
        </p:nvSpPr>
        <p:spPr>
          <a:xfrm>
            <a:off x="704088" y="5687568"/>
            <a:ext cx="1371600" cy="731520"/>
          </a:xfrm>
          <a:prstGeom prst="rect">
            <a:avLst/>
          </a:prstGeom>
          <a:noFill/>
          <a:ln/>
        </p:spPr>
        <p:txBody>
          <a:bodyPr wrap="square" rtlCol="0" anchor="ctr"/>
          <a:lstStyle/>
          <a:p>
            <a:pPr marL="0" indent="0">
              <a:buNone/>
            </a:pPr>
            <a:r>
              <a:rPr lang="en-US" sz="2700" b="1" dirty="0">
                <a:solidFill>
                  <a:srgbClr val="0B8A4A"/>
                </a:solidFill>
                <a:latin typeface="Cambria" pitchFamily="34" charset="0"/>
                <a:ea typeface="Cambria" pitchFamily="34" charset="-122"/>
                <a:cs typeface="Cambria" pitchFamily="34" charset="-120"/>
              </a:rPr>
              <a:t>61%</a:t>
            </a:r>
            <a:endParaRPr lang="en-US" sz="2700" dirty="0"/>
          </a:p>
        </p:txBody>
      </p:sp>
      <p:sp>
        <p:nvSpPr>
          <p:cNvPr id="12" name="Text 8">
            <a:extLst>
              <a:ext uri="{FF2B5EF4-FFF2-40B4-BE49-F238E27FC236}">
                <a16:creationId xmlns:a16="http://schemas.microsoft.com/office/drawing/2014/main" id="{096E05E0-956D-CA51-55E5-5396F78964E9}"/>
              </a:ext>
            </a:extLst>
          </p:cNvPr>
          <p:cNvSpPr/>
          <p:nvPr/>
        </p:nvSpPr>
        <p:spPr>
          <a:xfrm>
            <a:off x="2103120" y="5669280"/>
            <a:ext cx="3657600" cy="777240"/>
          </a:xfrm>
          <a:prstGeom prst="rect">
            <a:avLst/>
          </a:prstGeom>
          <a:noFill/>
          <a:ln/>
        </p:spPr>
        <p:txBody>
          <a:bodyPr wrap="square" rtlCol="0" anchor="ctr"/>
          <a:lstStyle/>
          <a:p>
            <a:pPr marL="0" indent="0">
              <a:lnSpc>
                <a:spcPts val="1300"/>
              </a:lnSpc>
              <a:buNone/>
            </a:pPr>
            <a:r>
              <a:rPr lang="en-US" sz="1100" dirty="0">
                <a:solidFill>
                  <a:schemeClr val="bg2">
                    <a:lumMod val="50000"/>
                  </a:schemeClr>
                </a:solidFill>
              </a:rPr>
              <a:t>of Hulu's catalog consists of TV shows (1,621 of 2,668 titles), reinforcing its position as a TV-first streaming platform.</a:t>
            </a:r>
          </a:p>
        </p:txBody>
      </p:sp>
      <p:sp>
        <p:nvSpPr>
          <p:cNvPr id="13" name="Shape 9">
            <a:extLst>
              <a:ext uri="{FF2B5EF4-FFF2-40B4-BE49-F238E27FC236}">
                <a16:creationId xmlns:a16="http://schemas.microsoft.com/office/drawing/2014/main" id="{976D3BD0-9271-5E62-7A3E-D5D1BF3EFCD7}"/>
              </a:ext>
            </a:extLst>
          </p:cNvPr>
          <p:cNvSpPr/>
          <p:nvPr/>
        </p:nvSpPr>
        <p:spPr>
          <a:xfrm>
            <a:off x="6245352" y="5577840"/>
            <a:ext cx="5440680" cy="960120"/>
          </a:xfrm>
          <a:prstGeom prst="roundRect">
            <a:avLst>
              <a:gd name="adj" fmla="val 7619"/>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14" name="Text 10">
            <a:extLst>
              <a:ext uri="{FF2B5EF4-FFF2-40B4-BE49-F238E27FC236}">
                <a16:creationId xmlns:a16="http://schemas.microsoft.com/office/drawing/2014/main" id="{F7F9809F-0E1A-E04D-19DD-2E9EA4418786}"/>
              </a:ext>
            </a:extLst>
          </p:cNvPr>
          <p:cNvSpPr/>
          <p:nvPr/>
        </p:nvSpPr>
        <p:spPr>
          <a:xfrm>
            <a:off x="6446520" y="5687568"/>
            <a:ext cx="1371600" cy="731520"/>
          </a:xfrm>
          <a:prstGeom prst="rect">
            <a:avLst/>
          </a:prstGeom>
          <a:noFill/>
          <a:ln/>
        </p:spPr>
        <p:txBody>
          <a:bodyPr wrap="square" rtlCol="0" anchor="ctr"/>
          <a:lstStyle/>
          <a:p>
            <a:pPr marL="0" indent="0">
              <a:buNone/>
            </a:pPr>
            <a:r>
              <a:rPr lang="en-US" sz="2700" b="1" dirty="0">
                <a:solidFill>
                  <a:srgbClr val="0B8A4A"/>
                </a:solidFill>
                <a:latin typeface="Cambria" pitchFamily="34" charset="0"/>
                <a:ea typeface="Cambria" pitchFamily="34" charset="-122"/>
                <a:cs typeface="Cambria" pitchFamily="34" charset="-120"/>
              </a:rPr>
              <a:t>41%</a:t>
            </a:r>
            <a:endParaRPr lang="en-US" sz="2700" dirty="0"/>
          </a:p>
        </p:txBody>
      </p:sp>
      <p:sp>
        <p:nvSpPr>
          <p:cNvPr id="15" name="Text 11">
            <a:extLst>
              <a:ext uri="{FF2B5EF4-FFF2-40B4-BE49-F238E27FC236}">
                <a16:creationId xmlns:a16="http://schemas.microsoft.com/office/drawing/2014/main" id="{F5AA2F3C-4E43-336B-E0C2-95B9B7F96112}"/>
              </a:ext>
            </a:extLst>
          </p:cNvPr>
          <p:cNvSpPr/>
          <p:nvPr/>
        </p:nvSpPr>
        <p:spPr>
          <a:xfrm>
            <a:off x="7845552" y="5669280"/>
            <a:ext cx="3657600" cy="777240"/>
          </a:xfrm>
          <a:prstGeom prst="rect">
            <a:avLst/>
          </a:prstGeom>
          <a:noFill/>
          <a:ln/>
        </p:spPr>
        <p:txBody>
          <a:bodyPr wrap="square" rtlCol="0" anchor="ctr"/>
          <a:lstStyle/>
          <a:p>
            <a:pPr marL="0" indent="0">
              <a:lnSpc>
                <a:spcPts val="1300"/>
              </a:lnSpc>
              <a:buNone/>
            </a:pPr>
            <a:r>
              <a:rPr lang="en-US" sz="1100" dirty="0">
                <a:solidFill>
                  <a:schemeClr val="bg2">
                    <a:lumMod val="50000"/>
                  </a:schemeClr>
                </a:solidFill>
              </a:rPr>
              <a:t>of Hulu’s top-10 genre mix is reality television (984 titles), making it the platform’s dominant genre category.</a:t>
            </a:r>
          </a:p>
        </p:txBody>
      </p:sp>
      <p:sp>
        <p:nvSpPr>
          <p:cNvPr id="16" name="TextBox 15">
            <a:extLst>
              <a:ext uri="{FF2B5EF4-FFF2-40B4-BE49-F238E27FC236}">
                <a16:creationId xmlns:a16="http://schemas.microsoft.com/office/drawing/2014/main" id="{BB999CF1-EDB1-38E4-6AA1-FC61A236C456}"/>
              </a:ext>
            </a:extLst>
          </p:cNvPr>
          <p:cNvSpPr txBox="1"/>
          <p:nvPr/>
        </p:nvSpPr>
        <p:spPr>
          <a:xfrm>
            <a:off x="183907" y="138047"/>
            <a:ext cx="7634213" cy="538609"/>
          </a:xfrm>
          <a:prstGeom prst="rect">
            <a:avLst/>
          </a:prstGeom>
          <a:noFill/>
        </p:spPr>
        <p:txBody>
          <a:bodyPr wrap="square" rtlCol="0">
            <a:spAutoFit/>
          </a:bodyPr>
          <a:lstStyle/>
          <a:p>
            <a:r>
              <a:rPr lang="en-US" sz="2900" b="1" dirty="0">
                <a:solidFill>
                  <a:srgbClr val="118121"/>
                </a:solidFill>
                <a:latin typeface="Cambria" panose="02040503050406030204" pitchFamily="18" charset="0"/>
                <a:ea typeface="Cambria Math" panose="02040503050406030204" pitchFamily="18" charset="0"/>
              </a:rPr>
              <a:t>Platform Strategy Analysis: Hulu</a:t>
            </a:r>
          </a:p>
        </p:txBody>
      </p:sp>
      <p:sp>
        <p:nvSpPr>
          <p:cNvPr id="17" name="TextBox 16">
            <a:extLst>
              <a:ext uri="{FF2B5EF4-FFF2-40B4-BE49-F238E27FC236}">
                <a16:creationId xmlns:a16="http://schemas.microsoft.com/office/drawing/2014/main" id="{1A920CBD-32D6-BE0B-F74A-80D59B0E83B8}"/>
              </a:ext>
            </a:extLst>
          </p:cNvPr>
          <p:cNvSpPr txBox="1"/>
          <p:nvPr/>
        </p:nvSpPr>
        <p:spPr>
          <a:xfrm>
            <a:off x="9447254" y="3854706"/>
            <a:ext cx="2055898" cy="900246"/>
          </a:xfrm>
          <a:prstGeom prst="rect">
            <a:avLst/>
          </a:prstGeom>
          <a:noFill/>
        </p:spPr>
        <p:txBody>
          <a:bodyPr wrap="square" rtlCol="0">
            <a:spAutoFit/>
          </a:bodyPr>
          <a:lstStyle/>
          <a:p>
            <a:pPr algn="ctr"/>
            <a:r>
              <a:rPr lang="en-US" sz="1050" dirty="0">
                <a:solidFill>
                  <a:schemeClr val="bg2">
                    <a:lumMod val="50000"/>
                  </a:schemeClr>
                </a:solidFill>
              </a:rPr>
              <a:t>Hulu's content portfolio emphasizes TV series, particularly reality and drama, to increase viewer engagement and strengthen subscriber retention.</a:t>
            </a:r>
          </a:p>
        </p:txBody>
      </p:sp>
      <p:pic>
        <p:nvPicPr>
          <p:cNvPr id="20" name="Image 0" descr="/home/claude/work/assets/hulu_movie_tv_split_v2.png">
            <a:extLst>
              <a:ext uri="{FF2B5EF4-FFF2-40B4-BE49-F238E27FC236}">
                <a16:creationId xmlns:a16="http://schemas.microsoft.com/office/drawing/2014/main" id="{81D60A1F-59AA-99B4-88B2-B65C1DE53190}"/>
              </a:ext>
            </a:extLst>
          </p:cNvPr>
          <p:cNvPicPr>
            <a:picLocks noChangeAspect="1"/>
          </p:cNvPicPr>
          <p:nvPr/>
        </p:nvPicPr>
        <p:blipFill>
          <a:blip r:embed="rId2"/>
          <a:stretch>
            <a:fillRect/>
          </a:stretch>
        </p:blipFill>
        <p:spPr>
          <a:xfrm>
            <a:off x="1208073" y="1581912"/>
            <a:ext cx="4030373" cy="3355848"/>
          </a:xfrm>
          <a:prstGeom prst="rect">
            <a:avLst/>
          </a:prstGeom>
        </p:spPr>
      </p:pic>
      <p:pic>
        <p:nvPicPr>
          <p:cNvPr id="21" name="Image 1" descr="/home/claude/work/assets/hulu_top_genres_v2.png">
            <a:extLst>
              <a:ext uri="{FF2B5EF4-FFF2-40B4-BE49-F238E27FC236}">
                <a16:creationId xmlns:a16="http://schemas.microsoft.com/office/drawing/2014/main" id="{B3428ECF-5849-43F7-8709-9C5334266BE6}"/>
              </a:ext>
            </a:extLst>
          </p:cNvPr>
          <p:cNvPicPr>
            <a:picLocks noChangeAspect="1"/>
          </p:cNvPicPr>
          <p:nvPr/>
        </p:nvPicPr>
        <p:blipFill>
          <a:blip r:embed="rId3"/>
          <a:stretch>
            <a:fillRect/>
          </a:stretch>
        </p:blipFill>
        <p:spPr>
          <a:xfrm>
            <a:off x="6950505" y="1581912"/>
            <a:ext cx="4030373" cy="3355848"/>
          </a:xfrm>
          <a:prstGeom prst="rect">
            <a:avLst/>
          </a:prstGeom>
        </p:spPr>
      </p:pic>
    </p:spTree>
    <p:extLst>
      <p:ext uri="{BB962C8B-B14F-4D97-AF65-F5344CB8AC3E}">
        <p14:creationId xmlns:p14="http://schemas.microsoft.com/office/powerpoint/2010/main" val="3474567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5966555-18E9-F26A-2299-264FF67A2427}"/>
              </a:ext>
            </a:extLst>
          </p:cNvPr>
          <p:cNvSpPr/>
          <p:nvPr/>
        </p:nvSpPr>
        <p:spPr>
          <a:xfrm>
            <a:off x="505663" y="635219"/>
            <a:ext cx="11183112" cy="566928"/>
          </a:xfrm>
          <a:prstGeom prst="rect">
            <a:avLst/>
          </a:prstGeom>
          <a:noFill/>
          <a:ln/>
        </p:spPr>
        <p:txBody>
          <a:bodyPr wrap="square" rtlCol="0" anchor="ctr"/>
          <a:lstStyle/>
          <a:p>
            <a:pPr marL="0" indent="0">
              <a:buNone/>
            </a:pPr>
            <a:r>
              <a:rPr lang="en-US" sz="2900" b="1" dirty="0">
                <a:solidFill>
                  <a:srgbClr val="14181A"/>
                </a:solidFill>
                <a:latin typeface="Cambria" pitchFamily="34" charset="0"/>
                <a:ea typeface="Cambria" pitchFamily="34" charset="-122"/>
                <a:cs typeface="Cambria" pitchFamily="34" charset="-120"/>
              </a:rPr>
              <a:t>Modern Content, Built Around Same-Week TV</a:t>
            </a:r>
            <a:endParaRPr lang="en-US" sz="2900" dirty="0"/>
          </a:p>
        </p:txBody>
      </p:sp>
      <p:sp>
        <p:nvSpPr>
          <p:cNvPr id="4" name="Shape 2">
            <a:extLst>
              <a:ext uri="{FF2B5EF4-FFF2-40B4-BE49-F238E27FC236}">
                <a16:creationId xmlns:a16="http://schemas.microsoft.com/office/drawing/2014/main" id="{E3A54D39-5E7C-8524-DECA-38BFF27C0947}"/>
              </a:ext>
            </a:extLst>
          </p:cNvPr>
          <p:cNvSpPr/>
          <p:nvPr/>
        </p:nvSpPr>
        <p:spPr>
          <a:xfrm>
            <a:off x="502920" y="1417320"/>
            <a:ext cx="5394960" cy="5074920"/>
          </a:xfrm>
          <a:prstGeom prst="roundRect">
            <a:avLst>
              <a:gd name="adj" fmla="val 1441"/>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pic>
        <p:nvPicPr>
          <p:cNvPr id="5" name="Image 0" descr="/home/claude/work/assets/hulu_release_year_v2.png">
            <a:extLst>
              <a:ext uri="{FF2B5EF4-FFF2-40B4-BE49-F238E27FC236}">
                <a16:creationId xmlns:a16="http://schemas.microsoft.com/office/drawing/2014/main" id="{72BBAED6-A571-00E2-C3F4-FA243BBCCAC3}"/>
              </a:ext>
            </a:extLst>
          </p:cNvPr>
          <p:cNvPicPr>
            <a:picLocks noChangeAspect="1"/>
          </p:cNvPicPr>
          <p:nvPr/>
        </p:nvPicPr>
        <p:blipFill>
          <a:blip r:embed="rId2"/>
          <a:stretch>
            <a:fillRect/>
          </a:stretch>
        </p:blipFill>
        <p:spPr>
          <a:xfrm>
            <a:off x="667512" y="1581912"/>
            <a:ext cx="5065776" cy="4451473"/>
          </a:xfrm>
          <a:prstGeom prst="rect">
            <a:avLst/>
          </a:prstGeom>
        </p:spPr>
      </p:pic>
      <p:sp>
        <p:nvSpPr>
          <p:cNvPr id="6" name="Text 3">
            <a:extLst>
              <a:ext uri="{FF2B5EF4-FFF2-40B4-BE49-F238E27FC236}">
                <a16:creationId xmlns:a16="http://schemas.microsoft.com/office/drawing/2014/main" id="{04ED78FD-C1DB-F7EA-431F-CB5EC935505F}"/>
              </a:ext>
            </a:extLst>
          </p:cNvPr>
          <p:cNvSpPr/>
          <p:nvPr/>
        </p:nvSpPr>
        <p:spPr>
          <a:xfrm>
            <a:off x="667512" y="6199632"/>
            <a:ext cx="5065776" cy="256032"/>
          </a:xfrm>
          <a:prstGeom prst="rect">
            <a:avLst/>
          </a:prstGeom>
          <a:noFill/>
          <a:ln/>
        </p:spPr>
        <p:txBody>
          <a:bodyPr wrap="square" rtlCol="0" anchor="ctr"/>
          <a:lstStyle/>
          <a:p>
            <a:pPr marL="0" indent="0" algn="ctr">
              <a:buNone/>
            </a:pPr>
            <a:r>
              <a:rPr lang="en-US" sz="950" i="1" dirty="0">
                <a:solidFill>
                  <a:srgbClr val="8A9296"/>
                </a:solidFill>
                <a:latin typeface="Calibri" pitchFamily="34" charset="0"/>
                <a:ea typeface="Calibri" pitchFamily="34" charset="-122"/>
                <a:cs typeface="Calibri" pitchFamily="34" charset="-120"/>
              </a:rPr>
              <a:t>Average new titles per year, by release-year quartile</a:t>
            </a:r>
            <a:endParaRPr lang="en-US" sz="950" dirty="0"/>
          </a:p>
        </p:txBody>
      </p:sp>
      <p:sp>
        <p:nvSpPr>
          <p:cNvPr id="7" name="Shape 4">
            <a:extLst>
              <a:ext uri="{FF2B5EF4-FFF2-40B4-BE49-F238E27FC236}">
                <a16:creationId xmlns:a16="http://schemas.microsoft.com/office/drawing/2014/main" id="{F5069A2D-8DEF-B4EB-BADF-0322D435B531}"/>
              </a:ext>
            </a:extLst>
          </p:cNvPr>
          <p:cNvSpPr/>
          <p:nvPr/>
        </p:nvSpPr>
        <p:spPr>
          <a:xfrm>
            <a:off x="6217920" y="1417320"/>
            <a:ext cx="2621128" cy="1051560"/>
          </a:xfrm>
          <a:prstGeom prst="roundRect">
            <a:avLst>
              <a:gd name="adj" fmla="val 6957"/>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8" name="Text 5">
            <a:extLst>
              <a:ext uri="{FF2B5EF4-FFF2-40B4-BE49-F238E27FC236}">
                <a16:creationId xmlns:a16="http://schemas.microsoft.com/office/drawing/2014/main" id="{39B0EB83-5FCD-A61D-8D9A-7F7EBB5F20C9}"/>
              </a:ext>
            </a:extLst>
          </p:cNvPr>
          <p:cNvSpPr/>
          <p:nvPr/>
        </p:nvSpPr>
        <p:spPr>
          <a:xfrm>
            <a:off x="6400800" y="1536192"/>
            <a:ext cx="2255368" cy="502920"/>
          </a:xfrm>
          <a:prstGeom prst="rect">
            <a:avLst/>
          </a:prstGeom>
          <a:noFill/>
          <a:ln/>
        </p:spPr>
        <p:txBody>
          <a:bodyPr wrap="square" rtlCol="0" anchor="ctr"/>
          <a:lstStyle/>
          <a:p>
            <a:pPr marL="0" indent="0">
              <a:buNone/>
            </a:pPr>
            <a:r>
              <a:rPr lang="en-US" sz="2500" b="1" dirty="0">
                <a:solidFill>
                  <a:srgbClr val="0B8A4A"/>
                </a:solidFill>
                <a:latin typeface="Cambria" pitchFamily="34" charset="0"/>
                <a:ea typeface="Cambria" pitchFamily="34" charset="-122"/>
                <a:cs typeface="Cambria" pitchFamily="34" charset="-120"/>
              </a:rPr>
              <a:t>2014</a:t>
            </a:r>
            <a:endParaRPr lang="en-US" sz="2500" dirty="0"/>
          </a:p>
        </p:txBody>
      </p:sp>
      <p:sp>
        <p:nvSpPr>
          <p:cNvPr id="9" name="Text 6">
            <a:extLst>
              <a:ext uri="{FF2B5EF4-FFF2-40B4-BE49-F238E27FC236}">
                <a16:creationId xmlns:a16="http://schemas.microsoft.com/office/drawing/2014/main" id="{FEEBE485-B3AC-7D27-F633-483C0949C956}"/>
              </a:ext>
            </a:extLst>
          </p:cNvPr>
          <p:cNvSpPr/>
          <p:nvPr/>
        </p:nvSpPr>
        <p:spPr>
          <a:xfrm>
            <a:off x="6400800" y="2011680"/>
            <a:ext cx="2255368" cy="365760"/>
          </a:xfrm>
          <a:prstGeom prst="rect">
            <a:avLst/>
          </a:prstGeom>
          <a:noFill/>
          <a:ln/>
        </p:spPr>
        <p:txBody>
          <a:bodyPr wrap="square" rtlCol="0" anchor="ctr"/>
          <a:lstStyle/>
          <a:p>
            <a:pPr marL="0" indent="0">
              <a:buNone/>
            </a:pPr>
            <a:r>
              <a:rPr lang="en-US" sz="1000" dirty="0">
                <a:solidFill>
                  <a:srgbClr val="5B6467"/>
                </a:solidFill>
                <a:latin typeface="Calibri" pitchFamily="34" charset="0"/>
                <a:ea typeface="Calibri" pitchFamily="34" charset="-122"/>
                <a:cs typeface="Calibri" pitchFamily="34" charset="-120"/>
              </a:rPr>
              <a:t>Median release year</a:t>
            </a:r>
            <a:endParaRPr lang="en-US" sz="1000" dirty="0"/>
          </a:p>
        </p:txBody>
      </p:sp>
      <p:sp>
        <p:nvSpPr>
          <p:cNvPr id="10" name="Shape 7">
            <a:extLst>
              <a:ext uri="{FF2B5EF4-FFF2-40B4-BE49-F238E27FC236}">
                <a16:creationId xmlns:a16="http://schemas.microsoft.com/office/drawing/2014/main" id="{5A8F10E0-3F86-558B-2EBA-39EB587F21B9}"/>
              </a:ext>
            </a:extLst>
          </p:cNvPr>
          <p:cNvSpPr/>
          <p:nvPr/>
        </p:nvSpPr>
        <p:spPr>
          <a:xfrm>
            <a:off x="9067648" y="1417320"/>
            <a:ext cx="2621128" cy="1051560"/>
          </a:xfrm>
          <a:prstGeom prst="roundRect">
            <a:avLst>
              <a:gd name="adj" fmla="val 6957"/>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11" name="Text 8">
            <a:extLst>
              <a:ext uri="{FF2B5EF4-FFF2-40B4-BE49-F238E27FC236}">
                <a16:creationId xmlns:a16="http://schemas.microsoft.com/office/drawing/2014/main" id="{2223FF4B-398D-ECA1-7FE5-AE6D8CC1D3B9}"/>
              </a:ext>
            </a:extLst>
          </p:cNvPr>
          <p:cNvSpPr/>
          <p:nvPr/>
        </p:nvSpPr>
        <p:spPr>
          <a:xfrm>
            <a:off x="9250528" y="1536192"/>
            <a:ext cx="2255368" cy="502920"/>
          </a:xfrm>
          <a:prstGeom prst="rect">
            <a:avLst/>
          </a:prstGeom>
          <a:noFill/>
          <a:ln/>
        </p:spPr>
        <p:txBody>
          <a:bodyPr wrap="square" rtlCol="0" anchor="ctr"/>
          <a:lstStyle/>
          <a:p>
            <a:pPr marL="0" indent="0">
              <a:buNone/>
            </a:pPr>
            <a:r>
              <a:rPr lang="en-US" sz="2500" b="1" dirty="0">
                <a:solidFill>
                  <a:srgbClr val="0B8A4A"/>
                </a:solidFill>
                <a:latin typeface="Cambria" pitchFamily="34" charset="0"/>
                <a:ea typeface="Cambria" pitchFamily="34" charset="-122"/>
                <a:cs typeface="Cambria" pitchFamily="34" charset="-120"/>
              </a:rPr>
              <a:t>75%</a:t>
            </a:r>
            <a:endParaRPr lang="en-US" sz="2500" dirty="0"/>
          </a:p>
        </p:txBody>
      </p:sp>
      <p:sp>
        <p:nvSpPr>
          <p:cNvPr id="12" name="Text 9">
            <a:extLst>
              <a:ext uri="{FF2B5EF4-FFF2-40B4-BE49-F238E27FC236}">
                <a16:creationId xmlns:a16="http://schemas.microsoft.com/office/drawing/2014/main" id="{6DE2CA52-006E-8E84-E7C7-C55C63CED8C4}"/>
              </a:ext>
            </a:extLst>
          </p:cNvPr>
          <p:cNvSpPr/>
          <p:nvPr/>
        </p:nvSpPr>
        <p:spPr>
          <a:xfrm>
            <a:off x="9250528" y="2011680"/>
            <a:ext cx="2255368" cy="365760"/>
          </a:xfrm>
          <a:prstGeom prst="rect">
            <a:avLst/>
          </a:prstGeom>
          <a:noFill/>
          <a:ln/>
        </p:spPr>
        <p:txBody>
          <a:bodyPr wrap="square" rtlCol="0" anchor="ctr"/>
          <a:lstStyle/>
          <a:p>
            <a:pPr marL="0" indent="0">
              <a:buNone/>
            </a:pPr>
            <a:r>
              <a:rPr lang="en-US" sz="1000" dirty="0">
                <a:solidFill>
                  <a:srgbClr val="5B6467"/>
                </a:solidFill>
                <a:latin typeface="Calibri" pitchFamily="34" charset="0"/>
                <a:ea typeface="Calibri" pitchFamily="34" charset="-122"/>
                <a:cs typeface="Calibri" pitchFamily="34" charset="-120"/>
              </a:rPr>
              <a:t>of titles released 2009 or later</a:t>
            </a:r>
            <a:endParaRPr lang="en-US" sz="1000" dirty="0"/>
          </a:p>
        </p:txBody>
      </p:sp>
      <p:sp>
        <p:nvSpPr>
          <p:cNvPr id="13" name="Text 10">
            <a:extLst>
              <a:ext uri="{FF2B5EF4-FFF2-40B4-BE49-F238E27FC236}">
                <a16:creationId xmlns:a16="http://schemas.microsoft.com/office/drawing/2014/main" id="{A174681E-7F3A-9401-BB8B-32E8F04E50A1}"/>
              </a:ext>
            </a:extLst>
          </p:cNvPr>
          <p:cNvSpPr/>
          <p:nvPr/>
        </p:nvSpPr>
        <p:spPr>
          <a:xfrm>
            <a:off x="6217920" y="2697480"/>
            <a:ext cx="5470855" cy="685800"/>
          </a:xfrm>
          <a:prstGeom prst="rect">
            <a:avLst/>
          </a:prstGeom>
          <a:noFill/>
          <a:ln/>
        </p:spPr>
        <p:txBody>
          <a:bodyPr wrap="square" rtlCol="0" anchor="ctr"/>
          <a:lstStyle/>
          <a:p>
            <a:pPr marL="0" indent="0">
              <a:lnSpc>
                <a:spcPts val="1400"/>
              </a:lnSpc>
              <a:buNone/>
            </a:pPr>
            <a:r>
              <a:rPr lang="en-US" sz="1200" dirty="0">
                <a:solidFill>
                  <a:schemeClr val="bg2">
                    <a:lumMod val="50000"/>
                  </a:schemeClr>
                </a:solidFill>
              </a:rPr>
              <a:t>Hulu's catalog emphasizes recent, newer releases over legacy content, reinforcing its strategy as a destination for current TV programming and Disney Bundle subscribers.</a:t>
            </a:r>
            <a:endParaRPr lang="en-US" sz="1150" dirty="0">
              <a:solidFill>
                <a:schemeClr val="bg2">
                  <a:lumMod val="50000"/>
                </a:schemeClr>
              </a:solidFill>
            </a:endParaRPr>
          </a:p>
        </p:txBody>
      </p:sp>
      <p:sp>
        <p:nvSpPr>
          <p:cNvPr id="14" name="Shape 11">
            <a:extLst>
              <a:ext uri="{FF2B5EF4-FFF2-40B4-BE49-F238E27FC236}">
                <a16:creationId xmlns:a16="http://schemas.microsoft.com/office/drawing/2014/main" id="{5425B983-CD7C-39ED-5186-2F9EE02B75D2}"/>
              </a:ext>
            </a:extLst>
          </p:cNvPr>
          <p:cNvSpPr/>
          <p:nvPr/>
        </p:nvSpPr>
        <p:spPr>
          <a:xfrm>
            <a:off x="6217920" y="3520440"/>
            <a:ext cx="5470855" cy="1234440"/>
          </a:xfrm>
          <a:prstGeom prst="roundRect">
            <a:avLst>
              <a:gd name="adj" fmla="val 5926"/>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15" name="Shape 12">
            <a:extLst>
              <a:ext uri="{FF2B5EF4-FFF2-40B4-BE49-F238E27FC236}">
                <a16:creationId xmlns:a16="http://schemas.microsoft.com/office/drawing/2014/main" id="{FFC66691-04F2-DFF0-251D-3B5D5968690E}"/>
              </a:ext>
            </a:extLst>
          </p:cNvPr>
          <p:cNvSpPr/>
          <p:nvPr/>
        </p:nvSpPr>
        <p:spPr>
          <a:xfrm>
            <a:off x="6419088" y="3685032"/>
            <a:ext cx="512064" cy="512064"/>
          </a:xfrm>
          <a:prstGeom prst="ellipse">
            <a:avLst/>
          </a:prstGeom>
          <a:solidFill>
            <a:srgbClr val="14181A"/>
          </a:solidFill>
          <a:ln/>
        </p:spPr>
        <p:txBody>
          <a:bodyPr/>
          <a:lstStyle/>
          <a:p>
            <a:endParaRPr lang="en-US"/>
          </a:p>
        </p:txBody>
      </p:sp>
      <p:pic>
        <p:nvPicPr>
          <p:cNvPr id="16" name="Image 1" descr="/home/claude/work/icons/playCircle_white.png">
            <a:extLst>
              <a:ext uri="{FF2B5EF4-FFF2-40B4-BE49-F238E27FC236}">
                <a16:creationId xmlns:a16="http://schemas.microsoft.com/office/drawing/2014/main" id="{8050506C-5917-EA26-6CCB-21D2E55BBD86}"/>
              </a:ext>
            </a:extLst>
          </p:cNvPr>
          <p:cNvPicPr>
            <a:picLocks noChangeAspect="1"/>
          </p:cNvPicPr>
          <p:nvPr/>
        </p:nvPicPr>
        <p:blipFill>
          <a:blip r:embed="rId3"/>
          <a:stretch>
            <a:fillRect/>
          </a:stretch>
        </p:blipFill>
        <p:spPr>
          <a:xfrm>
            <a:off x="6541983" y="3807927"/>
            <a:ext cx="266273" cy="266273"/>
          </a:xfrm>
          <a:prstGeom prst="rect">
            <a:avLst/>
          </a:prstGeom>
        </p:spPr>
      </p:pic>
      <p:sp>
        <p:nvSpPr>
          <p:cNvPr id="17" name="Text 13">
            <a:extLst>
              <a:ext uri="{FF2B5EF4-FFF2-40B4-BE49-F238E27FC236}">
                <a16:creationId xmlns:a16="http://schemas.microsoft.com/office/drawing/2014/main" id="{23D5D931-F182-4E4C-9196-9DE8C3E19CFA}"/>
              </a:ext>
            </a:extLst>
          </p:cNvPr>
          <p:cNvSpPr/>
          <p:nvPr/>
        </p:nvSpPr>
        <p:spPr>
          <a:xfrm>
            <a:off x="7040879" y="3736155"/>
            <a:ext cx="4465015" cy="320040"/>
          </a:xfrm>
          <a:prstGeom prst="rect">
            <a:avLst/>
          </a:prstGeom>
          <a:noFill/>
          <a:ln/>
        </p:spPr>
        <p:txBody>
          <a:bodyPr wrap="square" rtlCol="0" anchor="ctr"/>
          <a:lstStyle/>
          <a:p>
            <a:pPr marL="0" indent="0">
              <a:buNone/>
            </a:pPr>
            <a:r>
              <a:rPr lang="en-US" sz="1450" b="1" dirty="0">
                <a:solidFill>
                  <a:srgbClr val="14181A"/>
                </a:solidFill>
                <a:latin typeface="Cambria" pitchFamily="34" charset="0"/>
                <a:ea typeface="Cambria" pitchFamily="34" charset="-122"/>
                <a:cs typeface="Cambria" pitchFamily="34" charset="-120"/>
              </a:rPr>
              <a:t>Next-Day TV Strategy</a:t>
            </a:r>
            <a:endParaRPr lang="en-US" sz="1450" dirty="0"/>
          </a:p>
        </p:txBody>
      </p:sp>
      <p:sp>
        <p:nvSpPr>
          <p:cNvPr id="18" name="Text 14">
            <a:extLst>
              <a:ext uri="{FF2B5EF4-FFF2-40B4-BE49-F238E27FC236}">
                <a16:creationId xmlns:a16="http://schemas.microsoft.com/office/drawing/2014/main" id="{8F24DD29-54FC-6069-41D5-8771C659107B}"/>
              </a:ext>
            </a:extLst>
          </p:cNvPr>
          <p:cNvSpPr/>
          <p:nvPr/>
        </p:nvSpPr>
        <p:spPr>
          <a:xfrm>
            <a:off x="6499619" y="4147206"/>
            <a:ext cx="4958791" cy="594360"/>
          </a:xfrm>
          <a:prstGeom prst="rect">
            <a:avLst/>
          </a:prstGeom>
          <a:noFill/>
          <a:ln/>
        </p:spPr>
        <p:txBody>
          <a:bodyPr wrap="square" rtlCol="0" anchor="ctr"/>
          <a:lstStyle/>
          <a:p>
            <a:pPr marL="0" indent="0">
              <a:lnSpc>
                <a:spcPts val="1300"/>
              </a:lnSpc>
              <a:buNone/>
            </a:pPr>
            <a:r>
              <a:rPr lang="en-US" sz="1050" dirty="0">
                <a:solidFill>
                  <a:srgbClr val="5B6467"/>
                </a:solidFill>
                <a:latin typeface="Calibri" pitchFamily="34" charset="0"/>
                <a:ea typeface="Calibri" pitchFamily="34" charset="-122"/>
                <a:cs typeface="Calibri" pitchFamily="34" charset="-120"/>
              </a:rPr>
              <a:t>Same-week streaming of network shows (SNL, Grey’s Anatomy, The Bachelor) positions Hulu as the bridge between cable and streaming.</a:t>
            </a:r>
            <a:endParaRPr lang="en-US" sz="1050" dirty="0"/>
          </a:p>
        </p:txBody>
      </p:sp>
      <p:sp>
        <p:nvSpPr>
          <p:cNvPr id="19" name="Shape 15">
            <a:extLst>
              <a:ext uri="{FF2B5EF4-FFF2-40B4-BE49-F238E27FC236}">
                <a16:creationId xmlns:a16="http://schemas.microsoft.com/office/drawing/2014/main" id="{2241402C-8548-93A8-5C6B-A380F6970F12}"/>
              </a:ext>
            </a:extLst>
          </p:cNvPr>
          <p:cNvSpPr/>
          <p:nvPr/>
        </p:nvSpPr>
        <p:spPr>
          <a:xfrm>
            <a:off x="6217920" y="4983480"/>
            <a:ext cx="5470855" cy="1234440"/>
          </a:xfrm>
          <a:prstGeom prst="roundRect">
            <a:avLst>
              <a:gd name="adj" fmla="val 5926"/>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20" name="Shape 16">
            <a:extLst>
              <a:ext uri="{FF2B5EF4-FFF2-40B4-BE49-F238E27FC236}">
                <a16:creationId xmlns:a16="http://schemas.microsoft.com/office/drawing/2014/main" id="{21E7F328-AB55-5EF5-21AF-EBF752BA91D5}"/>
              </a:ext>
            </a:extLst>
          </p:cNvPr>
          <p:cNvSpPr/>
          <p:nvPr/>
        </p:nvSpPr>
        <p:spPr>
          <a:xfrm>
            <a:off x="6419088" y="5148072"/>
            <a:ext cx="512064" cy="512064"/>
          </a:xfrm>
          <a:prstGeom prst="ellipse">
            <a:avLst/>
          </a:prstGeom>
          <a:solidFill>
            <a:srgbClr val="14181A"/>
          </a:solidFill>
          <a:ln/>
        </p:spPr>
        <p:txBody>
          <a:bodyPr/>
          <a:lstStyle/>
          <a:p>
            <a:endParaRPr lang="en-US"/>
          </a:p>
        </p:txBody>
      </p:sp>
      <p:pic>
        <p:nvPicPr>
          <p:cNvPr id="21" name="Image 2" descr="/home/claude/work/icons/layers_white.png">
            <a:extLst>
              <a:ext uri="{FF2B5EF4-FFF2-40B4-BE49-F238E27FC236}">
                <a16:creationId xmlns:a16="http://schemas.microsoft.com/office/drawing/2014/main" id="{2B38E8DA-6CFC-1ABD-8237-188055F6D210}"/>
              </a:ext>
            </a:extLst>
          </p:cNvPr>
          <p:cNvPicPr>
            <a:picLocks noChangeAspect="1"/>
          </p:cNvPicPr>
          <p:nvPr/>
        </p:nvPicPr>
        <p:blipFill>
          <a:blip r:embed="rId4"/>
          <a:stretch>
            <a:fillRect/>
          </a:stretch>
        </p:blipFill>
        <p:spPr>
          <a:xfrm>
            <a:off x="6541983" y="5270967"/>
            <a:ext cx="266273" cy="266273"/>
          </a:xfrm>
          <a:prstGeom prst="rect">
            <a:avLst/>
          </a:prstGeom>
        </p:spPr>
      </p:pic>
      <p:sp>
        <p:nvSpPr>
          <p:cNvPr id="22" name="Text 17">
            <a:extLst>
              <a:ext uri="{FF2B5EF4-FFF2-40B4-BE49-F238E27FC236}">
                <a16:creationId xmlns:a16="http://schemas.microsoft.com/office/drawing/2014/main" id="{BFE234A7-A62E-0E0E-84A2-D500E3EC7082}"/>
              </a:ext>
            </a:extLst>
          </p:cNvPr>
          <p:cNvSpPr/>
          <p:nvPr/>
        </p:nvSpPr>
        <p:spPr>
          <a:xfrm>
            <a:off x="7040880" y="5221626"/>
            <a:ext cx="4465015" cy="320040"/>
          </a:xfrm>
          <a:prstGeom prst="rect">
            <a:avLst/>
          </a:prstGeom>
          <a:noFill/>
          <a:ln/>
        </p:spPr>
        <p:txBody>
          <a:bodyPr wrap="square" rtlCol="0" anchor="ctr"/>
          <a:lstStyle/>
          <a:p>
            <a:pPr marL="0" indent="0">
              <a:buNone/>
            </a:pPr>
            <a:r>
              <a:rPr lang="en-US" sz="1450" b="1" dirty="0">
                <a:solidFill>
                  <a:srgbClr val="14181A"/>
                </a:solidFill>
                <a:latin typeface="Cambria" pitchFamily="34" charset="0"/>
                <a:ea typeface="Cambria" pitchFamily="34" charset="-122"/>
                <a:cs typeface="Cambria" pitchFamily="34" charset="-120"/>
              </a:rPr>
              <a:t>Disney Bundle Strategy</a:t>
            </a:r>
            <a:endParaRPr lang="en-US" sz="1450" dirty="0"/>
          </a:p>
        </p:txBody>
      </p:sp>
      <p:sp>
        <p:nvSpPr>
          <p:cNvPr id="23" name="Text 18">
            <a:extLst>
              <a:ext uri="{FF2B5EF4-FFF2-40B4-BE49-F238E27FC236}">
                <a16:creationId xmlns:a16="http://schemas.microsoft.com/office/drawing/2014/main" id="{D3F1F8A7-354F-AE46-76B6-8E5316E4664A}"/>
              </a:ext>
            </a:extLst>
          </p:cNvPr>
          <p:cNvSpPr/>
          <p:nvPr/>
        </p:nvSpPr>
        <p:spPr>
          <a:xfrm>
            <a:off x="6547104" y="5599851"/>
            <a:ext cx="4958791" cy="594360"/>
          </a:xfrm>
          <a:prstGeom prst="rect">
            <a:avLst/>
          </a:prstGeom>
          <a:noFill/>
          <a:ln/>
        </p:spPr>
        <p:txBody>
          <a:bodyPr wrap="square" rtlCol="0" anchor="ctr"/>
          <a:lstStyle/>
          <a:p>
            <a:pPr marL="0" indent="0">
              <a:lnSpc>
                <a:spcPts val="1300"/>
              </a:lnSpc>
              <a:buNone/>
            </a:pPr>
            <a:r>
              <a:rPr lang="en-US" sz="1050" dirty="0">
                <a:solidFill>
                  <a:srgbClr val="5B6467"/>
                </a:solidFill>
                <a:latin typeface="Calibri" pitchFamily="34" charset="0"/>
                <a:ea typeface="Calibri" pitchFamily="34" charset="-122"/>
                <a:cs typeface="Calibri" pitchFamily="34" charset="-120"/>
              </a:rPr>
              <a:t>Packaged with Disney+ and ESPN+, Hulu covers family, sports, and general entertainment in one subscription, boosting retention.</a:t>
            </a:r>
            <a:endParaRPr lang="en-US" sz="1050" dirty="0"/>
          </a:p>
        </p:txBody>
      </p:sp>
    </p:spTree>
    <p:extLst>
      <p:ext uri="{BB962C8B-B14F-4D97-AF65-F5344CB8AC3E}">
        <p14:creationId xmlns:p14="http://schemas.microsoft.com/office/powerpoint/2010/main" val="123853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1B7A2EAA-9B96-0D30-75E7-E383A52CBD1C}"/>
              </a:ext>
            </a:extLst>
          </p:cNvPr>
          <p:cNvSpPr/>
          <p:nvPr/>
        </p:nvSpPr>
        <p:spPr>
          <a:xfrm>
            <a:off x="502920" y="658368"/>
            <a:ext cx="11183112" cy="566928"/>
          </a:xfrm>
          <a:prstGeom prst="rect">
            <a:avLst/>
          </a:prstGeom>
          <a:noFill/>
          <a:ln/>
        </p:spPr>
        <p:txBody>
          <a:bodyPr wrap="square" rtlCol="0" anchor="ctr"/>
          <a:lstStyle/>
          <a:p>
            <a:pPr marL="0" indent="0">
              <a:buNone/>
            </a:pPr>
            <a:r>
              <a:rPr lang="en-US" sz="2900" b="1" dirty="0">
                <a:solidFill>
                  <a:srgbClr val="14181A"/>
                </a:solidFill>
                <a:latin typeface="Cambria" pitchFamily="34" charset="0"/>
                <a:ea typeface="Cambria" pitchFamily="34" charset="-122"/>
                <a:cs typeface="Cambria" pitchFamily="34" charset="-120"/>
              </a:rPr>
              <a:t>Hulu Leads on Critic Quality, Not Just Volume</a:t>
            </a:r>
            <a:endParaRPr lang="en-US" sz="2900" dirty="0"/>
          </a:p>
        </p:txBody>
      </p:sp>
      <p:sp>
        <p:nvSpPr>
          <p:cNvPr id="4" name="Shape 2">
            <a:extLst>
              <a:ext uri="{FF2B5EF4-FFF2-40B4-BE49-F238E27FC236}">
                <a16:creationId xmlns:a16="http://schemas.microsoft.com/office/drawing/2014/main" id="{60220ECA-B41E-4FFA-8B3D-5C212E60B5B4}"/>
              </a:ext>
            </a:extLst>
          </p:cNvPr>
          <p:cNvSpPr/>
          <p:nvPr/>
        </p:nvSpPr>
        <p:spPr>
          <a:xfrm>
            <a:off x="502920" y="1417320"/>
            <a:ext cx="6309360" cy="4572000"/>
          </a:xfrm>
          <a:prstGeom prst="roundRect">
            <a:avLst>
              <a:gd name="adj" fmla="val 1600"/>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pic>
        <p:nvPicPr>
          <p:cNvPr id="5" name="Image 0" descr="/home/claude/work/assets/platform_rt_score_comparison_v2.png">
            <a:extLst>
              <a:ext uri="{FF2B5EF4-FFF2-40B4-BE49-F238E27FC236}">
                <a16:creationId xmlns:a16="http://schemas.microsoft.com/office/drawing/2014/main" id="{9CC59E1F-8654-8C8B-3E51-D5E9693D3B2E}"/>
              </a:ext>
            </a:extLst>
          </p:cNvPr>
          <p:cNvPicPr>
            <a:picLocks noChangeAspect="1"/>
          </p:cNvPicPr>
          <p:nvPr/>
        </p:nvPicPr>
        <p:blipFill>
          <a:blip r:embed="rId2"/>
          <a:stretch>
            <a:fillRect/>
          </a:stretch>
        </p:blipFill>
        <p:spPr>
          <a:xfrm>
            <a:off x="667512" y="1581912"/>
            <a:ext cx="5980176" cy="3942107"/>
          </a:xfrm>
          <a:prstGeom prst="rect">
            <a:avLst/>
          </a:prstGeom>
        </p:spPr>
      </p:pic>
      <p:sp>
        <p:nvSpPr>
          <p:cNvPr id="6" name="Text 3">
            <a:extLst>
              <a:ext uri="{FF2B5EF4-FFF2-40B4-BE49-F238E27FC236}">
                <a16:creationId xmlns:a16="http://schemas.microsoft.com/office/drawing/2014/main" id="{A386B1BE-0ECE-BB97-277F-0CA265DBD655}"/>
              </a:ext>
            </a:extLst>
          </p:cNvPr>
          <p:cNvSpPr/>
          <p:nvPr/>
        </p:nvSpPr>
        <p:spPr>
          <a:xfrm>
            <a:off x="667512" y="5696712"/>
            <a:ext cx="5980176" cy="256032"/>
          </a:xfrm>
          <a:prstGeom prst="rect">
            <a:avLst/>
          </a:prstGeom>
          <a:noFill/>
          <a:ln/>
        </p:spPr>
        <p:txBody>
          <a:bodyPr wrap="square" rtlCol="0" anchor="ctr"/>
          <a:lstStyle/>
          <a:p>
            <a:pPr marL="0" indent="0" algn="ctr">
              <a:buNone/>
            </a:pPr>
            <a:r>
              <a:rPr lang="en-US" sz="950" i="1" dirty="0">
                <a:solidFill>
                  <a:srgbClr val="8A9296"/>
                </a:solidFill>
                <a:latin typeface="Calibri" pitchFamily="34" charset="0"/>
                <a:ea typeface="Calibri" pitchFamily="34" charset="-122"/>
                <a:cs typeface="Calibri" pitchFamily="34" charset="-120"/>
              </a:rPr>
              <a:t>Average Rotten Tomatoes score by platform and type</a:t>
            </a:r>
            <a:endParaRPr lang="en-US" sz="950" dirty="0"/>
          </a:p>
        </p:txBody>
      </p:sp>
      <p:sp>
        <p:nvSpPr>
          <p:cNvPr id="8" name="Shape 5">
            <a:extLst>
              <a:ext uri="{FF2B5EF4-FFF2-40B4-BE49-F238E27FC236}">
                <a16:creationId xmlns:a16="http://schemas.microsoft.com/office/drawing/2014/main" id="{D980664C-0017-D049-1943-C5ACABF67C7E}"/>
              </a:ext>
            </a:extLst>
          </p:cNvPr>
          <p:cNvSpPr/>
          <p:nvPr/>
        </p:nvSpPr>
        <p:spPr>
          <a:xfrm>
            <a:off x="7178040" y="1783080"/>
            <a:ext cx="4510735" cy="1371600"/>
          </a:xfrm>
          <a:prstGeom prst="roundRect">
            <a:avLst>
              <a:gd name="adj" fmla="val 5333"/>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9" name="Text 6">
            <a:extLst>
              <a:ext uri="{FF2B5EF4-FFF2-40B4-BE49-F238E27FC236}">
                <a16:creationId xmlns:a16="http://schemas.microsoft.com/office/drawing/2014/main" id="{30247387-1BA4-59D6-4CB7-A63970DB668A}"/>
              </a:ext>
            </a:extLst>
          </p:cNvPr>
          <p:cNvSpPr/>
          <p:nvPr/>
        </p:nvSpPr>
        <p:spPr>
          <a:xfrm>
            <a:off x="7379208" y="1929384"/>
            <a:ext cx="1371600" cy="502920"/>
          </a:xfrm>
          <a:prstGeom prst="rect">
            <a:avLst/>
          </a:prstGeom>
          <a:noFill/>
          <a:ln/>
        </p:spPr>
        <p:txBody>
          <a:bodyPr wrap="square" rtlCol="0" anchor="ctr"/>
          <a:lstStyle/>
          <a:p>
            <a:pPr marL="0" indent="0">
              <a:buNone/>
            </a:pPr>
            <a:r>
              <a:rPr lang="en-US" sz="2600" b="1" dirty="0">
                <a:solidFill>
                  <a:srgbClr val="1C7A4C"/>
                </a:solidFill>
                <a:latin typeface="Cambria" pitchFamily="34" charset="0"/>
                <a:ea typeface="Cambria" pitchFamily="34" charset="-122"/>
                <a:cs typeface="Cambria" pitchFamily="34" charset="-120"/>
              </a:rPr>
              <a:t>60.4</a:t>
            </a:r>
            <a:endParaRPr lang="en-US" sz="2600" dirty="0"/>
          </a:p>
        </p:txBody>
      </p:sp>
      <p:sp>
        <p:nvSpPr>
          <p:cNvPr id="10" name="Text 7">
            <a:extLst>
              <a:ext uri="{FF2B5EF4-FFF2-40B4-BE49-F238E27FC236}">
                <a16:creationId xmlns:a16="http://schemas.microsoft.com/office/drawing/2014/main" id="{711EB673-AF9F-B3D7-61F0-0763C380E1A0}"/>
              </a:ext>
            </a:extLst>
          </p:cNvPr>
          <p:cNvSpPr/>
          <p:nvPr/>
        </p:nvSpPr>
        <p:spPr>
          <a:xfrm>
            <a:off x="8641080" y="1984248"/>
            <a:ext cx="2864815" cy="365760"/>
          </a:xfrm>
          <a:prstGeom prst="rect">
            <a:avLst/>
          </a:prstGeom>
          <a:noFill/>
          <a:ln/>
        </p:spPr>
        <p:txBody>
          <a:bodyPr wrap="square" rtlCol="0" anchor="ctr"/>
          <a:lstStyle/>
          <a:p>
            <a:pPr marL="0" indent="0">
              <a:buNone/>
            </a:pPr>
            <a:r>
              <a:rPr lang="en-US" sz="1200" b="1" dirty="0">
                <a:solidFill>
                  <a:srgbClr val="14181A"/>
                </a:solidFill>
                <a:latin typeface="Calibri" pitchFamily="34" charset="0"/>
                <a:ea typeface="Calibri" pitchFamily="34" charset="-122"/>
                <a:cs typeface="Calibri" pitchFamily="34" charset="-120"/>
              </a:rPr>
              <a:t>Movies</a:t>
            </a:r>
            <a:endParaRPr lang="en-US" sz="1200" dirty="0"/>
          </a:p>
        </p:txBody>
      </p:sp>
      <p:sp>
        <p:nvSpPr>
          <p:cNvPr id="11" name="Text 8">
            <a:extLst>
              <a:ext uri="{FF2B5EF4-FFF2-40B4-BE49-F238E27FC236}">
                <a16:creationId xmlns:a16="http://schemas.microsoft.com/office/drawing/2014/main" id="{C4C0DF93-1CF5-48EC-FC9C-60C36F444EAF}"/>
              </a:ext>
            </a:extLst>
          </p:cNvPr>
          <p:cNvSpPr/>
          <p:nvPr/>
        </p:nvSpPr>
        <p:spPr>
          <a:xfrm>
            <a:off x="7379208" y="2496312"/>
            <a:ext cx="4108399" cy="548640"/>
          </a:xfrm>
          <a:prstGeom prst="rect">
            <a:avLst/>
          </a:prstGeom>
          <a:noFill/>
          <a:ln/>
        </p:spPr>
        <p:txBody>
          <a:bodyPr wrap="square" rtlCol="0" anchor="ctr"/>
          <a:lstStyle/>
          <a:p>
            <a:pPr marL="0" indent="0">
              <a:lnSpc>
                <a:spcPts val="1250"/>
              </a:lnSpc>
              <a:buNone/>
            </a:pPr>
            <a:r>
              <a:rPr lang="en-US" sz="1000" dirty="0">
                <a:solidFill>
                  <a:srgbClr val="5B6467"/>
                </a:solidFill>
                <a:latin typeface="Calibri" pitchFamily="34" charset="0"/>
                <a:ea typeface="Calibri" pitchFamily="34" charset="-122"/>
                <a:cs typeface="Calibri" pitchFamily="34" charset="-120"/>
              </a:rPr>
              <a:t>Highest of all 4 platforms, ahead of Disney+ (58.3), Netflix (54.4), and Prime Video (50.4).</a:t>
            </a:r>
            <a:endParaRPr lang="en-US" sz="1000" dirty="0"/>
          </a:p>
        </p:txBody>
      </p:sp>
      <p:sp>
        <p:nvSpPr>
          <p:cNvPr id="12" name="Shape 9">
            <a:extLst>
              <a:ext uri="{FF2B5EF4-FFF2-40B4-BE49-F238E27FC236}">
                <a16:creationId xmlns:a16="http://schemas.microsoft.com/office/drawing/2014/main" id="{2BF7585C-35DD-46E2-E098-16F5C7A279FE}"/>
              </a:ext>
            </a:extLst>
          </p:cNvPr>
          <p:cNvSpPr/>
          <p:nvPr/>
        </p:nvSpPr>
        <p:spPr>
          <a:xfrm>
            <a:off x="7178040" y="3355848"/>
            <a:ext cx="4510735" cy="1371600"/>
          </a:xfrm>
          <a:prstGeom prst="roundRect">
            <a:avLst>
              <a:gd name="adj" fmla="val 5333"/>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13" name="Text 10">
            <a:extLst>
              <a:ext uri="{FF2B5EF4-FFF2-40B4-BE49-F238E27FC236}">
                <a16:creationId xmlns:a16="http://schemas.microsoft.com/office/drawing/2014/main" id="{9E1F511E-67E1-5CA9-6621-0B1E5E4FC07C}"/>
              </a:ext>
            </a:extLst>
          </p:cNvPr>
          <p:cNvSpPr/>
          <p:nvPr/>
        </p:nvSpPr>
        <p:spPr>
          <a:xfrm>
            <a:off x="7379208" y="3502152"/>
            <a:ext cx="1371600" cy="502920"/>
          </a:xfrm>
          <a:prstGeom prst="rect">
            <a:avLst/>
          </a:prstGeom>
          <a:noFill/>
          <a:ln/>
        </p:spPr>
        <p:txBody>
          <a:bodyPr wrap="square" rtlCol="0" anchor="ctr"/>
          <a:lstStyle/>
          <a:p>
            <a:pPr marL="0" indent="0">
              <a:buNone/>
            </a:pPr>
            <a:r>
              <a:rPr lang="en-US" sz="2600" b="1" dirty="0">
                <a:solidFill>
                  <a:srgbClr val="1C7A4C"/>
                </a:solidFill>
                <a:latin typeface="Cambria" pitchFamily="34" charset="0"/>
                <a:ea typeface="Cambria" pitchFamily="34" charset="-122"/>
                <a:cs typeface="Cambria" pitchFamily="34" charset="-120"/>
              </a:rPr>
              <a:t>52.8</a:t>
            </a:r>
            <a:endParaRPr lang="en-US" sz="2600" dirty="0"/>
          </a:p>
        </p:txBody>
      </p:sp>
      <p:sp>
        <p:nvSpPr>
          <p:cNvPr id="14" name="Text 11">
            <a:extLst>
              <a:ext uri="{FF2B5EF4-FFF2-40B4-BE49-F238E27FC236}">
                <a16:creationId xmlns:a16="http://schemas.microsoft.com/office/drawing/2014/main" id="{29FC6554-E2D6-B871-8DCE-F30984E48674}"/>
              </a:ext>
            </a:extLst>
          </p:cNvPr>
          <p:cNvSpPr/>
          <p:nvPr/>
        </p:nvSpPr>
        <p:spPr>
          <a:xfrm>
            <a:off x="8641080" y="3557016"/>
            <a:ext cx="2864815" cy="365760"/>
          </a:xfrm>
          <a:prstGeom prst="rect">
            <a:avLst/>
          </a:prstGeom>
          <a:noFill/>
          <a:ln/>
        </p:spPr>
        <p:txBody>
          <a:bodyPr wrap="square" rtlCol="0" anchor="ctr"/>
          <a:lstStyle/>
          <a:p>
            <a:pPr marL="0" indent="0">
              <a:buNone/>
            </a:pPr>
            <a:r>
              <a:rPr lang="en-US" sz="1200" b="1" dirty="0">
                <a:solidFill>
                  <a:srgbClr val="14181A"/>
                </a:solidFill>
                <a:latin typeface="Calibri" pitchFamily="34" charset="0"/>
                <a:ea typeface="Calibri" pitchFamily="34" charset="-122"/>
                <a:cs typeface="Calibri" pitchFamily="34" charset="-120"/>
              </a:rPr>
              <a:t>TV Shows</a:t>
            </a:r>
            <a:endParaRPr lang="en-US" sz="1200" dirty="0"/>
          </a:p>
        </p:txBody>
      </p:sp>
      <p:sp>
        <p:nvSpPr>
          <p:cNvPr id="15" name="Text 12">
            <a:extLst>
              <a:ext uri="{FF2B5EF4-FFF2-40B4-BE49-F238E27FC236}">
                <a16:creationId xmlns:a16="http://schemas.microsoft.com/office/drawing/2014/main" id="{C5E8A78C-D2AE-1088-B688-9FE525DA28C1}"/>
              </a:ext>
            </a:extLst>
          </p:cNvPr>
          <p:cNvSpPr/>
          <p:nvPr/>
        </p:nvSpPr>
        <p:spPr>
          <a:xfrm>
            <a:off x="7379208" y="4069080"/>
            <a:ext cx="4108399" cy="548640"/>
          </a:xfrm>
          <a:prstGeom prst="rect">
            <a:avLst/>
          </a:prstGeom>
          <a:noFill/>
          <a:ln/>
        </p:spPr>
        <p:txBody>
          <a:bodyPr wrap="square" rtlCol="0" anchor="ctr"/>
          <a:lstStyle/>
          <a:p>
            <a:pPr marL="0" indent="0">
              <a:lnSpc>
                <a:spcPts val="1250"/>
              </a:lnSpc>
              <a:buNone/>
            </a:pPr>
            <a:r>
              <a:rPr lang="en-US" sz="1000" dirty="0">
                <a:solidFill>
                  <a:srgbClr val="5B6467"/>
                </a:solidFill>
                <a:latin typeface="Calibri" pitchFamily="34" charset="0"/>
                <a:ea typeface="Calibri" pitchFamily="34" charset="-122"/>
                <a:cs typeface="Calibri" pitchFamily="34" charset="-120"/>
              </a:rPr>
              <a:t>2nd highest, just behind Netflix (53.6), and well ahead of Disney+ (49.4) and Prime Video (37.8).</a:t>
            </a:r>
            <a:endParaRPr lang="en-US" sz="1000" dirty="0"/>
          </a:p>
        </p:txBody>
      </p:sp>
      <p:sp>
        <p:nvSpPr>
          <p:cNvPr id="16" name="Shape 13">
            <a:extLst>
              <a:ext uri="{FF2B5EF4-FFF2-40B4-BE49-F238E27FC236}">
                <a16:creationId xmlns:a16="http://schemas.microsoft.com/office/drawing/2014/main" id="{DB785F27-6B50-8049-4269-F544C8B14D2A}"/>
              </a:ext>
            </a:extLst>
          </p:cNvPr>
          <p:cNvSpPr/>
          <p:nvPr/>
        </p:nvSpPr>
        <p:spPr>
          <a:xfrm>
            <a:off x="7178040" y="4983480"/>
            <a:ext cx="4510735" cy="1060704"/>
          </a:xfrm>
          <a:prstGeom prst="roundRect">
            <a:avLst>
              <a:gd name="adj" fmla="val 6897"/>
            </a:avLst>
          </a:prstGeom>
          <a:solidFill>
            <a:srgbClr val="E9F5EE"/>
          </a:solidFill>
          <a:ln w="12700">
            <a:solidFill>
              <a:srgbClr val="E9F5EE"/>
            </a:solidFill>
            <a:prstDash val="solid"/>
          </a:ln>
          <a:effectLst>
            <a:outerShdw blurRad="127000" dist="38100" dir="5400000" algn="bl" rotWithShape="0">
              <a:srgbClr val="1A1A1A">
                <a:alpha val="12000"/>
              </a:srgbClr>
            </a:outerShdw>
          </a:effectLst>
        </p:spPr>
        <p:txBody>
          <a:bodyPr/>
          <a:lstStyle/>
          <a:p>
            <a:endParaRPr lang="en-US"/>
          </a:p>
        </p:txBody>
      </p:sp>
      <p:sp>
        <p:nvSpPr>
          <p:cNvPr id="17" name="Text 14">
            <a:extLst>
              <a:ext uri="{FF2B5EF4-FFF2-40B4-BE49-F238E27FC236}">
                <a16:creationId xmlns:a16="http://schemas.microsoft.com/office/drawing/2014/main" id="{7B23FB52-82F5-EC77-4C6F-066CF8FE09AA}"/>
              </a:ext>
            </a:extLst>
          </p:cNvPr>
          <p:cNvSpPr/>
          <p:nvPr/>
        </p:nvSpPr>
        <p:spPr>
          <a:xfrm>
            <a:off x="7360920" y="4983480"/>
            <a:ext cx="4144975" cy="1060704"/>
          </a:xfrm>
          <a:prstGeom prst="rect">
            <a:avLst/>
          </a:prstGeom>
          <a:noFill/>
          <a:ln/>
        </p:spPr>
        <p:txBody>
          <a:bodyPr wrap="square" rtlCol="0" anchor="ctr"/>
          <a:lstStyle/>
          <a:p>
            <a:pPr marL="0" indent="0">
              <a:lnSpc>
                <a:spcPts val="1450"/>
              </a:lnSpc>
              <a:buNone/>
            </a:pPr>
            <a:r>
              <a:rPr lang="en-US" sz="1100" dirty="0">
                <a:solidFill>
                  <a:srgbClr val="14181A"/>
                </a:solidFill>
                <a:latin typeface="Calibri" pitchFamily="34" charset="0"/>
                <a:ea typeface="Calibri" pitchFamily="34" charset="-122"/>
                <a:cs typeface="Calibri" pitchFamily="34" charset="-120"/>
              </a:rPr>
              <a:t>Hulu’s smaller catalog doesn’t come at the cost of quality; it earns some of the highest critic scores in the category, a real edge to build on as it expands its library.</a:t>
            </a:r>
            <a:endParaRPr lang="en-US" sz="1100" dirty="0"/>
          </a:p>
        </p:txBody>
      </p:sp>
    </p:spTree>
    <p:extLst>
      <p:ext uri="{BB962C8B-B14F-4D97-AF65-F5344CB8AC3E}">
        <p14:creationId xmlns:p14="http://schemas.microsoft.com/office/powerpoint/2010/main" val="846624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530352"/>
            <a:ext cx="11185855" cy="548640"/>
          </a:xfrm>
          <a:prstGeom prst="rect">
            <a:avLst/>
          </a:prstGeom>
          <a:noFill/>
          <a:ln/>
        </p:spPr>
        <p:txBody>
          <a:bodyPr wrap="square" rtlCol="0" anchor="ctr"/>
          <a:lstStyle/>
          <a:p>
            <a:pPr marL="0" indent="0">
              <a:buNone/>
            </a:pPr>
            <a:r>
              <a:rPr lang="en-US" sz="3000" b="1" dirty="0">
                <a:solidFill>
                  <a:srgbClr val="0B0E0F"/>
                </a:solidFill>
                <a:latin typeface="Cambria" pitchFamily="34" charset="0"/>
                <a:ea typeface="Cambria" pitchFamily="34" charset="-122"/>
                <a:cs typeface="Cambria" pitchFamily="34" charset="-120"/>
              </a:rPr>
              <a:t>SWOT Analysis: Hulu’s Competitive Position</a:t>
            </a:r>
            <a:endParaRPr lang="en-US" sz="3000" dirty="0"/>
          </a:p>
        </p:txBody>
      </p:sp>
      <p:sp>
        <p:nvSpPr>
          <p:cNvPr id="6" name="Shape 4"/>
          <p:cNvSpPr/>
          <p:nvPr/>
        </p:nvSpPr>
        <p:spPr>
          <a:xfrm>
            <a:off x="502920" y="1417320"/>
            <a:ext cx="5432908" cy="2308860"/>
          </a:xfrm>
          <a:prstGeom prst="roundRect">
            <a:avLst>
              <a:gd name="adj" fmla="val 3168"/>
            </a:avLst>
          </a:prstGeom>
          <a:solidFill>
            <a:srgbClr val="E7FBF1"/>
          </a:solidFill>
          <a:ln/>
        </p:spPr>
        <p:txBody>
          <a:bodyPr/>
          <a:lstStyle/>
          <a:p>
            <a:endParaRPr lang="en-US"/>
          </a:p>
        </p:txBody>
      </p:sp>
      <p:sp>
        <p:nvSpPr>
          <p:cNvPr id="7" name="Shape 5"/>
          <p:cNvSpPr/>
          <p:nvPr/>
        </p:nvSpPr>
        <p:spPr>
          <a:xfrm>
            <a:off x="704088" y="1618488"/>
            <a:ext cx="384048" cy="384048"/>
          </a:xfrm>
          <a:prstGeom prst="ellipse">
            <a:avLst/>
          </a:prstGeom>
          <a:solidFill>
            <a:srgbClr val="0F9D5A"/>
          </a:solidFill>
          <a:ln/>
        </p:spPr>
        <p:txBody>
          <a:bodyPr/>
          <a:lstStyle/>
          <a:p>
            <a:endParaRPr lang="en-US"/>
          </a:p>
        </p:txBody>
      </p:sp>
      <p:sp>
        <p:nvSpPr>
          <p:cNvPr id="8" name="Text 6"/>
          <p:cNvSpPr/>
          <p:nvPr/>
        </p:nvSpPr>
        <p:spPr>
          <a:xfrm>
            <a:off x="704088" y="16184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188720" y="1618488"/>
            <a:ext cx="4518508" cy="384048"/>
          </a:xfrm>
          <a:prstGeom prst="rect">
            <a:avLst/>
          </a:prstGeom>
          <a:noFill/>
          <a:ln/>
        </p:spPr>
        <p:txBody>
          <a:bodyPr wrap="square" rtlCol="0" anchor="ctr"/>
          <a:lstStyle/>
          <a:p>
            <a:pPr marL="0" indent="0">
              <a:buNone/>
            </a:pPr>
            <a:r>
              <a:rPr lang="en-US" sz="1500" b="1" dirty="0">
                <a:solidFill>
                  <a:srgbClr val="0B0E0F"/>
                </a:solidFill>
                <a:latin typeface="Cambria" pitchFamily="34" charset="0"/>
                <a:ea typeface="Cambria" pitchFamily="34" charset="-122"/>
                <a:cs typeface="Cambria" pitchFamily="34" charset="-120"/>
              </a:rPr>
              <a:t>Strengths</a:t>
            </a:r>
            <a:endParaRPr lang="en-US" sz="1500" dirty="0"/>
          </a:p>
        </p:txBody>
      </p:sp>
      <p:sp>
        <p:nvSpPr>
          <p:cNvPr id="10" name="Text 8"/>
          <p:cNvSpPr/>
          <p:nvPr/>
        </p:nvSpPr>
        <p:spPr>
          <a:xfrm>
            <a:off x="777240" y="2130552"/>
            <a:ext cx="4884268" cy="1440180"/>
          </a:xfrm>
          <a:prstGeom prst="rect">
            <a:avLst/>
          </a:prstGeom>
          <a:noFill/>
          <a:ln/>
        </p:spPr>
        <p:txBody>
          <a:bodyPr wrap="square" rtlCol="0" anchor="t"/>
          <a:lstStyle/>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Distinct identity in Reality TV &amp; Drama, the hardest genres to replicate</a:t>
            </a:r>
          </a:p>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Multiple revenue streams (subscriptions, advertising, Live TV)</a:t>
            </a:r>
            <a:endParaRPr lang="en-US" sz="1150" dirty="0"/>
          </a:p>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Bundled offerings with Disney+ and ESPN</a:t>
            </a:r>
          </a:p>
          <a:p>
            <a:pPr marL="177800" indent="-177800">
              <a:lnSpc>
                <a:spcPts val="1600"/>
              </a:lnSpc>
              <a:buSzPct val="100000"/>
              <a:buFontTx/>
              <a:buChar char="▪"/>
            </a:pPr>
            <a:r>
              <a:rPr lang="en-US" sz="1150" dirty="0">
                <a:solidFill>
                  <a:srgbClr val="1A1D1E"/>
                </a:solidFill>
                <a:latin typeface="Calibri" pitchFamily="34" charset="0"/>
                <a:ea typeface="Calibri" pitchFamily="34" charset="-122"/>
                <a:cs typeface="Calibri" pitchFamily="34" charset="-120"/>
              </a:rPr>
              <a:t>Highest average movie quality Rotten Tomatoes score (60.4) of any major platform</a:t>
            </a:r>
            <a:endParaRPr lang="en-US" sz="1150" dirty="0"/>
          </a:p>
          <a:p>
            <a:pPr marL="177800" indent="-177800">
              <a:lnSpc>
                <a:spcPts val="1600"/>
              </a:lnSpc>
              <a:buSzPct val="100000"/>
              <a:buChar char="▪"/>
            </a:pPr>
            <a:endParaRPr lang="en-US" sz="1150" dirty="0"/>
          </a:p>
          <a:p>
            <a:br>
              <a:rPr lang="en-US" sz="1200" b="0" dirty="0">
                <a:effectLst/>
              </a:rPr>
            </a:br>
            <a:endParaRPr lang="en-US" sz="1150" dirty="0"/>
          </a:p>
        </p:txBody>
      </p:sp>
      <p:sp>
        <p:nvSpPr>
          <p:cNvPr id="11" name="Shape 9"/>
          <p:cNvSpPr/>
          <p:nvPr/>
        </p:nvSpPr>
        <p:spPr>
          <a:xfrm>
            <a:off x="6255868" y="1417320"/>
            <a:ext cx="5432908" cy="2308860"/>
          </a:xfrm>
          <a:prstGeom prst="roundRect">
            <a:avLst>
              <a:gd name="adj" fmla="val 3168"/>
            </a:avLst>
          </a:prstGeom>
          <a:solidFill>
            <a:srgbClr val="F0F1F2"/>
          </a:solidFill>
          <a:ln/>
        </p:spPr>
        <p:txBody>
          <a:bodyPr/>
          <a:lstStyle/>
          <a:p>
            <a:endParaRPr lang="en-US"/>
          </a:p>
        </p:txBody>
      </p:sp>
      <p:sp>
        <p:nvSpPr>
          <p:cNvPr id="12" name="Shape 10"/>
          <p:cNvSpPr/>
          <p:nvPr/>
        </p:nvSpPr>
        <p:spPr>
          <a:xfrm>
            <a:off x="6457036" y="1618488"/>
            <a:ext cx="384048" cy="384048"/>
          </a:xfrm>
          <a:prstGeom prst="ellipse">
            <a:avLst/>
          </a:prstGeom>
          <a:solidFill>
            <a:srgbClr val="6B7573"/>
          </a:solidFill>
          <a:ln/>
        </p:spPr>
        <p:txBody>
          <a:bodyPr/>
          <a:lstStyle/>
          <a:p>
            <a:endParaRPr lang="en-US"/>
          </a:p>
        </p:txBody>
      </p:sp>
      <p:sp>
        <p:nvSpPr>
          <p:cNvPr id="13" name="Text 11"/>
          <p:cNvSpPr/>
          <p:nvPr/>
        </p:nvSpPr>
        <p:spPr>
          <a:xfrm>
            <a:off x="6457036" y="16184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6941668" y="1618488"/>
            <a:ext cx="4518508" cy="384048"/>
          </a:xfrm>
          <a:prstGeom prst="rect">
            <a:avLst/>
          </a:prstGeom>
          <a:noFill/>
          <a:ln/>
        </p:spPr>
        <p:txBody>
          <a:bodyPr wrap="square" rtlCol="0" anchor="ctr"/>
          <a:lstStyle/>
          <a:p>
            <a:pPr marL="0" indent="0">
              <a:buNone/>
            </a:pPr>
            <a:r>
              <a:rPr lang="en-US" sz="1500" b="1" dirty="0">
                <a:solidFill>
                  <a:srgbClr val="0B0E0F"/>
                </a:solidFill>
                <a:latin typeface="Cambria" pitchFamily="34" charset="0"/>
                <a:ea typeface="Cambria" pitchFamily="34" charset="-122"/>
                <a:cs typeface="Cambria" pitchFamily="34" charset="-120"/>
              </a:rPr>
              <a:t>Weaknesses</a:t>
            </a:r>
            <a:endParaRPr lang="en-US" sz="1500" dirty="0"/>
          </a:p>
        </p:txBody>
      </p:sp>
      <p:sp>
        <p:nvSpPr>
          <p:cNvPr id="15" name="Text 13"/>
          <p:cNvSpPr/>
          <p:nvPr/>
        </p:nvSpPr>
        <p:spPr>
          <a:xfrm>
            <a:off x="6530188" y="2130552"/>
            <a:ext cx="4884268" cy="1440180"/>
          </a:xfrm>
          <a:prstGeom prst="rect">
            <a:avLst/>
          </a:prstGeom>
          <a:noFill/>
          <a:ln/>
        </p:spPr>
        <p:txBody>
          <a:bodyPr wrap="square" rtlCol="0" anchor="t"/>
          <a:lstStyle/>
          <a:p>
            <a:pPr marL="177800" indent="-177800">
              <a:lnSpc>
                <a:spcPts val="1600"/>
              </a:lnSpc>
              <a:buSzPct val="100000"/>
              <a:buFontTx/>
              <a:buChar char="▪"/>
            </a:pPr>
            <a:r>
              <a:rPr lang="en-US" sz="1200" b="0" i="0" u="none" strike="noStrike" dirty="0">
                <a:solidFill>
                  <a:srgbClr val="0A0A0A"/>
                </a:solidFill>
                <a:effectLst/>
                <a:latin typeface="Calibri" panose="020F0502020204030204" pitchFamily="34" charset="0"/>
                <a:cs typeface="Calibri" panose="020F0502020204030204" pitchFamily="34" charset="0"/>
              </a:rPr>
              <a:t>Smaller global presence than major competitors</a:t>
            </a:r>
            <a:endParaRPr lang="en-US" sz="1200" dirty="0">
              <a:solidFill>
                <a:srgbClr val="0A0A0A"/>
              </a:solidFill>
              <a:latin typeface="Calibri" panose="020F0502020204030204" pitchFamily="34" charset="0"/>
              <a:cs typeface="Calibri" panose="020F0502020204030204" pitchFamily="34" charset="0"/>
            </a:endParaRPr>
          </a:p>
          <a:p>
            <a:pPr marL="177800" indent="-177800">
              <a:lnSpc>
                <a:spcPts val="1600"/>
              </a:lnSpc>
              <a:buSzPct val="100000"/>
              <a:buChar char="▪"/>
            </a:pPr>
            <a:r>
              <a:rPr lang="en-US" sz="1200" dirty="0">
                <a:solidFill>
                  <a:srgbClr val="1A1D1E"/>
                </a:solidFill>
                <a:latin typeface="Calibri" panose="020F0502020204030204" pitchFamily="34" charset="0"/>
                <a:ea typeface="Calibri" pitchFamily="34" charset="-122"/>
                <a:cs typeface="Calibri" panose="020F0502020204030204" pitchFamily="34" charset="0"/>
              </a:rPr>
              <a:t>Lower content variety, making it easier for subscribers to switch to competitors with larger catalogs</a:t>
            </a:r>
          </a:p>
          <a:p>
            <a:pPr marL="177800" indent="-177800">
              <a:lnSpc>
                <a:spcPts val="1600"/>
              </a:lnSpc>
              <a:buSzPct val="100000"/>
              <a:buFontTx/>
              <a:buChar char="▪"/>
            </a:pPr>
            <a:r>
              <a:rPr lang="en-US" sz="1200" dirty="0">
                <a:solidFill>
                  <a:srgbClr val="1A1D1E"/>
                </a:solidFill>
                <a:latin typeface="Calibri" panose="020F0502020204030204" pitchFamily="34" charset="0"/>
                <a:ea typeface="Calibri" pitchFamily="34" charset="-122"/>
                <a:cs typeface="Calibri" panose="020F0502020204030204" pitchFamily="34" charset="0"/>
              </a:rPr>
              <a:t>Smallest library of the four platforms (2,668 titles)</a:t>
            </a:r>
            <a:endParaRPr lang="en-US" sz="1200" dirty="0">
              <a:latin typeface="Calibri" panose="020F0502020204030204" pitchFamily="34" charset="0"/>
              <a:cs typeface="Calibri" panose="020F0502020204030204" pitchFamily="34" charset="0"/>
            </a:endParaRPr>
          </a:p>
          <a:p>
            <a:pPr marL="177800" indent="-177800">
              <a:lnSpc>
                <a:spcPts val="1600"/>
              </a:lnSpc>
              <a:buSzPct val="100000"/>
              <a:buChar char="▪"/>
            </a:pPr>
            <a:endParaRPr lang="en-US" sz="1200" dirty="0">
              <a:solidFill>
                <a:srgbClr val="1A1D1E"/>
              </a:solidFill>
              <a:latin typeface="Calibri" panose="020F0502020204030204" pitchFamily="34" charset="0"/>
              <a:ea typeface="Calibri" pitchFamily="34" charset="-122"/>
              <a:cs typeface="Calibri" panose="020F0502020204030204" pitchFamily="34" charset="0"/>
            </a:endParaRPr>
          </a:p>
          <a:p>
            <a:pPr marL="177800" indent="-177800">
              <a:lnSpc>
                <a:spcPts val="1600"/>
              </a:lnSpc>
              <a:buSzPct val="100000"/>
              <a:buFontTx/>
              <a:buChar char="▪"/>
            </a:pPr>
            <a:endParaRPr lang="en-US" sz="1200" b="0" i="0" u="none" strike="noStrike" dirty="0">
              <a:solidFill>
                <a:srgbClr val="0A0A0A"/>
              </a:solidFill>
              <a:effectLst/>
              <a:latin typeface="Calibri" panose="020F0502020204030204" pitchFamily="34" charset="0"/>
              <a:cs typeface="Calibri" panose="020F0502020204030204" pitchFamily="34" charset="0"/>
            </a:endParaRPr>
          </a:p>
        </p:txBody>
      </p:sp>
      <p:sp>
        <p:nvSpPr>
          <p:cNvPr id="16" name="Shape 14"/>
          <p:cNvSpPr/>
          <p:nvPr/>
        </p:nvSpPr>
        <p:spPr>
          <a:xfrm>
            <a:off x="502920" y="4046220"/>
            <a:ext cx="5432908" cy="2308860"/>
          </a:xfrm>
          <a:prstGeom prst="roundRect">
            <a:avLst>
              <a:gd name="adj" fmla="val 3168"/>
            </a:avLst>
          </a:prstGeom>
          <a:solidFill>
            <a:srgbClr val="E9F7F5"/>
          </a:solidFill>
          <a:ln/>
        </p:spPr>
        <p:txBody>
          <a:bodyPr/>
          <a:lstStyle/>
          <a:p>
            <a:endParaRPr lang="en-US"/>
          </a:p>
        </p:txBody>
      </p:sp>
      <p:sp>
        <p:nvSpPr>
          <p:cNvPr id="17" name="Shape 15"/>
          <p:cNvSpPr/>
          <p:nvPr/>
        </p:nvSpPr>
        <p:spPr>
          <a:xfrm>
            <a:off x="704088" y="4247388"/>
            <a:ext cx="384048" cy="384048"/>
          </a:xfrm>
          <a:prstGeom prst="ellipse">
            <a:avLst/>
          </a:prstGeom>
          <a:solidFill>
            <a:srgbClr val="1C8C6E"/>
          </a:solidFill>
          <a:ln/>
        </p:spPr>
        <p:txBody>
          <a:bodyPr/>
          <a:lstStyle/>
          <a:p>
            <a:endParaRPr lang="en-US"/>
          </a:p>
        </p:txBody>
      </p:sp>
      <p:sp>
        <p:nvSpPr>
          <p:cNvPr id="18" name="Text 16"/>
          <p:cNvSpPr/>
          <p:nvPr/>
        </p:nvSpPr>
        <p:spPr>
          <a:xfrm>
            <a:off x="704088" y="42473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1188720" y="4247388"/>
            <a:ext cx="4518508" cy="384048"/>
          </a:xfrm>
          <a:prstGeom prst="rect">
            <a:avLst/>
          </a:prstGeom>
          <a:noFill/>
          <a:ln/>
        </p:spPr>
        <p:txBody>
          <a:bodyPr wrap="square" rtlCol="0" anchor="ctr"/>
          <a:lstStyle/>
          <a:p>
            <a:pPr marL="0" indent="0">
              <a:buNone/>
            </a:pPr>
            <a:r>
              <a:rPr lang="en-US" sz="1500" b="1" dirty="0">
                <a:solidFill>
                  <a:srgbClr val="0B0E0F"/>
                </a:solidFill>
                <a:latin typeface="Cambria" pitchFamily="34" charset="0"/>
                <a:ea typeface="Cambria" pitchFamily="34" charset="-122"/>
                <a:cs typeface="Cambria" pitchFamily="34" charset="-120"/>
              </a:rPr>
              <a:t>Opportunities</a:t>
            </a:r>
            <a:endParaRPr lang="en-US" sz="1500" dirty="0"/>
          </a:p>
        </p:txBody>
      </p:sp>
      <p:sp>
        <p:nvSpPr>
          <p:cNvPr id="20" name="Text 18"/>
          <p:cNvSpPr/>
          <p:nvPr/>
        </p:nvSpPr>
        <p:spPr>
          <a:xfrm>
            <a:off x="777240" y="4759452"/>
            <a:ext cx="4884268" cy="1440180"/>
          </a:xfrm>
          <a:prstGeom prst="rect">
            <a:avLst/>
          </a:prstGeom>
          <a:noFill/>
          <a:ln/>
        </p:spPr>
        <p:txBody>
          <a:bodyPr wrap="square" rtlCol="0" anchor="t"/>
          <a:lstStyle/>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Grow the ad-supported tier to capture price-sensitive users</a:t>
            </a:r>
            <a:endParaRPr lang="en-US" sz="1150" dirty="0"/>
          </a:p>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Expansion of Disney bundle offerings </a:t>
            </a:r>
          </a:p>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Use genre-quality data to guide next licensing investments</a:t>
            </a:r>
          </a:p>
          <a:p>
            <a:pPr marL="177800" indent="-177800">
              <a:lnSpc>
                <a:spcPts val="1600"/>
              </a:lnSpc>
              <a:buSzPct val="100000"/>
              <a:buFontTx/>
              <a:buChar char="▪"/>
            </a:pPr>
            <a:r>
              <a:rPr lang="en-US" sz="1150" dirty="0">
                <a:solidFill>
                  <a:srgbClr val="1A1D1E"/>
                </a:solidFill>
                <a:latin typeface="Calibri" pitchFamily="34" charset="0"/>
                <a:ea typeface="Calibri" pitchFamily="34" charset="-122"/>
                <a:cs typeface="Calibri" pitchFamily="34" charset="-120"/>
              </a:rPr>
              <a:t>Development of exclusive original content</a:t>
            </a:r>
          </a:p>
          <a:p>
            <a:pPr marL="177800" indent="-177800">
              <a:lnSpc>
                <a:spcPts val="1600"/>
              </a:lnSpc>
              <a:buSzPct val="100000"/>
              <a:buChar char="▪"/>
            </a:pPr>
            <a:endParaRPr lang="en-US" sz="1150" dirty="0">
              <a:solidFill>
                <a:srgbClr val="1A1D1E"/>
              </a:solidFill>
              <a:latin typeface="Calibri" pitchFamily="34" charset="0"/>
              <a:ea typeface="Calibri" pitchFamily="34" charset="-122"/>
              <a:cs typeface="Calibri" pitchFamily="34" charset="-120"/>
            </a:endParaRPr>
          </a:p>
          <a:p>
            <a:pPr marL="177800" indent="-177800">
              <a:lnSpc>
                <a:spcPts val="1600"/>
              </a:lnSpc>
              <a:buSzPct val="100000"/>
              <a:buChar char="▪"/>
            </a:pPr>
            <a:endParaRPr lang="en-US" sz="1150" dirty="0"/>
          </a:p>
        </p:txBody>
      </p:sp>
      <p:sp>
        <p:nvSpPr>
          <p:cNvPr id="21" name="Shape 19"/>
          <p:cNvSpPr/>
          <p:nvPr/>
        </p:nvSpPr>
        <p:spPr>
          <a:xfrm>
            <a:off x="6255868" y="4046220"/>
            <a:ext cx="5432908" cy="2308860"/>
          </a:xfrm>
          <a:prstGeom prst="roundRect">
            <a:avLst>
              <a:gd name="adj" fmla="val 3168"/>
            </a:avLst>
          </a:prstGeom>
          <a:solidFill>
            <a:srgbClr val="FBEAEC"/>
          </a:solidFill>
          <a:ln/>
        </p:spPr>
        <p:txBody>
          <a:bodyPr/>
          <a:lstStyle/>
          <a:p>
            <a:endParaRPr lang="en-US"/>
          </a:p>
        </p:txBody>
      </p:sp>
      <p:sp>
        <p:nvSpPr>
          <p:cNvPr id="22" name="Shape 20"/>
          <p:cNvSpPr/>
          <p:nvPr/>
        </p:nvSpPr>
        <p:spPr>
          <a:xfrm>
            <a:off x="6457036" y="4247388"/>
            <a:ext cx="384048" cy="384048"/>
          </a:xfrm>
          <a:prstGeom prst="ellipse">
            <a:avLst/>
          </a:prstGeom>
          <a:solidFill>
            <a:srgbClr val="B23A48"/>
          </a:solidFill>
          <a:ln/>
        </p:spPr>
        <p:txBody>
          <a:bodyPr/>
          <a:lstStyle/>
          <a:p>
            <a:endParaRPr lang="en-US"/>
          </a:p>
        </p:txBody>
      </p:sp>
      <p:sp>
        <p:nvSpPr>
          <p:cNvPr id="23" name="Text 21"/>
          <p:cNvSpPr/>
          <p:nvPr/>
        </p:nvSpPr>
        <p:spPr>
          <a:xfrm>
            <a:off x="6457036" y="42473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6941668" y="4247388"/>
            <a:ext cx="4518508" cy="384048"/>
          </a:xfrm>
          <a:prstGeom prst="rect">
            <a:avLst/>
          </a:prstGeom>
          <a:noFill/>
          <a:ln/>
        </p:spPr>
        <p:txBody>
          <a:bodyPr wrap="square" rtlCol="0" anchor="ctr"/>
          <a:lstStyle/>
          <a:p>
            <a:pPr marL="0" indent="0">
              <a:buNone/>
            </a:pPr>
            <a:r>
              <a:rPr lang="en-US" sz="1500" b="1" dirty="0">
                <a:solidFill>
                  <a:srgbClr val="0B0E0F"/>
                </a:solidFill>
                <a:latin typeface="Cambria" pitchFamily="34" charset="0"/>
                <a:ea typeface="Cambria" pitchFamily="34" charset="-122"/>
                <a:cs typeface="Cambria" pitchFamily="34" charset="-120"/>
              </a:rPr>
              <a:t>Threats</a:t>
            </a:r>
            <a:endParaRPr lang="en-US" sz="1500" dirty="0"/>
          </a:p>
        </p:txBody>
      </p:sp>
      <p:sp>
        <p:nvSpPr>
          <p:cNvPr id="25" name="Text 23"/>
          <p:cNvSpPr/>
          <p:nvPr/>
        </p:nvSpPr>
        <p:spPr>
          <a:xfrm>
            <a:off x="6530188" y="4759452"/>
            <a:ext cx="4884268" cy="1440180"/>
          </a:xfrm>
          <a:prstGeom prst="rect">
            <a:avLst/>
          </a:prstGeom>
          <a:noFill/>
          <a:ln/>
        </p:spPr>
        <p:txBody>
          <a:bodyPr wrap="square" rtlCol="0" anchor="t"/>
          <a:lstStyle/>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Netflix and Prime Video offer significantly larger content libraries while maintaining competitive review scores</a:t>
            </a:r>
          </a:p>
          <a:p>
            <a:pPr marL="177800" indent="-177800">
              <a:lnSpc>
                <a:spcPts val="1600"/>
              </a:lnSpc>
              <a:buSzPct val="100000"/>
              <a:buChar char="▪"/>
            </a:pPr>
            <a:r>
              <a:rPr lang="en-US" sz="1150" dirty="0">
                <a:solidFill>
                  <a:srgbClr val="1A1D1E"/>
                </a:solidFill>
                <a:latin typeface="Calibri" pitchFamily="34" charset="0"/>
                <a:ea typeface="Calibri" pitchFamily="34" charset="-122"/>
                <a:cs typeface="Calibri" pitchFamily="34" charset="-120"/>
              </a:rPr>
              <a:t>Subscriber churn and loss of market share if consumers prioritize platforms offering greater content variety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717BE121-4680-3CFC-6102-ACD501B02524}"/>
              </a:ext>
            </a:extLst>
          </p:cNvPr>
          <p:cNvSpPr/>
          <p:nvPr/>
        </p:nvSpPr>
        <p:spPr>
          <a:xfrm>
            <a:off x="502920" y="621792"/>
            <a:ext cx="11185855" cy="548640"/>
          </a:xfrm>
          <a:prstGeom prst="rect">
            <a:avLst/>
          </a:prstGeom>
          <a:noFill/>
          <a:ln/>
        </p:spPr>
        <p:txBody>
          <a:bodyPr wrap="square" rtlCol="0" anchor="ctr"/>
          <a:lstStyle/>
          <a:p>
            <a:pPr marL="0" indent="0">
              <a:buNone/>
            </a:pPr>
            <a:r>
              <a:rPr lang="en-US" sz="3000" b="1" dirty="0">
                <a:solidFill>
                  <a:srgbClr val="0B0E0F"/>
                </a:solidFill>
                <a:latin typeface="Cambria" pitchFamily="34" charset="0"/>
                <a:ea typeface="Cambria" pitchFamily="34" charset="-122"/>
                <a:cs typeface="Cambria" pitchFamily="34" charset="-120"/>
              </a:rPr>
              <a:t>Key Insights about Hulu</a:t>
            </a:r>
            <a:endParaRPr lang="en-US" sz="3000" dirty="0"/>
          </a:p>
        </p:txBody>
      </p:sp>
      <p:sp>
        <p:nvSpPr>
          <p:cNvPr id="4" name="Shape 4">
            <a:extLst>
              <a:ext uri="{FF2B5EF4-FFF2-40B4-BE49-F238E27FC236}">
                <a16:creationId xmlns:a16="http://schemas.microsoft.com/office/drawing/2014/main" id="{F242D289-5DE0-A7B7-61B8-BB625B4B0B81}"/>
              </a:ext>
            </a:extLst>
          </p:cNvPr>
          <p:cNvSpPr/>
          <p:nvPr/>
        </p:nvSpPr>
        <p:spPr>
          <a:xfrm>
            <a:off x="502920" y="1417320"/>
            <a:ext cx="5410048" cy="2308860"/>
          </a:xfrm>
          <a:prstGeom prst="roundRect">
            <a:avLst>
              <a:gd name="adj" fmla="val 3564"/>
            </a:avLst>
          </a:prstGeom>
          <a:solidFill>
            <a:srgbClr val="FFFFFF"/>
          </a:solidFill>
          <a:ln w="12700">
            <a:solidFill>
              <a:srgbClr val="E4E7E8"/>
            </a:solidFill>
            <a:prstDash val="solid"/>
          </a:ln>
          <a:effectLst>
            <a:outerShdw blurRad="76200" dist="38100" dir="5400000" algn="bl" rotWithShape="0">
              <a:srgbClr val="3A3A3A">
                <a:alpha val="10000"/>
              </a:srgbClr>
            </a:outerShdw>
          </a:effectLst>
        </p:spPr>
        <p:txBody>
          <a:bodyPr/>
          <a:lstStyle/>
          <a:p>
            <a:endParaRPr lang="en-US"/>
          </a:p>
        </p:txBody>
      </p:sp>
      <p:sp>
        <p:nvSpPr>
          <p:cNvPr id="5" name="Shape 5">
            <a:extLst>
              <a:ext uri="{FF2B5EF4-FFF2-40B4-BE49-F238E27FC236}">
                <a16:creationId xmlns:a16="http://schemas.microsoft.com/office/drawing/2014/main" id="{53E52ABE-228B-CBAA-FBBA-3D0DA9BEC140}"/>
              </a:ext>
            </a:extLst>
          </p:cNvPr>
          <p:cNvSpPr/>
          <p:nvPr/>
        </p:nvSpPr>
        <p:spPr>
          <a:xfrm>
            <a:off x="777240" y="1709928"/>
            <a:ext cx="420624" cy="420624"/>
          </a:xfrm>
          <a:prstGeom prst="ellipse">
            <a:avLst/>
          </a:prstGeom>
          <a:solidFill>
            <a:srgbClr val="0FAF2C"/>
          </a:solidFill>
          <a:ln/>
        </p:spPr>
        <p:txBody>
          <a:bodyPr/>
          <a:lstStyle/>
          <a:p>
            <a:endParaRPr lang="en-US"/>
          </a:p>
        </p:txBody>
      </p:sp>
      <p:sp>
        <p:nvSpPr>
          <p:cNvPr id="6" name="Text 6">
            <a:extLst>
              <a:ext uri="{FF2B5EF4-FFF2-40B4-BE49-F238E27FC236}">
                <a16:creationId xmlns:a16="http://schemas.microsoft.com/office/drawing/2014/main" id="{EA25CB2D-4728-BE51-72AC-1F79A63DE3BB}"/>
              </a:ext>
            </a:extLst>
          </p:cNvPr>
          <p:cNvSpPr/>
          <p:nvPr/>
        </p:nvSpPr>
        <p:spPr>
          <a:xfrm>
            <a:off x="777240" y="1709928"/>
            <a:ext cx="420624" cy="42062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a:t>
            </a:r>
            <a:endParaRPr lang="en-US" sz="1500" dirty="0"/>
          </a:p>
        </p:txBody>
      </p:sp>
      <p:sp>
        <p:nvSpPr>
          <p:cNvPr id="7" name="Text 7">
            <a:extLst>
              <a:ext uri="{FF2B5EF4-FFF2-40B4-BE49-F238E27FC236}">
                <a16:creationId xmlns:a16="http://schemas.microsoft.com/office/drawing/2014/main" id="{F091638D-70A6-B248-D5B2-A0C0AB406D71}"/>
              </a:ext>
            </a:extLst>
          </p:cNvPr>
          <p:cNvSpPr/>
          <p:nvPr/>
        </p:nvSpPr>
        <p:spPr>
          <a:xfrm>
            <a:off x="1362456" y="1655064"/>
            <a:ext cx="4276192" cy="530352"/>
          </a:xfrm>
          <a:prstGeom prst="rect">
            <a:avLst/>
          </a:prstGeom>
          <a:noFill/>
          <a:ln/>
        </p:spPr>
        <p:txBody>
          <a:bodyPr wrap="square" rtlCol="0" anchor="ctr"/>
          <a:lstStyle/>
          <a:p>
            <a:pPr marL="0" indent="0">
              <a:lnSpc>
                <a:spcPts val="1900"/>
              </a:lnSpc>
              <a:buNone/>
            </a:pPr>
            <a:r>
              <a:rPr lang="en-US" sz="1650" b="1" dirty="0">
                <a:solidFill>
                  <a:srgbClr val="0B0E0F"/>
                </a:solidFill>
                <a:latin typeface="Cambria" pitchFamily="34" charset="0"/>
                <a:ea typeface="Cambria" pitchFamily="34" charset="-122"/>
                <a:cs typeface="Cambria" pitchFamily="34" charset="-120"/>
              </a:rPr>
              <a:t>TV-first Platform in a Movie-Driven Streaming Market</a:t>
            </a:r>
            <a:endParaRPr lang="en-US" sz="1650" dirty="0"/>
          </a:p>
        </p:txBody>
      </p:sp>
      <p:sp>
        <p:nvSpPr>
          <p:cNvPr id="8" name="Text 8">
            <a:extLst>
              <a:ext uri="{FF2B5EF4-FFF2-40B4-BE49-F238E27FC236}">
                <a16:creationId xmlns:a16="http://schemas.microsoft.com/office/drawing/2014/main" id="{4BB2AE81-DD19-3B55-45A1-61497D125987}"/>
              </a:ext>
            </a:extLst>
          </p:cNvPr>
          <p:cNvSpPr/>
          <p:nvPr/>
        </p:nvSpPr>
        <p:spPr>
          <a:xfrm>
            <a:off x="777240" y="2377440"/>
            <a:ext cx="4861408" cy="1120140"/>
          </a:xfrm>
          <a:prstGeom prst="rect">
            <a:avLst/>
          </a:prstGeom>
          <a:noFill/>
          <a:ln/>
        </p:spPr>
        <p:txBody>
          <a:bodyPr wrap="square" rtlCol="0" anchor="ctr"/>
          <a:lstStyle/>
          <a:p>
            <a:pPr marL="0" indent="0">
              <a:lnSpc>
                <a:spcPts val="1700"/>
              </a:lnSpc>
              <a:buNone/>
            </a:pPr>
            <a:r>
              <a:rPr lang="en-US" sz="1200" dirty="0">
                <a:solidFill>
                  <a:schemeClr val="bg2">
                    <a:lumMod val="50000"/>
                  </a:schemeClr>
                </a:solidFill>
              </a:rPr>
              <a:t>Hulu differentiates itself with a TV-centric content strategy, unlike competitors with broader or movie-heavy catalogs.</a:t>
            </a:r>
          </a:p>
        </p:txBody>
      </p:sp>
      <p:sp>
        <p:nvSpPr>
          <p:cNvPr id="9" name="Shape 9">
            <a:extLst>
              <a:ext uri="{FF2B5EF4-FFF2-40B4-BE49-F238E27FC236}">
                <a16:creationId xmlns:a16="http://schemas.microsoft.com/office/drawing/2014/main" id="{B0956BA2-9414-7D06-D914-E07CCEA0C459}"/>
              </a:ext>
            </a:extLst>
          </p:cNvPr>
          <p:cNvSpPr/>
          <p:nvPr/>
        </p:nvSpPr>
        <p:spPr>
          <a:xfrm>
            <a:off x="6278728" y="1417320"/>
            <a:ext cx="5410048" cy="2308860"/>
          </a:xfrm>
          <a:prstGeom prst="roundRect">
            <a:avLst>
              <a:gd name="adj" fmla="val 3564"/>
            </a:avLst>
          </a:prstGeom>
          <a:solidFill>
            <a:srgbClr val="FFFFFF"/>
          </a:solidFill>
          <a:ln w="12700">
            <a:solidFill>
              <a:srgbClr val="E4E7E8"/>
            </a:solidFill>
            <a:prstDash val="solid"/>
          </a:ln>
          <a:effectLst>
            <a:outerShdw blurRad="76200" dist="38100" dir="5400000" algn="bl" rotWithShape="0">
              <a:srgbClr val="3A3A3A">
                <a:alpha val="10000"/>
              </a:srgbClr>
            </a:outerShdw>
          </a:effectLst>
        </p:spPr>
        <p:txBody>
          <a:bodyPr/>
          <a:lstStyle/>
          <a:p>
            <a:endParaRPr lang="en-US"/>
          </a:p>
        </p:txBody>
      </p:sp>
      <p:sp>
        <p:nvSpPr>
          <p:cNvPr id="10" name="Shape 10">
            <a:extLst>
              <a:ext uri="{FF2B5EF4-FFF2-40B4-BE49-F238E27FC236}">
                <a16:creationId xmlns:a16="http://schemas.microsoft.com/office/drawing/2014/main" id="{BAC137BE-49D9-7D38-BF52-773F5E84B555}"/>
              </a:ext>
            </a:extLst>
          </p:cNvPr>
          <p:cNvSpPr/>
          <p:nvPr/>
        </p:nvSpPr>
        <p:spPr>
          <a:xfrm>
            <a:off x="6553048" y="1709928"/>
            <a:ext cx="420624" cy="420624"/>
          </a:xfrm>
          <a:prstGeom prst="ellipse">
            <a:avLst/>
          </a:prstGeom>
          <a:solidFill>
            <a:srgbClr val="0FAF2C"/>
          </a:solidFill>
          <a:ln/>
        </p:spPr>
        <p:txBody>
          <a:bodyPr/>
          <a:lstStyle/>
          <a:p>
            <a:endParaRPr lang="en-US"/>
          </a:p>
        </p:txBody>
      </p:sp>
      <p:sp>
        <p:nvSpPr>
          <p:cNvPr id="11" name="Text 11">
            <a:extLst>
              <a:ext uri="{FF2B5EF4-FFF2-40B4-BE49-F238E27FC236}">
                <a16:creationId xmlns:a16="http://schemas.microsoft.com/office/drawing/2014/main" id="{A22144FA-2CA4-2A0D-B11B-A24BF8E2795A}"/>
              </a:ext>
            </a:extLst>
          </p:cNvPr>
          <p:cNvSpPr/>
          <p:nvPr/>
        </p:nvSpPr>
        <p:spPr>
          <a:xfrm>
            <a:off x="6553048" y="1709928"/>
            <a:ext cx="420624" cy="42062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a:t>
            </a:r>
            <a:endParaRPr lang="en-US" sz="1500" dirty="0"/>
          </a:p>
        </p:txBody>
      </p:sp>
      <p:sp>
        <p:nvSpPr>
          <p:cNvPr id="12" name="Text 12">
            <a:extLst>
              <a:ext uri="{FF2B5EF4-FFF2-40B4-BE49-F238E27FC236}">
                <a16:creationId xmlns:a16="http://schemas.microsoft.com/office/drawing/2014/main" id="{E5C3F022-F289-F77A-4B11-8DD094BDDC33}"/>
              </a:ext>
            </a:extLst>
          </p:cNvPr>
          <p:cNvSpPr/>
          <p:nvPr/>
        </p:nvSpPr>
        <p:spPr>
          <a:xfrm>
            <a:off x="7138264" y="1655064"/>
            <a:ext cx="4276192" cy="530352"/>
          </a:xfrm>
          <a:prstGeom prst="rect">
            <a:avLst/>
          </a:prstGeom>
          <a:noFill/>
          <a:ln/>
        </p:spPr>
        <p:txBody>
          <a:bodyPr wrap="square" rtlCol="0" anchor="ctr"/>
          <a:lstStyle/>
          <a:p>
            <a:pPr marL="0" indent="0">
              <a:lnSpc>
                <a:spcPts val="1900"/>
              </a:lnSpc>
              <a:buNone/>
            </a:pPr>
            <a:r>
              <a:rPr lang="en-US" sz="1650" b="1" dirty="0">
                <a:solidFill>
                  <a:srgbClr val="0B0E0F"/>
                </a:solidFill>
                <a:latin typeface="Cambria" pitchFamily="34" charset="0"/>
                <a:ea typeface="Cambria" pitchFamily="34" charset="-122"/>
                <a:cs typeface="Cambria" pitchFamily="34" charset="-120"/>
              </a:rPr>
              <a:t>Concentrated Content Portfolio </a:t>
            </a:r>
            <a:endParaRPr lang="en-US" sz="1650" dirty="0"/>
          </a:p>
        </p:txBody>
      </p:sp>
      <p:sp>
        <p:nvSpPr>
          <p:cNvPr id="13" name="Text 13">
            <a:extLst>
              <a:ext uri="{FF2B5EF4-FFF2-40B4-BE49-F238E27FC236}">
                <a16:creationId xmlns:a16="http://schemas.microsoft.com/office/drawing/2014/main" id="{C895447A-A399-3413-ED44-EF0AB336D626}"/>
              </a:ext>
            </a:extLst>
          </p:cNvPr>
          <p:cNvSpPr/>
          <p:nvPr/>
        </p:nvSpPr>
        <p:spPr>
          <a:xfrm>
            <a:off x="6553048" y="2377440"/>
            <a:ext cx="4861408" cy="1120140"/>
          </a:xfrm>
          <a:prstGeom prst="rect">
            <a:avLst/>
          </a:prstGeom>
          <a:noFill/>
          <a:ln/>
        </p:spPr>
        <p:txBody>
          <a:bodyPr wrap="square" rtlCol="0" anchor="ctr"/>
          <a:lstStyle/>
          <a:p>
            <a:pPr marL="0" indent="0">
              <a:lnSpc>
                <a:spcPts val="1700"/>
              </a:lnSpc>
              <a:buNone/>
            </a:pPr>
            <a:r>
              <a:rPr lang="en-US" sz="1200" dirty="0">
                <a:solidFill>
                  <a:schemeClr val="bg2">
                    <a:lumMod val="50000"/>
                  </a:schemeClr>
                </a:solidFill>
              </a:rPr>
              <a:t>Reality TV and Drama represent over 50% of Hulu's catalog, supporting a targeted strategy centered on audience engagement within high-demand genres.</a:t>
            </a:r>
          </a:p>
        </p:txBody>
      </p:sp>
      <p:sp>
        <p:nvSpPr>
          <p:cNvPr id="14" name="Shape 14">
            <a:extLst>
              <a:ext uri="{FF2B5EF4-FFF2-40B4-BE49-F238E27FC236}">
                <a16:creationId xmlns:a16="http://schemas.microsoft.com/office/drawing/2014/main" id="{55E45082-7EEE-6EED-D1CF-9E1FF07C79AA}"/>
              </a:ext>
            </a:extLst>
          </p:cNvPr>
          <p:cNvSpPr/>
          <p:nvPr/>
        </p:nvSpPr>
        <p:spPr>
          <a:xfrm>
            <a:off x="502920" y="4046220"/>
            <a:ext cx="5410048" cy="2308860"/>
          </a:xfrm>
          <a:prstGeom prst="roundRect">
            <a:avLst>
              <a:gd name="adj" fmla="val 3564"/>
            </a:avLst>
          </a:prstGeom>
          <a:solidFill>
            <a:srgbClr val="FFFFFF"/>
          </a:solidFill>
          <a:ln w="12700">
            <a:solidFill>
              <a:srgbClr val="E4E7E8"/>
            </a:solidFill>
            <a:prstDash val="solid"/>
          </a:ln>
          <a:effectLst>
            <a:outerShdw blurRad="76200" dist="38100" dir="5400000" algn="bl" rotWithShape="0">
              <a:srgbClr val="3A3A3A">
                <a:alpha val="10000"/>
              </a:srgbClr>
            </a:outerShdw>
          </a:effectLst>
        </p:spPr>
        <p:txBody>
          <a:bodyPr/>
          <a:lstStyle/>
          <a:p>
            <a:endParaRPr lang="en-US"/>
          </a:p>
        </p:txBody>
      </p:sp>
      <p:sp>
        <p:nvSpPr>
          <p:cNvPr id="15" name="Shape 15">
            <a:extLst>
              <a:ext uri="{FF2B5EF4-FFF2-40B4-BE49-F238E27FC236}">
                <a16:creationId xmlns:a16="http://schemas.microsoft.com/office/drawing/2014/main" id="{13410F97-B513-640F-D675-CF3CC29D486C}"/>
              </a:ext>
            </a:extLst>
          </p:cNvPr>
          <p:cNvSpPr/>
          <p:nvPr/>
        </p:nvSpPr>
        <p:spPr>
          <a:xfrm>
            <a:off x="777240" y="4338828"/>
            <a:ext cx="420624" cy="420624"/>
          </a:xfrm>
          <a:prstGeom prst="ellipse">
            <a:avLst/>
          </a:prstGeom>
          <a:solidFill>
            <a:srgbClr val="0FAF2C"/>
          </a:solidFill>
          <a:ln/>
        </p:spPr>
        <p:txBody>
          <a:bodyPr/>
          <a:lstStyle/>
          <a:p>
            <a:endParaRPr lang="en-US"/>
          </a:p>
        </p:txBody>
      </p:sp>
      <p:sp>
        <p:nvSpPr>
          <p:cNvPr id="16" name="Text 16">
            <a:extLst>
              <a:ext uri="{FF2B5EF4-FFF2-40B4-BE49-F238E27FC236}">
                <a16:creationId xmlns:a16="http://schemas.microsoft.com/office/drawing/2014/main" id="{3ACF016F-D918-4EB9-E861-248AF233C911}"/>
              </a:ext>
            </a:extLst>
          </p:cNvPr>
          <p:cNvSpPr/>
          <p:nvPr/>
        </p:nvSpPr>
        <p:spPr>
          <a:xfrm>
            <a:off x="777240" y="4338828"/>
            <a:ext cx="420624" cy="42062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a:t>
            </a:r>
            <a:endParaRPr lang="en-US" sz="1500" dirty="0"/>
          </a:p>
        </p:txBody>
      </p:sp>
      <p:sp>
        <p:nvSpPr>
          <p:cNvPr id="17" name="Text 17">
            <a:extLst>
              <a:ext uri="{FF2B5EF4-FFF2-40B4-BE49-F238E27FC236}">
                <a16:creationId xmlns:a16="http://schemas.microsoft.com/office/drawing/2014/main" id="{D11F5A1B-A271-8F82-FDAE-2A13CB789FF6}"/>
              </a:ext>
            </a:extLst>
          </p:cNvPr>
          <p:cNvSpPr/>
          <p:nvPr/>
        </p:nvSpPr>
        <p:spPr>
          <a:xfrm>
            <a:off x="1362456" y="4283964"/>
            <a:ext cx="4276192" cy="530352"/>
          </a:xfrm>
          <a:prstGeom prst="rect">
            <a:avLst/>
          </a:prstGeom>
          <a:noFill/>
          <a:ln/>
        </p:spPr>
        <p:txBody>
          <a:bodyPr wrap="square" rtlCol="0" anchor="ctr"/>
          <a:lstStyle/>
          <a:p>
            <a:pPr marL="0" indent="0">
              <a:lnSpc>
                <a:spcPts val="1900"/>
              </a:lnSpc>
              <a:buNone/>
            </a:pPr>
            <a:r>
              <a:rPr lang="en-US" sz="1650" b="1" dirty="0">
                <a:solidFill>
                  <a:srgbClr val="0B0E0F"/>
                </a:solidFill>
                <a:latin typeface="Cambria" pitchFamily="34" charset="0"/>
                <a:ea typeface="Cambria" pitchFamily="34" charset="-122"/>
                <a:cs typeface="Cambria" pitchFamily="34" charset="-120"/>
              </a:rPr>
              <a:t>Small Library, High Quality</a:t>
            </a:r>
            <a:endParaRPr lang="en-US" sz="1650" dirty="0"/>
          </a:p>
        </p:txBody>
      </p:sp>
      <p:sp>
        <p:nvSpPr>
          <p:cNvPr id="18" name="Text 18">
            <a:extLst>
              <a:ext uri="{FF2B5EF4-FFF2-40B4-BE49-F238E27FC236}">
                <a16:creationId xmlns:a16="http://schemas.microsoft.com/office/drawing/2014/main" id="{F295C4D0-C80E-11DC-8391-0BFD3D58DC15}"/>
              </a:ext>
            </a:extLst>
          </p:cNvPr>
          <p:cNvSpPr/>
          <p:nvPr/>
        </p:nvSpPr>
        <p:spPr>
          <a:xfrm>
            <a:off x="777240" y="5006340"/>
            <a:ext cx="4861408" cy="1120140"/>
          </a:xfrm>
          <a:prstGeom prst="rect">
            <a:avLst/>
          </a:prstGeom>
          <a:noFill/>
          <a:ln/>
        </p:spPr>
        <p:txBody>
          <a:bodyPr wrap="square" rtlCol="0" anchor="ctr"/>
          <a:lstStyle/>
          <a:p>
            <a:pPr marL="0" indent="0">
              <a:lnSpc>
                <a:spcPts val="1700"/>
              </a:lnSpc>
              <a:buNone/>
            </a:pPr>
            <a:r>
              <a:rPr lang="en-US" sz="1200" dirty="0">
                <a:solidFill>
                  <a:srgbClr val="5B6467"/>
                </a:solidFill>
                <a:latin typeface="Calibri" pitchFamily="34" charset="0"/>
                <a:ea typeface="Calibri" pitchFamily="34" charset="-122"/>
                <a:cs typeface="Calibri" pitchFamily="34" charset="-120"/>
              </a:rPr>
              <a:t>Hulu's catalog is a fraction of Netflix's or Prime Video's size, yet its movies carry the highest average critic score of any major platform.</a:t>
            </a:r>
            <a:endParaRPr lang="en-US" sz="1200" dirty="0"/>
          </a:p>
        </p:txBody>
      </p:sp>
      <p:sp>
        <p:nvSpPr>
          <p:cNvPr id="19" name="Shape 19">
            <a:extLst>
              <a:ext uri="{FF2B5EF4-FFF2-40B4-BE49-F238E27FC236}">
                <a16:creationId xmlns:a16="http://schemas.microsoft.com/office/drawing/2014/main" id="{3CC9265E-B77C-1809-3388-AB4479C23E06}"/>
              </a:ext>
            </a:extLst>
          </p:cNvPr>
          <p:cNvSpPr/>
          <p:nvPr/>
        </p:nvSpPr>
        <p:spPr>
          <a:xfrm>
            <a:off x="6278728" y="4046220"/>
            <a:ext cx="5410048" cy="2308860"/>
          </a:xfrm>
          <a:prstGeom prst="roundRect">
            <a:avLst>
              <a:gd name="adj" fmla="val 3564"/>
            </a:avLst>
          </a:prstGeom>
          <a:solidFill>
            <a:srgbClr val="FFFFFF"/>
          </a:solidFill>
          <a:ln w="12700">
            <a:solidFill>
              <a:srgbClr val="E4E7E8"/>
            </a:solidFill>
            <a:prstDash val="solid"/>
          </a:ln>
          <a:effectLst>
            <a:outerShdw blurRad="76200" dist="38100" dir="5400000" algn="bl" rotWithShape="0">
              <a:srgbClr val="3A3A3A">
                <a:alpha val="10000"/>
              </a:srgbClr>
            </a:outerShdw>
          </a:effectLst>
        </p:spPr>
        <p:txBody>
          <a:bodyPr/>
          <a:lstStyle/>
          <a:p>
            <a:endParaRPr lang="en-US"/>
          </a:p>
        </p:txBody>
      </p:sp>
      <p:sp>
        <p:nvSpPr>
          <p:cNvPr id="20" name="Shape 20">
            <a:extLst>
              <a:ext uri="{FF2B5EF4-FFF2-40B4-BE49-F238E27FC236}">
                <a16:creationId xmlns:a16="http://schemas.microsoft.com/office/drawing/2014/main" id="{6F97F3C3-43DF-D71F-CE7F-F19470E2B9FC}"/>
              </a:ext>
            </a:extLst>
          </p:cNvPr>
          <p:cNvSpPr/>
          <p:nvPr/>
        </p:nvSpPr>
        <p:spPr>
          <a:xfrm>
            <a:off x="6553048" y="4338828"/>
            <a:ext cx="420624" cy="420624"/>
          </a:xfrm>
          <a:prstGeom prst="ellipse">
            <a:avLst/>
          </a:prstGeom>
          <a:solidFill>
            <a:srgbClr val="0FAF2C"/>
          </a:solidFill>
          <a:ln/>
        </p:spPr>
        <p:txBody>
          <a:bodyPr/>
          <a:lstStyle/>
          <a:p>
            <a:endParaRPr lang="en-US"/>
          </a:p>
        </p:txBody>
      </p:sp>
      <p:sp>
        <p:nvSpPr>
          <p:cNvPr id="21" name="Text 21">
            <a:extLst>
              <a:ext uri="{FF2B5EF4-FFF2-40B4-BE49-F238E27FC236}">
                <a16:creationId xmlns:a16="http://schemas.microsoft.com/office/drawing/2014/main" id="{EDB2FBDE-8909-19EB-5471-158887E23914}"/>
              </a:ext>
            </a:extLst>
          </p:cNvPr>
          <p:cNvSpPr/>
          <p:nvPr/>
        </p:nvSpPr>
        <p:spPr>
          <a:xfrm>
            <a:off x="6553048" y="4338828"/>
            <a:ext cx="420624" cy="420624"/>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a:t>
            </a:r>
            <a:endParaRPr lang="en-US" sz="1500" dirty="0"/>
          </a:p>
        </p:txBody>
      </p:sp>
      <p:sp>
        <p:nvSpPr>
          <p:cNvPr id="22" name="Text 22">
            <a:extLst>
              <a:ext uri="{FF2B5EF4-FFF2-40B4-BE49-F238E27FC236}">
                <a16:creationId xmlns:a16="http://schemas.microsoft.com/office/drawing/2014/main" id="{8A92B9A7-F91F-A9DE-DBB3-A14BE7FE7859}"/>
              </a:ext>
            </a:extLst>
          </p:cNvPr>
          <p:cNvSpPr/>
          <p:nvPr/>
        </p:nvSpPr>
        <p:spPr>
          <a:xfrm>
            <a:off x="7138264" y="4283964"/>
            <a:ext cx="4276192" cy="530352"/>
          </a:xfrm>
          <a:prstGeom prst="rect">
            <a:avLst/>
          </a:prstGeom>
          <a:noFill/>
          <a:ln/>
        </p:spPr>
        <p:txBody>
          <a:bodyPr wrap="square" rtlCol="0" anchor="ctr"/>
          <a:lstStyle/>
          <a:p>
            <a:pPr marL="0" indent="0">
              <a:lnSpc>
                <a:spcPts val="1900"/>
              </a:lnSpc>
              <a:buNone/>
            </a:pPr>
            <a:r>
              <a:rPr lang="en-US" sz="1650" b="1" dirty="0">
                <a:solidFill>
                  <a:srgbClr val="0B0E0F"/>
                </a:solidFill>
                <a:latin typeface="Cambria" pitchFamily="34" charset="0"/>
                <a:ea typeface="Cambria" pitchFamily="34" charset="-122"/>
                <a:cs typeface="Cambria" pitchFamily="34" charset="-120"/>
              </a:rPr>
              <a:t>Focus over Scale</a:t>
            </a:r>
            <a:endParaRPr lang="en-US" sz="1650" dirty="0"/>
          </a:p>
        </p:txBody>
      </p:sp>
      <p:sp>
        <p:nvSpPr>
          <p:cNvPr id="23" name="Text 23">
            <a:extLst>
              <a:ext uri="{FF2B5EF4-FFF2-40B4-BE49-F238E27FC236}">
                <a16:creationId xmlns:a16="http://schemas.microsoft.com/office/drawing/2014/main" id="{F4597771-5898-FD2F-3667-CD6F0E003F2F}"/>
              </a:ext>
            </a:extLst>
          </p:cNvPr>
          <p:cNvSpPr/>
          <p:nvPr/>
        </p:nvSpPr>
        <p:spPr>
          <a:xfrm>
            <a:off x="6553048" y="5006340"/>
            <a:ext cx="4861408" cy="1120140"/>
          </a:xfrm>
          <a:prstGeom prst="rect">
            <a:avLst/>
          </a:prstGeom>
          <a:noFill/>
          <a:ln/>
        </p:spPr>
        <p:txBody>
          <a:bodyPr wrap="square" rtlCol="0" anchor="ctr"/>
          <a:lstStyle/>
          <a:p>
            <a:pPr marL="0" indent="0">
              <a:lnSpc>
                <a:spcPts val="1700"/>
              </a:lnSpc>
              <a:buNone/>
            </a:pPr>
            <a:r>
              <a:rPr lang="en-US" sz="1200" dirty="0">
                <a:solidFill>
                  <a:schemeClr val="bg2">
                    <a:lumMod val="50000"/>
                  </a:schemeClr>
                </a:solidFill>
              </a:rPr>
              <a:t>Data and SWOT analysis point to the same strategy: Hulu should compete through differentiation, not catalog scale.</a:t>
            </a:r>
          </a:p>
        </p:txBody>
      </p:sp>
    </p:spTree>
    <p:extLst>
      <p:ext uri="{BB962C8B-B14F-4D97-AF65-F5344CB8AC3E}">
        <p14:creationId xmlns:p14="http://schemas.microsoft.com/office/powerpoint/2010/main" val="2984684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F17194-5FE3-DCA9-954E-62FC1DA0535D}"/>
              </a:ext>
            </a:extLst>
          </p:cNvPr>
          <p:cNvSpPr/>
          <p:nvPr/>
        </p:nvSpPr>
        <p:spPr>
          <a:xfrm>
            <a:off x="582433" y="483241"/>
            <a:ext cx="11183112" cy="566928"/>
          </a:xfrm>
          <a:prstGeom prst="rect">
            <a:avLst/>
          </a:prstGeom>
          <a:noFill/>
          <a:ln/>
        </p:spPr>
        <p:txBody>
          <a:bodyPr wrap="square" rtlCol="0" anchor="ctr"/>
          <a:lstStyle/>
          <a:p>
            <a:pPr marL="0" indent="0">
              <a:buNone/>
            </a:pPr>
            <a:r>
              <a:rPr lang="en-US" sz="2900" b="1" dirty="0">
                <a:solidFill>
                  <a:srgbClr val="14181A"/>
                </a:solidFill>
                <a:latin typeface="Cambria" pitchFamily="34" charset="0"/>
                <a:ea typeface="Cambria" pitchFamily="34" charset="-122"/>
                <a:cs typeface="Cambria" pitchFamily="34" charset="-120"/>
              </a:rPr>
              <a:t>Strategic Recommendation</a:t>
            </a:r>
            <a:endParaRPr lang="en-US" sz="2900" dirty="0"/>
          </a:p>
        </p:txBody>
      </p:sp>
      <p:sp>
        <p:nvSpPr>
          <p:cNvPr id="4" name="Shape 2">
            <a:extLst>
              <a:ext uri="{FF2B5EF4-FFF2-40B4-BE49-F238E27FC236}">
                <a16:creationId xmlns:a16="http://schemas.microsoft.com/office/drawing/2014/main" id="{9CC6C86B-3ABA-A891-0B6C-8CD352FAF2C9}"/>
              </a:ext>
            </a:extLst>
          </p:cNvPr>
          <p:cNvSpPr/>
          <p:nvPr/>
        </p:nvSpPr>
        <p:spPr>
          <a:xfrm>
            <a:off x="502920" y="1371600"/>
            <a:ext cx="11183112" cy="914400"/>
          </a:xfrm>
          <a:prstGeom prst="roundRect">
            <a:avLst>
              <a:gd name="adj" fmla="val 8000"/>
            </a:avLst>
          </a:prstGeom>
          <a:solidFill>
            <a:srgbClr val="E9F5EE"/>
          </a:solidFill>
          <a:ln w="12700">
            <a:solidFill>
              <a:srgbClr val="E9F5EE"/>
            </a:solidFill>
            <a:prstDash val="solid"/>
          </a:ln>
          <a:effectLst>
            <a:outerShdw blurRad="127000" dist="38100" dir="5400000" algn="bl" rotWithShape="0">
              <a:srgbClr val="1A1A1A">
                <a:alpha val="12000"/>
              </a:srgbClr>
            </a:outerShdw>
          </a:effectLst>
        </p:spPr>
        <p:txBody>
          <a:bodyPr/>
          <a:lstStyle/>
          <a:p>
            <a:endParaRPr lang="en-US"/>
          </a:p>
        </p:txBody>
      </p:sp>
      <p:sp>
        <p:nvSpPr>
          <p:cNvPr id="5" name="Text 3">
            <a:extLst>
              <a:ext uri="{FF2B5EF4-FFF2-40B4-BE49-F238E27FC236}">
                <a16:creationId xmlns:a16="http://schemas.microsoft.com/office/drawing/2014/main" id="{C8EFBFE8-8963-8134-1473-0DD33ED58891}"/>
              </a:ext>
            </a:extLst>
          </p:cNvPr>
          <p:cNvSpPr/>
          <p:nvPr/>
        </p:nvSpPr>
        <p:spPr>
          <a:xfrm>
            <a:off x="777240" y="1371600"/>
            <a:ext cx="10607040" cy="914400"/>
          </a:xfrm>
          <a:prstGeom prst="rect">
            <a:avLst/>
          </a:prstGeom>
          <a:noFill/>
          <a:ln/>
        </p:spPr>
        <p:txBody>
          <a:bodyPr wrap="square" rtlCol="0" anchor="ctr"/>
          <a:lstStyle/>
          <a:p>
            <a:pPr marL="0" indent="0">
              <a:lnSpc>
                <a:spcPts val="1800"/>
              </a:lnSpc>
              <a:buNone/>
            </a:pPr>
            <a:r>
              <a:rPr lang="en-US" sz="1350" b="1" dirty="0">
                <a:solidFill>
                  <a:srgbClr val="14181A"/>
                </a:solidFill>
                <a:latin typeface="Calibri" pitchFamily="34" charset="0"/>
                <a:ea typeface="Calibri" pitchFamily="34" charset="-122"/>
                <a:cs typeface="Calibri" pitchFamily="34" charset="-120"/>
              </a:rPr>
              <a:t>Recommendation: </a:t>
            </a:r>
            <a:r>
              <a:rPr lang="en-US" sz="1350" dirty="0">
                <a:solidFill>
                  <a:srgbClr val="5B6467"/>
                </a:solidFill>
                <a:latin typeface="Calibri" pitchFamily="34" charset="0"/>
                <a:ea typeface="Calibri" pitchFamily="34" charset="-122"/>
                <a:cs typeface="Calibri" pitchFamily="34" charset="-120"/>
              </a:rPr>
              <a:t>Invest in exclusive original content and broaden Hulu’s library through strategic licensing, especially in underrepresented genres and release periods.</a:t>
            </a:r>
            <a:endParaRPr lang="en-US" sz="1350" dirty="0"/>
          </a:p>
        </p:txBody>
      </p:sp>
      <p:sp>
        <p:nvSpPr>
          <p:cNvPr id="6" name="Shape 4">
            <a:extLst>
              <a:ext uri="{FF2B5EF4-FFF2-40B4-BE49-F238E27FC236}">
                <a16:creationId xmlns:a16="http://schemas.microsoft.com/office/drawing/2014/main" id="{BC17F660-E891-B63C-FBFE-3852D622E29E}"/>
              </a:ext>
            </a:extLst>
          </p:cNvPr>
          <p:cNvSpPr/>
          <p:nvPr/>
        </p:nvSpPr>
        <p:spPr>
          <a:xfrm>
            <a:off x="502920" y="2514600"/>
            <a:ext cx="11183112" cy="841248"/>
          </a:xfrm>
          <a:prstGeom prst="roundRect">
            <a:avLst>
              <a:gd name="adj" fmla="val 8696"/>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7" name="Shape 5">
            <a:extLst>
              <a:ext uri="{FF2B5EF4-FFF2-40B4-BE49-F238E27FC236}">
                <a16:creationId xmlns:a16="http://schemas.microsoft.com/office/drawing/2014/main" id="{ECF40AFE-1C7A-DBD8-9A90-B7FD2FC4E9B9}"/>
              </a:ext>
            </a:extLst>
          </p:cNvPr>
          <p:cNvSpPr/>
          <p:nvPr/>
        </p:nvSpPr>
        <p:spPr>
          <a:xfrm>
            <a:off x="731520" y="2706624"/>
            <a:ext cx="457200" cy="457200"/>
          </a:xfrm>
          <a:prstGeom prst="ellipse">
            <a:avLst/>
          </a:prstGeom>
          <a:solidFill>
            <a:srgbClr val="14181A"/>
          </a:solidFill>
          <a:ln/>
        </p:spPr>
        <p:txBody>
          <a:bodyPr/>
          <a:lstStyle/>
          <a:p>
            <a:endParaRPr lang="en-US"/>
          </a:p>
        </p:txBody>
      </p:sp>
      <p:pic>
        <p:nvPicPr>
          <p:cNvPr id="8" name="Image 0" descr="/home/claude/work/icons/lightbulb_white.png">
            <a:extLst>
              <a:ext uri="{FF2B5EF4-FFF2-40B4-BE49-F238E27FC236}">
                <a16:creationId xmlns:a16="http://schemas.microsoft.com/office/drawing/2014/main" id="{FC6A9014-DC05-0879-B456-24F25B857B4E}"/>
              </a:ext>
            </a:extLst>
          </p:cNvPr>
          <p:cNvPicPr>
            <a:picLocks noChangeAspect="1"/>
          </p:cNvPicPr>
          <p:nvPr/>
        </p:nvPicPr>
        <p:blipFill>
          <a:blip r:embed="rId2"/>
          <a:stretch>
            <a:fillRect/>
          </a:stretch>
        </p:blipFill>
        <p:spPr>
          <a:xfrm>
            <a:off x="841248" y="2816352"/>
            <a:ext cx="237744" cy="237744"/>
          </a:xfrm>
          <a:prstGeom prst="rect">
            <a:avLst/>
          </a:prstGeom>
        </p:spPr>
      </p:pic>
      <p:sp>
        <p:nvSpPr>
          <p:cNvPr id="9" name="Text 6">
            <a:extLst>
              <a:ext uri="{FF2B5EF4-FFF2-40B4-BE49-F238E27FC236}">
                <a16:creationId xmlns:a16="http://schemas.microsoft.com/office/drawing/2014/main" id="{8883357C-AB09-C9A5-5079-5BF6D7325106}"/>
              </a:ext>
            </a:extLst>
          </p:cNvPr>
          <p:cNvSpPr/>
          <p:nvPr/>
        </p:nvSpPr>
        <p:spPr>
          <a:xfrm>
            <a:off x="1371600" y="2514600"/>
            <a:ext cx="2606040" cy="841248"/>
          </a:xfrm>
          <a:prstGeom prst="rect">
            <a:avLst/>
          </a:prstGeom>
          <a:noFill/>
          <a:ln/>
        </p:spPr>
        <p:txBody>
          <a:bodyPr wrap="square" rtlCol="0" anchor="ctr"/>
          <a:lstStyle/>
          <a:p>
            <a:pPr marL="0" indent="0">
              <a:buNone/>
            </a:pPr>
            <a:r>
              <a:rPr lang="en-US" sz="1050" b="1" kern="0" spc="50" dirty="0">
                <a:solidFill>
                  <a:srgbClr val="14181A"/>
                </a:solidFill>
                <a:latin typeface="Calibri" pitchFamily="34" charset="0"/>
                <a:ea typeface="Calibri" pitchFamily="34" charset="-122"/>
                <a:cs typeface="Calibri" pitchFamily="34" charset="-120"/>
              </a:rPr>
              <a:t>INSIGHT</a:t>
            </a:r>
            <a:endParaRPr lang="en-US" sz="1050" dirty="0"/>
          </a:p>
        </p:txBody>
      </p:sp>
      <p:sp>
        <p:nvSpPr>
          <p:cNvPr id="10" name="Text 7">
            <a:extLst>
              <a:ext uri="{FF2B5EF4-FFF2-40B4-BE49-F238E27FC236}">
                <a16:creationId xmlns:a16="http://schemas.microsoft.com/office/drawing/2014/main" id="{D1318A78-7DEB-F251-F713-5EB18D7DA891}"/>
              </a:ext>
            </a:extLst>
          </p:cNvPr>
          <p:cNvSpPr/>
          <p:nvPr/>
        </p:nvSpPr>
        <p:spPr>
          <a:xfrm>
            <a:off x="4069080" y="2514600"/>
            <a:ext cx="7342632" cy="841248"/>
          </a:xfrm>
          <a:prstGeom prst="rect">
            <a:avLst/>
          </a:prstGeom>
          <a:noFill/>
          <a:ln/>
        </p:spPr>
        <p:txBody>
          <a:bodyPr wrap="square" rtlCol="0" anchor="ctr"/>
          <a:lstStyle/>
          <a:p>
            <a:pPr marL="0" indent="0">
              <a:lnSpc>
                <a:spcPts val="1300"/>
              </a:lnSpc>
              <a:buNone/>
            </a:pPr>
            <a:r>
              <a:rPr lang="en-US" sz="1080" dirty="0">
                <a:solidFill>
                  <a:srgbClr val="5B6467"/>
                </a:solidFill>
                <a:latin typeface="Calibri" pitchFamily="34" charset="0"/>
                <a:ea typeface="Calibri" pitchFamily="34" charset="-122"/>
                <a:cs typeface="Calibri" pitchFamily="34" charset="-120"/>
              </a:rPr>
              <a:t>Hulu consistently achieves higher average content ratings than competing platforms but offers a smaller content library than Netflix and Prime Video.</a:t>
            </a:r>
            <a:endParaRPr lang="en-US" sz="1080" dirty="0"/>
          </a:p>
        </p:txBody>
      </p:sp>
      <p:sp>
        <p:nvSpPr>
          <p:cNvPr id="11" name="Shape 8">
            <a:extLst>
              <a:ext uri="{FF2B5EF4-FFF2-40B4-BE49-F238E27FC236}">
                <a16:creationId xmlns:a16="http://schemas.microsoft.com/office/drawing/2014/main" id="{77E8B7A5-7200-861E-6F1E-86827D306272}"/>
              </a:ext>
            </a:extLst>
          </p:cNvPr>
          <p:cNvSpPr/>
          <p:nvPr/>
        </p:nvSpPr>
        <p:spPr>
          <a:xfrm>
            <a:off x="502920" y="3447288"/>
            <a:ext cx="11183112" cy="841248"/>
          </a:xfrm>
          <a:prstGeom prst="roundRect">
            <a:avLst>
              <a:gd name="adj" fmla="val 8696"/>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12" name="Shape 9">
            <a:extLst>
              <a:ext uri="{FF2B5EF4-FFF2-40B4-BE49-F238E27FC236}">
                <a16:creationId xmlns:a16="http://schemas.microsoft.com/office/drawing/2014/main" id="{C28607FA-174D-76AD-981B-EDCE184A93F9}"/>
              </a:ext>
            </a:extLst>
          </p:cNvPr>
          <p:cNvSpPr/>
          <p:nvPr/>
        </p:nvSpPr>
        <p:spPr>
          <a:xfrm>
            <a:off x="731520" y="3639312"/>
            <a:ext cx="457200" cy="457200"/>
          </a:xfrm>
          <a:prstGeom prst="ellipse">
            <a:avLst/>
          </a:prstGeom>
          <a:solidFill>
            <a:srgbClr val="14181A"/>
          </a:solidFill>
          <a:ln/>
        </p:spPr>
        <p:txBody>
          <a:bodyPr/>
          <a:lstStyle/>
          <a:p>
            <a:endParaRPr lang="en-US"/>
          </a:p>
        </p:txBody>
      </p:sp>
      <p:pic>
        <p:nvPicPr>
          <p:cNvPr id="13" name="Image 1" descr="/home/claude/work/icons/compass_white.png">
            <a:extLst>
              <a:ext uri="{FF2B5EF4-FFF2-40B4-BE49-F238E27FC236}">
                <a16:creationId xmlns:a16="http://schemas.microsoft.com/office/drawing/2014/main" id="{F6A16C4F-154D-E7D3-C99A-70D040C42FCC}"/>
              </a:ext>
            </a:extLst>
          </p:cNvPr>
          <p:cNvPicPr>
            <a:picLocks noChangeAspect="1"/>
          </p:cNvPicPr>
          <p:nvPr/>
        </p:nvPicPr>
        <p:blipFill>
          <a:blip r:embed="rId3"/>
          <a:stretch>
            <a:fillRect/>
          </a:stretch>
        </p:blipFill>
        <p:spPr>
          <a:xfrm>
            <a:off x="841248" y="3749040"/>
            <a:ext cx="237744" cy="237744"/>
          </a:xfrm>
          <a:prstGeom prst="rect">
            <a:avLst/>
          </a:prstGeom>
        </p:spPr>
      </p:pic>
      <p:sp>
        <p:nvSpPr>
          <p:cNvPr id="14" name="Text 10">
            <a:extLst>
              <a:ext uri="{FF2B5EF4-FFF2-40B4-BE49-F238E27FC236}">
                <a16:creationId xmlns:a16="http://schemas.microsoft.com/office/drawing/2014/main" id="{0DA14A6B-CAD5-234A-6BF5-4E92D6CE13FC}"/>
              </a:ext>
            </a:extLst>
          </p:cNvPr>
          <p:cNvSpPr/>
          <p:nvPr/>
        </p:nvSpPr>
        <p:spPr>
          <a:xfrm>
            <a:off x="1371600" y="3447288"/>
            <a:ext cx="2606040" cy="841248"/>
          </a:xfrm>
          <a:prstGeom prst="rect">
            <a:avLst/>
          </a:prstGeom>
          <a:noFill/>
          <a:ln/>
        </p:spPr>
        <p:txBody>
          <a:bodyPr wrap="square" rtlCol="0" anchor="ctr"/>
          <a:lstStyle/>
          <a:p>
            <a:pPr marL="0" indent="0">
              <a:buNone/>
            </a:pPr>
            <a:r>
              <a:rPr lang="en-US" sz="1050" b="1" kern="0" spc="50" dirty="0">
                <a:solidFill>
                  <a:srgbClr val="14181A"/>
                </a:solidFill>
                <a:latin typeface="Calibri" pitchFamily="34" charset="0"/>
                <a:ea typeface="Calibri" pitchFamily="34" charset="-122"/>
                <a:cs typeface="Calibri" pitchFamily="34" charset="-120"/>
              </a:rPr>
              <a:t>STRATEGIC IMPLICATION</a:t>
            </a:r>
            <a:endParaRPr lang="en-US" sz="1050" dirty="0"/>
          </a:p>
        </p:txBody>
      </p:sp>
      <p:sp>
        <p:nvSpPr>
          <p:cNvPr id="15" name="Text 11">
            <a:extLst>
              <a:ext uri="{FF2B5EF4-FFF2-40B4-BE49-F238E27FC236}">
                <a16:creationId xmlns:a16="http://schemas.microsoft.com/office/drawing/2014/main" id="{EFA21BEE-4F6B-FEB8-5DBF-AD2866C5C39E}"/>
              </a:ext>
            </a:extLst>
          </p:cNvPr>
          <p:cNvSpPr/>
          <p:nvPr/>
        </p:nvSpPr>
        <p:spPr>
          <a:xfrm>
            <a:off x="4069080" y="3447288"/>
            <a:ext cx="7342632" cy="841248"/>
          </a:xfrm>
          <a:prstGeom prst="rect">
            <a:avLst/>
          </a:prstGeom>
          <a:noFill/>
          <a:ln/>
        </p:spPr>
        <p:txBody>
          <a:bodyPr wrap="square" rtlCol="0" anchor="ctr"/>
          <a:lstStyle/>
          <a:p>
            <a:pPr marL="0" indent="0">
              <a:lnSpc>
                <a:spcPts val="1300"/>
              </a:lnSpc>
              <a:buNone/>
            </a:pPr>
            <a:r>
              <a:rPr lang="en-US" sz="1080" dirty="0">
                <a:solidFill>
                  <a:srgbClr val="5B6467"/>
                </a:solidFill>
                <a:latin typeface="Calibri" pitchFamily="34" charset="0"/>
                <a:ea typeface="Calibri" pitchFamily="34" charset="-122"/>
                <a:cs typeface="Calibri" pitchFamily="34" charset="-120"/>
              </a:rPr>
              <a:t>Hulu’s reputation for high-quality programming creates a strong competitive advantage, but its smaller catalog may limit its ability to attract and retain subscribers seeking greater content variety.</a:t>
            </a:r>
            <a:endParaRPr lang="en-US" sz="1080" dirty="0"/>
          </a:p>
        </p:txBody>
      </p:sp>
      <p:sp>
        <p:nvSpPr>
          <p:cNvPr id="16" name="Shape 12">
            <a:extLst>
              <a:ext uri="{FF2B5EF4-FFF2-40B4-BE49-F238E27FC236}">
                <a16:creationId xmlns:a16="http://schemas.microsoft.com/office/drawing/2014/main" id="{695ED21C-1D56-7299-E6AF-FC099C3A8387}"/>
              </a:ext>
            </a:extLst>
          </p:cNvPr>
          <p:cNvSpPr/>
          <p:nvPr/>
        </p:nvSpPr>
        <p:spPr>
          <a:xfrm>
            <a:off x="502920" y="4379976"/>
            <a:ext cx="11183112" cy="841248"/>
          </a:xfrm>
          <a:prstGeom prst="roundRect">
            <a:avLst>
              <a:gd name="adj" fmla="val 8696"/>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17" name="Shape 13">
            <a:extLst>
              <a:ext uri="{FF2B5EF4-FFF2-40B4-BE49-F238E27FC236}">
                <a16:creationId xmlns:a16="http://schemas.microsoft.com/office/drawing/2014/main" id="{F612B94E-5A89-5548-2BBA-6E198DBB18B2}"/>
              </a:ext>
            </a:extLst>
          </p:cNvPr>
          <p:cNvSpPr/>
          <p:nvPr/>
        </p:nvSpPr>
        <p:spPr>
          <a:xfrm>
            <a:off x="731520" y="4572000"/>
            <a:ext cx="457200" cy="457200"/>
          </a:xfrm>
          <a:prstGeom prst="ellipse">
            <a:avLst/>
          </a:prstGeom>
          <a:solidFill>
            <a:srgbClr val="2FA76B"/>
          </a:solidFill>
          <a:ln/>
        </p:spPr>
        <p:txBody>
          <a:bodyPr/>
          <a:lstStyle/>
          <a:p>
            <a:endParaRPr lang="en-US"/>
          </a:p>
        </p:txBody>
      </p:sp>
      <p:pic>
        <p:nvPicPr>
          <p:cNvPr id="18" name="Image 2" descr="/home/claude/work/icons/zap_white.png">
            <a:extLst>
              <a:ext uri="{FF2B5EF4-FFF2-40B4-BE49-F238E27FC236}">
                <a16:creationId xmlns:a16="http://schemas.microsoft.com/office/drawing/2014/main" id="{C9FA342F-10B0-D61D-3753-A13BE95EBB38}"/>
              </a:ext>
            </a:extLst>
          </p:cNvPr>
          <p:cNvPicPr>
            <a:picLocks noChangeAspect="1"/>
          </p:cNvPicPr>
          <p:nvPr/>
        </p:nvPicPr>
        <p:blipFill>
          <a:blip r:embed="rId4"/>
          <a:stretch>
            <a:fillRect/>
          </a:stretch>
        </p:blipFill>
        <p:spPr>
          <a:xfrm>
            <a:off x="841248" y="4681728"/>
            <a:ext cx="237744" cy="237744"/>
          </a:xfrm>
          <a:prstGeom prst="rect">
            <a:avLst/>
          </a:prstGeom>
        </p:spPr>
      </p:pic>
      <p:sp>
        <p:nvSpPr>
          <p:cNvPr id="19" name="Text 14">
            <a:extLst>
              <a:ext uri="{FF2B5EF4-FFF2-40B4-BE49-F238E27FC236}">
                <a16:creationId xmlns:a16="http://schemas.microsoft.com/office/drawing/2014/main" id="{12597B52-12C3-E98B-4AB1-C0A33000D39E}"/>
              </a:ext>
            </a:extLst>
          </p:cNvPr>
          <p:cNvSpPr/>
          <p:nvPr/>
        </p:nvSpPr>
        <p:spPr>
          <a:xfrm>
            <a:off x="1371600" y="4379976"/>
            <a:ext cx="2606040" cy="841248"/>
          </a:xfrm>
          <a:prstGeom prst="rect">
            <a:avLst/>
          </a:prstGeom>
          <a:noFill/>
          <a:ln/>
        </p:spPr>
        <p:txBody>
          <a:bodyPr wrap="square" rtlCol="0" anchor="ctr"/>
          <a:lstStyle/>
          <a:p>
            <a:pPr marL="0" indent="0">
              <a:buNone/>
            </a:pPr>
            <a:r>
              <a:rPr lang="en-US" sz="1050" b="1" kern="0" spc="50" dirty="0">
                <a:solidFill>
                  <a:srgbClr val="1C7A4C"/>
                </a:solidFill>
                <a:latin typeface="Calibri" pitchFamily="34" charset="0"/>
                <a:ea typeface="Calibri" pitchFamily="34" charset="-122"/>
                <a:cs typeface="Calibri" pitchFamily="34" charset="-120"/>
              </a:rPr>
              <a:t>ACTION</a:t>
            </a:r>
            <a:endParaRPr lang="en-US" sz="1050" dirty="0"/>
          </a:p>
        </p:txBody>
      </p:sp>
      <p:sp>
        <p:nvSpPr>
          <p:cNvPr id="20" name="Text 15">
            <a:extLst>
              <a:ext uri="{FF2B5EF4-FFF2-40B4-BE49-F238E27FC236}">
                <a16:creationId xmlns:a16="http://schemas.microsoft.com/office/drawing/2014/main" id="{F3560C0D-2C8A-7462-9072-4341892114E5}"/>
              </a:ext>
            </a:extLst>
          </p:cNvPr>
          <p:cNvSpPr/>
          <p:nvPr/>
        </p:nvSpPr>
        <p:spPr>
          <a:xfrm>
            <a:off x="4069080" y="4379976"/>
            <a:ext cx="7342632" cy="841248"/>
          </a:xfrm>
          <a:prstGeom prst="rect">
            <a:avLst/>
          </a:prstGeom>
          <a:noFill/>
          <a:ln/>
        </p:spPr>
        <p:txBody>
          <a:bodyPr wrap="square" rtlCol="0" anchor="ctr"/>
          <a:lstStyle/>
          <a:p>
            <a:pPr marL="0" indent="0">
              <a:lnSpc>
                <a:spcPts val="1300"/>
              </a:lnSpc>
              <a:buNone/>
            </a:pPr>
            <a:r>
              <a:rPr lang="en-US" sz="1080" dirty="0">
                <a:solidFill>
                  <a:srgbClr val="5B6467"/>
                </a:solidFill>
                <a:latin typeface="Calibri" pitchFamily="34" charset="0"/>
                <a:ea typeface="Calibri" pitchFamily="34" charset="-122"/>
                <a:cs typeface="Calibri" pitchFamily="34" charset="-120"/>
              </a:rPr>
              <a:t>Hulu should invest in expanding its portfolio of exclusive original content while broadening its content library through strategic licensing, particularly in underrepresented genres and release periods.</a:t>
            </a:r>
            <a:endParaRPr lang="en-US" sz="1080" dirty="0"/>
          </a:p>
        </p:txBody>
      </p:sp>
      <p:sp>
        <p:nvSpPr>
          <p:cNvPr id="21" name="Shape 16">
            <a:extLst>
              <a:ext uri="{FF2B5EF4-FFF2-40B4-BE49-F238E27FC236}">
                <a16:creationId xmlns:a16="http://schemas.microsoft.com/office/drawing/2014/main" id="{ECEAA873-A5A9-A191-7E0F-1ADEE56C7BD3}"/>
              </a:ext>
            </a:extLst>
          </p:cNvPr>
          <p:cNvSpPr/>
          <p:nvPr/>
        </p:nvSpPr>
        <p:spPr>
          <a:xfrm>
            <a:off x="502920" y="5312664"/>
            <a:ext cx="11183112" cy="841248"/>
          </a:xfrm>
          <a:prstGeom prst="roundRect">
            <a:avLst>
              <a:gd name="adj" fmla="val 8696"/>
            </a:avLst>
          </a:prstGeom>
          <a:solidFill>
            <a:srgbClr val="FFFFFF"/>
          </a:solidFill>
          <a:ln w="12700">
            <a:solidFill>
              <a:srgbClr val="E3E7E6"/>
            </a:solidFill>
            <a:prstDash val="solid"/>
          </a:ln>
          <a:effectLst>
            <a:outerShdw blurRad="127000" dist="38100" dir="5400000" algn="bl" rotWithShape="0">
              <a:srgbClr val="1A1A1A">
                <a:alpha val="12000"/>
              </a:srgbClr>
            </a:outerShdw>
          </a:effectLst>
        </p:spPr>
        <p:txBody>
          <a:bodyPr/>
          <a:lstStyle/>
          <a:p>
            <a:endParaRPr lang="en-US"/>
          </a:p>
        </p:txBody>
      </p:sp>
      <p:sp>
        <p:nvSpPr>
          <p:cNvPr id="22" name="Shape 17">
            <a:extLst>
              <a:ext uri="{FF2B5EF4-FFF2-40B4-BE49-F238E27FC236}">
                <a16:creationId xmlns:a16="http://schemas.microsoft.com/office/drawing/2014/main" id="{2DF957A4-B456-1A1C-262D-85A9CEF899A7}"/>
              </a:ext>
            </a:extLst>
          </p:cNvPr>
          <p:cNvSpPr/>
          <p:nvPr/>
        </p:nvSpPr>
        <p:spPr>
          <a:xfrm>
            <a:off x="731520" y="5504688"/>
            <a:ext cx="457200" cy="457200"/>
          </a:xfrm>
          <a:prstGeom prst="ellipse">
            <a:avLst/>
          </a:prstGeom>
          <a:solidFill>
            <a:srgbClr val="2FA76B"/>
          </a:solidFill>
          <a:ln/>
        </p:spPr>
        <p:txBody>
          <a:bodyPr/>
          <a:lstStyle/>
          <a:p>
            <a:endParaRPr lang="en-US"/>
          </a:p>
        </p:txBody>
      </p:sp>
      <p:pic>
        <p:nvPicPr>
          <p:cNvPr id="23" name="Image 3" descr="/home/claude/work/icons/checkCircle_white.png">
            <a:extLst>
              <a:ext uri="{FF2B5EF4-FFF2-40B4-BE49-F238E27FC236}">
                <a16:creationId xmlns:a16="http://schemas.microsoft.com/office/drawing/2014/main" id="{32BE5CAA-2EAC-DEE0-9418-5C8D1E8DA538}"/>
              </a:ext>
            </a:extLst>
          </p:cNvPr>
          <p:cNvPicPr>
            <a:picLocks noChangeAspect="1"/>
          </p:cNvPicPr>
          <p:nvPr/>
        </p:nvPicPr>
        <p:blipFill>
          <a:blip r:embed="rId5"/>
          <a:stretch>
            <a:fillRect/>
          </a:stretch>
        </p:blipFill>
        <p:spPr>
          <a:xfrm>
            <a:off x="841248" y="5614416"/>
            <a:ext cx="237744" cy="237744"/>
          </a:xfrm>
          <a:prstGeom prst="rect">
            <a:avLst/>
          </a:prstGeom>
        </p:spPr>
      </p:pic>
      <p:sp>
        <p:nvSpPr>
          <p:cNvPr id="24" name="Text 18">
            <a:extLst>
              <a:ext uri="{FF2B5EF4-FFF2-40B4-BE49-F238E27FC236}">
                <a16:creationId xmlns:a16="http://schemas.microsoft.com/office/drawing/2014/main" id="{D2EC1C0A-F754-9BF6-55C5-FF5A64716006}"/>
              </a:ext>
            </a:extLst>
          </p:cNvPr>
          <p:cNvSpPr/>
          <p:nvPr/>
        </p:nvSpPr>
        <p:spPr>
          <a:xfrm>
            <a:off x="1371600" y="5312664"/>
            <a:ext cx="2606040" cy="841248"/>
          </a:xfrm>
          <a:prstGeom prst="rect">
            <a:avLst/>
          </a:prstGeom>
          <a:noFill/>
          <a:ln/>
        </p:spPr>
        <p:txBody>
          <a:bodyPr wrap="square" rtlCol="0" anchor="ctr"/>
          <a:lstStyle/>
          <a:p>
            <a:pPr marL="0" indent="0">
              <a:buNone/>
            </a:pPr>
            <a:r>
              <a:rPr lang="en-US" sz="1050" b="1" kern="0" spc="50" dirty="0">
                <a:solidFill>
                  <a:srgbClr val="1C7A4C"/>
                </a:solidFill>
                <a:latin typeface="Calibri" pitchFamily="34" charset="0"/>
                <a:ea typeface="Calibri" pitchFamily="34" charset="-122"/>
                <a:cs typeface="Calibri" pitchFamily="34" charset="-120"/>
              </a:rPr>
              <a:t>OUTCOME</a:t>
            </a:r>
            <a:endParaRPr lang="en-US" sz="1050" dirty="0"/>
          </a:p>
        </p:txBody>
      </p:sp>
      <p:sp>
        <p:nvSpPr>
          <p:cNvPr id="25" name="Text 19">
            <a:extLst>
              <a:ext uri="{FF2B5EF4-FFF2-40B4-BE49-F238E27FC236}">
                <a16:creationId xmlns:a16="http://schemas.microsoft.com/office/drawing/2014/main" id="{06982239-34CC-EC10-489C-BBCB294347A4}"/>
              </a:ext>
            </a:extLst>
          </p:cNvPr>
          <p:cNvSpPr/>
          <p:nvPr/>
        </p:nvSpPr>
        <p:spPr>
          <a:xfrm>
            <a:off x="4069080" y="5312664"/>
            <a:ext cx="7342632" cy="841248"/>
          </a:xfrm>
          <a:prstGeom prst="rect">
            <a:avLst/>
          </a:prstGeom>
          <a:noFill/>
          <a:ln/>
        </p:spPr>
        <p:txBody>
          <a:bodyPr wrap="square" rtlCol="0" anchor="ctr"/>
          <a:lstStyle/>
          <a:p>
            <a:pPr marL="0" indent="0">
              <a:lnSpc>
                <a:spcPts val="1300"/>
              </a:lnSpc>
              <a:buNone/>
            </a:pPr>
            <a:r>
              <a:rPr lang="en-US" sz="1080" dirty="0">
                <a:solidFill>
                  <a:srgbClr val="5B6467"/>
                </a:solidFill>
                <a:latin typeface="Calibri" pitchFamily="34" charset="0"/>
                <a:ea typeface="Calibri" pitchFamily="34" charset="-122"/>
                <a:cs typeface="Calibri" pitchFamily="34" charset="-120"/>
              </a:rPr>
              <a:t>Expanding both the quality and variety of Hulu’s content would strengthen its competitive position, improve subscriber retention, attract new audiences, and reduce the risk of customers switching to competitors with larger libraries.</a:t>
            </a:r>
            <a:endParaRPr lang="en-US" sz="1080" dirty="0"/>
          </a:p>
        </p:txBody>
      </p:sp>
    </p:spTree>
    <p:extLst>
      <p:ext uri="{BB962C8B-B14F-4D97-AF65-F5344CB8AC3E}">
        <p14:creationId xmlns:p14="http://schemas.microsoft.com/office/powerpoint/2010/main" val="1783850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DC81EEDC-6E1D-05E9-56BB-8792C366ED98}"/>
              </a:ext>
            </a:extLst>
          </p:cNvPr>
          <p:cNvSpPr/>
          <p:nvPr/>
        </p:nvSpPr>
        <p:spPr>
          <a:xfrm>
            <a:off x="502920" y="476126"/>
            <a:ext cx="11183112" cy="566928"/>
          </a:xfrm>
          <a:prstGeom prst="rect">
            <a:avLst/>
          </a:prstGeom>
          <a:noFill/>
          <a:ln/>
        </p:spPr>
        <p:txBody>
          <a:bodyPr wrap="square" rtlCol="0" anchor="ctr"/>
          <a:lstStyle/>
          <a:p>
            <a:pPr marL="0" indent="0">
              <a:buNone/>
            </a:pPr>
            <a:r>
              <a:rPr lang="en-US" sz="2800" b="1" dirty="0">
                <a:solidFill>
                  <a:srgbClr val="0B0E0F"/>
                </a:solidFill>
                <a:latin typeface="Cambria" pitchFamily="34" charset="0"/>
                <a:ea typeface="Cambria" pitchFamily="34" charset="-122"/>
                <a:cs typeface="Cambria" pitchFamily="34" charset="-120"/>
              </a:rPr>
              <a:t>Expected Impact of Strategic Recommendation</a:t>
            </a:r>
            <a:endParaRPr lang="en-US" sz="2800" dirty="0"/>
          </a:p>
        </p:txBody>
      </p:sp>
      <p:sp>
        <p:nvSpPr>
          <p:cNvPr id="4" name="Shape 2">
            <a:extLst>
              <a:ext uri="{FF2B5EF4-FFF2-40B4-BE49-F238E27FC236}">
                <a16:creationId xmlns:a16="http://schemas.microsoft.com/office/drawing/2014/main" id="{E4C3F263-7981-7890-2FC6-01E4C5104F5E}"/>
              </a:ext>
            </a:extLst>
          </p:cNvPr>
          <p:cNvSpPr/>
          <p:nvPr/>
        </p:nvSpPr>
        <p:spPr>
          <a:xfrm>
            <a:off x="1828800" y="1417320"/>
            <a:ext cx="8531352" cy="713232"/>
          </a:xfrm>
          <a:prstGeom prst="roundRect">
            <a:avLst>
              <a:gd name="adj" fmla="val 10256"/>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5" name="Text 3">
            <a:extLst>
              <a:ext uri="{FF2B5EF4-FFF2-40B4-BE49-F238E27FC236}">
                <a16:creationId xmlns:a16="http://schemas.microsoft.com/office/drawing/2014/main" id="{0E99A2B0-3ED9-A051-B853-39069E6B529C}"/>
              </a:ext>
            </a:extLst>
          </p:cNvPr>
          <p:cNvSpPr/>
          <p:nvPr/>
        </p:nvSpPr>
        <p:spPr>
          <a:xfrm>
            <a:off x="2103120" y="1481328"/>
            <a:ext cx="7982712" cy="713232"/>
          </a:xfrm>
          <a:prstGeom prst="rect">
            <a:avLst/>
          </a:prstGeom>
          <a:noFill/>
          <a:ln/>
        </p:spPr>
        <p:txBody>
          <a:bodyPr wrap="square" rtlCol="0" anchor="ctr"/>
          <a:lstStyle/>
          <a:p>
            <a:pPr algn="ctr"/>
            <a:r>
              <a:rPr lang="en-US" sz="1350" b="1" dirty="0">
                <a:solidFill>
                  <a:srgbClr val="14181A"/>
                </a:solidFill>
                <a:latin typeface="Calibri" pitchFamily="34" charset="0"/>
                <a:ea typeface="Calibri" pitchFamily="34" charset="-122"/>
                <a:cs typeface="Calibri" pitchFamily="34" charset="-120"/>
              </a:rPr>
              <a:t>More exclusive originals &amp; targeted licensing in movies, family content, and pre-2010 classics</a:t>
            </a:r>
            <a:endParaRPr lang="en-US" sz="1400" dirty="0"/>
          </a:p>
          <a:p>
            <a:pPr marL="0" indent="0" algn="ctr">
              <a:buNone/>
            </a:pPr>
            <a:endParaRPr lang="en-US" sz="1350" dirty="0"/>
          </a:p>
        </p:txBody>
      </p:sp>
      <p:sp>
        <p:nvSpPr>
          <p:cNvPr id="6" name="Text 4">
            <a:extLst>
              <a:ext uri="{FF2B5EF4-FFF2-40B4-BE49-F238E27FC236}">
                <a16:creationId xmlns:a16="http://schemas.microsoft.com/office/drawing/2014/main" id="{CC3B8803-0361-9084-56EF-DA680A5C028C}"/>
              </a:ext>
            </a:extLst>
          </p:cNvPr>
          <p:cNvSpPr/>
          <p:nvPr/>
        </p:nvSpPr>
        <p:spPr>
          <a:xfrm>
            <a:off x="1828800" y="2194560"/>
            <a:ext cx="8531352" cy="292608"/>
          </a:xfrm>
          <a:prstGeom prst="rect">
            <a:avLst/>
          </a:prstGeom>
          <a:noFill/>
          <a:ln/>
        </p:spPr>
        <p:txBody>
          <a:bodyPr wrap="square" rtlCol="0" anchor="ctr"/>
          <a:lstStyle/>
          <a:p>
            <a:pPr marL="0" indent="0" algn="ctr">
              <a:buNone/>
            </a:pPr>
            <a:r>
              <a:rPr lang="en-US" sz="2000" b="1" dirty="0">
                <a:solidFill>
                  <a:srgbClr val="1C7A4C"/>
                </a:solidFill>
                <a:latin typeface="Calibri" pitchFamily="34" charset="0"/>
                <a:ea typeface="Calibri" pitchFamily="34" charset="-122"/>
                <a:cs typeface="Calibri" pitchFamily="34" charset="-120"/>
              </a:rPr>
              <a:t>↓</a:t>
            </a:r>
            <a:endParaRPr lang="en-US" sz="2000" dirty="0"/>
          </a:p>
        </p:txBody>
      </p:sp>
      <p:sp>
        <p:nvSpPr>
          <p:cNvPr id="7" name="Shape 5">
            <a:extLst>
              <a:ext uri="{FF2B5EF4-FFF2-40B4-BE49-F238E27FC236}">
                <a16:creationId xmlns:a16="http://schemas.microsoft.com/office/drawing/2014/main" id="{7D3561A1-F3D5-CE16-782A-9BA9AE57C48C}"/>
              </a:ext>
            </a:extLst>
          </p:cNvPr>
          <p:cNvSpPr/>
          <p:nvPr/>
        </p:nvSpPr>
        <p:spPr>
          <a:xfrm>
            <a:off x="1828800" y="2487168"/>
            <a:ext cx="8531352" cy="713232"/>
          </a:xfrm>
          <a:prstGeom prst="roundRect">
            <a:avLst>
              <a:gd name="adj" fmla="val 10256"/>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8" name="Text 6">
            <a:extLst>
              <a:ext uri="{FF2B5EF4-FFF2-40B4-BE49-F238E27FC236}">
                <a16:creationId xmlns:a16="http://schemas.microsoft.com/office/drawing/2014/main" id="{24452AE5-B4DD-5B71-1B26-930B2E2EFBC2}"/>
              </a:ext>
            </a:extLst>
          </p:cNvPr>
          <p:cNvSpPr/>
          <p:nvPr/>
        </p:nvSpPr>
        <p:spPr>
          <a:xfrm>
            <a:off x="2103120" y="2487168"/>
            <a:ext cx="7982712" cy="713232"/>
          </a:xfrm>
          <a:prstGeom prst="rect">
            <a:avLst/>
          </a:prstGeom>
          <a:noFill/>
          <a:ln/>
        </p:spPr>
        <p:txBody>
          <a:bodyPr wrap="square" rtlCol="0" anchor="ctr"/>
          <a:lstStyle/>
          <a:p>
            <a:pPr marL="0" indent="0" algn="ctr">
              <a:buNone/>
            </a:pPr>
            <a:r>
              <a:rPr lang="en-US" sz="1350" b="1" dirty="0">
                <a:solidFill>
                  <a:srgbClr val="14181A"/>
                </a:solidFill>
                <a:latin typeface="Calibri" pitchFamily="34" charset="0"/>
                <a:ea typeface="Calibri" pitchFamily="34" charset="-122"/>
                <a:cs typeface="Calibri" pitchFamily="34" charset="-120"/>
              </a:rPr>
              <a:t>Stronger content differentiation and broader audience appeal</a:t>
            </a:r>
            <a:endParaRPr lang="en-US" sz="1350" dirty="0"/>
          </a:p>
        </p:txBody>
      </p:sp>
      <p:sp>
        <p:nvSpPr>
          <p:cNvPr id="9" name="Text 7">
            <a:extLst>
              <a:ext uri="{FF2B5EF4-FFF2-40B4-BE49-F238E27FC236}">
                <a16:creationId xmlns:a16="http://schemas.microsoft.com/office/drawing/2014/main" id="{03F10237-84C1-4D5B-AC22-8863120F404D}"/>
              </a:ext>
            </a:extLst>
          </p:cNvPr>
          <p:cNvSpPr/>
          <p:nvPr/>
        </p:nvSpPr>
        <p:spPr>
          <a:xfrm>
            <a:off x="1828800" y="3200400"/>
            <a:ext cx="8531352" cy="292608"/>
          </a:xfrm>
          <a:prstGeom prst="rect">
            <a:avLst/>
          </a:prstGeom>
          <a:noFill/>
          <a:ln/>
        </p:spPr>
        <p:txBody>
          <a:bodyPr wrap="square" rtlCol="0" anchor="ctr"/>
          <a:lstStyle/>
          <a:p>
            <a:pPr marL="0" indent="0" algn="ctr">
              <a:buNone/>
            </a:pPr>
            <a:r>
              <a:rPr lang="en-US" sz="2000" b="1" dirty="0">
                <a:solidFill>
                  <a:srgbClr val="1C7A4C"/>
                </a:solidFill>
                <a:latin typeface="Calibri" pitchFamily="34" charset="0"/>
                <a:ea typeface="Calibri" pitchFamily="34" charset="-122"/>
                <a:cs typeface="Calibri" pitchFamily="34" charset="-120"/>
              </a:rPr>
              <a:t>↓</a:t>
            </a:r>
            <a:endParaRPr lang="en-US" sz="2000" dirty="0"/>
          </a:p>
        </p:txBody>
      </p:sp>
      <p:sp>
        <p:nvSpPr>
          <p:cNvPr id="10" name="Shape 8">
            <a:extLst>
              <a:ext uri="{FF2B5EF4-FFF2-40B4-BE49-F238E27FC236}">
                <a16:creationId xmlns:a16="http://schemas.microsoft.com/office/drawing/2014/main" id="{0045F38D-913B-F6B9-C0D4-B06F98E8D6F8}"/>
              </a:ext>
            </a:extLst>
          </p:cNvPr>
          <p:cNvSpPr/>
          <p:nvPr/>
        </p:nvSpPr>
        <p:spPr>
          <a:xfrm>
            <a:off x="1828800" y="3493008"/>
            <a:ext cx="8531352" cy="713232"/>
          </a:xfrm>
          <a:prstGeom prst="roundRect">
            <a:avLst>
              <a:gd name="adj" fmla="val 10256"/>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11" name="Text 9">
            <a:extLst>
              <a:ext uri="{FF2B5EF4-FFF2-40B4-BE49-F238E27FC236}">
                <a16:creationId xmlns:a16="http://schemas.microsoft.com/office/drawing/2014/main" id="{F9A1866F-0CD5-9831-DE66-218543BC809D}"/>
              </a:ext>
            </a:extLst>
          </p:cNvPr>
          <p:cNvSpPr/>
          <p:nvPr/>
        </p:nvSpPr>
        <p:spPr>
          <a:xfrm>
            <a:off x="2103120" y="3493008"/>
            <a:ext cx="7982712" cy="713232"/>
          </a:xfrm>
          <a:prstGeom prst="rect">
            <a:avLst/>
          </a:prstGeom>
          <a:noFill/>
          <a:ln/>
        </p:spPr>
        <p:txBody>
          <a:bodyPr wrap="square" rtlCol="0" anchor="ctr"/>
          <a:lstStyle/>
          <a:p>
            <a:pPr marL="0" indent="0" algn="ctr">
              <a:buNone/>
            </a:pPr>
            <a:r>
              <a:rPr lang="en-US" sz="1350" b="1" dirty="0">
                <a:solidFill>
                  <a:srgbClr val="14181A"/>
                </a:solidFill>
                <a:latin typeface="Calibri" pitchFamily="34" charset="0"/>
                <a:ea typeface="Calibri" pitchFamily="34" charset="-122"/>
                <a:cs typeface="Calibri" pitchFamily="34" charset="-120"/>
              </a:rPr>
              <a:t>Higher viewer engagement and increased Disney+ bundle adoption</a:t>
            </a:r>
            <a:endParaRPr lang="en-US" sz="1350" dirty="0"/>
          </a:p>
        </p:txBody>
      </p:sp>
      <p:sp>
        <p:nvSpPr>
          <p:cNvPr id="12" name="Text 10">
            <a:extLst>
              <a:ext uri="{FF2B5EF4-FFF2-40B4-BE49-F238E27FC236}">
                <a16:creationId xmlns:a16="http://schemas.microsoft.com/office/drawing/2014/main" id="{10DF3392-C944-F900-8E82-5BFDC44A75BD}"/>
              </a:ext>
            </a:extLst>
          </p:cNvPr>
          <p:cNvSpPr/>
          <p:nvPr/>
        </p:nvSpPr>
        <p:spPr>
          <a:xfrm>
            <a:off x="1828800" y="4206240"/>
            <a:ext cx="8531352" cy="292608"/>
          </a:xfrm>
          <a:prstGeom prst="rect">
            <a:avLst/>
          </a:prstGeom>
          <a:noFill/>
          <a:ln/>
        </p:spPr>
        <p:txBody>
          <a:bodyPr wrap="square" rtlCol="0" anchor="ctr"/>
          <a:lstStyle/>
          <a:p>
            <a:pPr marL="0" indent="0" algn="ctr">
              <a:buNone/>
            </a:pPr>
            <a:r>
              <a:rPr lang="en-US" sz="2000" b="1" dirty="0">
                <a:solidFill>
                  <a:srgbClr val="1C7A4C"/>
                </a:solidFill>
                <a:latin typeface="Calibri" pitchFamily="34" charset="0"/>
                <a:ea typeface="Calibri" pitchFamily="34" charset="-122"/>
                <a:cs typeface="Calibri" pitchFamily="34" charset="-120"/>
              </a:rPr>
              <a:t>↓</a:t>
            </a:r>
            <a:endParaRPr lang="en-US" sz="2000" dirty="0"/>
          </a:p>
        </p:txBody>
      </p:sp>
      <p:sp>
        <p:nvSpPr>
          <p:cNvPr id="13" name="Shape 11">
            <a:extLst>
              <a:ext uri="{FF2B5EF4-FFF2-40B4-BE49-F238E27FC236}">
                <a16:creationId xmlns:a16="http://schemas.microsoft.com/office/drawing/2014/main" id="{66950220-0296-BF2F-18BE-D7681DF57D08}"/>
              </a:ext>
            </a:extLst>
          </p:cNvPr>
          <p:cNvSpPr/>
          <p:nvPr/>
        </p:nvSpPr>
        <p:spPr>
          <a:xfrm>
            <a:off x="1828800" y="4498848"/>
            <a:ext cx="8531352" cy="713232"/>
          </a:xfrm>
          <a:prstGeom prst="roundRect">
            <a:avLst>
              <a:gd name="adj" fmla="val 10256"/>
            </a:avLst>
          </a:prstGeom>
          <a:solidFill>
            <a:srgbClr val="F3F5F4"/>
          </a:solidFill>
          <a:ln w="12700">
            <a:solidFill>
              <a:srgbClr val="F3F5F4"/>
            </a:solidFill>
            <a:prstDash val="solid"/>
          </a:ln>
          <a:effectLst>
            <a:outerShdw blurRad="127000" dist="38100" dir="5400000" algn="bl" rotWithShape="0">
              <a:srgbClr val="1A1A1A">
                <a:alpha val="12000"/>
              </a:srgbClr>
            </a:outerShdw>
          </a:effectLst>
        </p:spPr>
        <p:txBody>
          <a:bodyPr/>
          <a:lstStyle/>
          <a:p>
            <a:endParaRPr lang="en-US"/>
          </a:p>
        </p:txBody>
      </p:sp>
      <p:sp>
        <p:nvSpPr>
          <p:cNvPr id="14" name="Text 12">
            <a:extLst>
              <a:ext uri="{FF2B5EF4-FFF2-40B4-BE49-F238E27FC236}">
                <a16:creationId xmlns:a16="http://schemas.microsoft.com/office/drawing/2014/main" id="{D240DD4A-02B4-C883-628D-AB6BF296F179}"/>
              </a:ext>
            </a:extLst>
          </p:cNvPr>
          <p:cNvSpPr/>
          <p:nvPr/>
        </p:nvSpPr>
        <p:spPr>
          <a:xfrm>
            <a:off x="2103120" y="4498848"/>
            <a:ext cx="7982712" cy="713232"/>
          </a:xfrm>
          <a:prstGeom prst="rect">
            <a:avLst/>
          </a:prstGeom>
          <a:noFill/>
          <a:ln/>
        </p:spPr>
        <p:txBody>
          <a:bodyPr wrap="square" rtlCol="0" anchor="ctr"/>
          <a:lstStyle/>
          <a:p>
            <a:pPr marL="0" indent="0" algn="ctr">
              <a:buNone/>
            </a:pPr>
            <a:r>
              <a:rPr lang="en-US" sz="1350" b="1" dirty="0">
                <a:solidFill>
                  <a:srgbClr val="14181A"/>
                </a:solidFill>
                <a:latin typeface="Calibri" pitchFamily="34" charset="0"/>
                <a:ea typeface="Calibri" pitchFamily="34" charset="-122"/>
                <a:cs typeface="Calibri" pitchFamily="34" charset="-120"/>
              </a:rPr>
              <a:t>Higher subscriber retention, subscriber growth, and lower churn</a:t>
            </a:r>
            <a:endParaRPr lang="en-US" sz="1350" dirty="0"/>
          </a:p>
        </p:txBody>
      </p:sp>
      <p:sp>
        <p:nvSpPr>
          <p:cNvPr id="15" name="Text 13">
            <a:extLst>
              <a:ext uri="{FF2B5EF4-FFF2-40B4-BE49-F238E27FC236}">
                <a16:creationId xmlns:a16="http://schemas.microsoft.com/office/drawing/2014/main" id="{FF34ED75-13D0-FDF1-AA94-3221219CAAE6}"/>
              </a:ext>
            </a:extLst>
          </p:cNvPr>
          <p:cNvSpPr/>
          <p:nvPr/>
        </p:nvSpPr>
        <p:spPr>
          <a:xfrm>
            <a:off x="1828800" y="5212080"/>
            <a:ext cx="8531352" cy="292608"/>
          </a:xfrm>
          <a:prstGeom prst="rect">
            <a:avLst/>
          </a:prstGeom>
          <a:noFill/>
          <a:ln/>
        </p:spPr>
        <p:txBody>
          <a:bodyPr wrap="square" rtlCol="0" anchor="ctr"/>
          <a:lstStyle/>
          <a:p>
            <a:pPr marL="0" indent="0" algn="ctr">
              <a:buNone/>
            </a:pPr>
            <a:r>
              <a:rPr lang="en-US" sz="2000" b="1" dirty="0">
                <a:solidFill>
                  <a:srgbClr val="1C7A4C"/>
                </a:solidFill>
                <a:latin typeface="Calibri" pitchFamily="34" charset="0"/>
                <a:ea typeface="Calibri" pitchFamily="34" charset="-122"/>
                <a:cs typeface="Calibri" pitchFamily="34" charset="-120"/>
              </a:rPr>
              <a:t>↓</a:t>
            </a:r>
            <a:endParaRPr lang="en-US" sz="2000" dirty="0"/>
          </a:p>
        </p:txBody>
      </p:sp>
      <p:sp>
        <p:nvSpPr>
          <p:cNvPr id="16" name="Shape 14">
            <a:extLst>
              <a:ext uri="{FF2B5EF4-FFF2-40B4-BE49-F238E27FC236}">
                <a16:creationId xmlns:a16="http://schemas.microsoft.com/office/drawing/2014/main" id="{2B9099C4-7AD8-6BB6-A24B-EC99CF978D26}"/>
              </a:ext>
            </a:extLst>
          </p:cNvPr>
          <p:cNvSpPr/>
          <p:nvPr/>
        </p:nvSpPr>
        <p:spPr>
          <a:xfrm>
            <a:off x="1828800" y="5504688"/>
            <a:ext cx="8531352" cy="713232"/>
          </a:xfrm>
          <a:prstGeom prst="roundRect">
            <a:avLst>
              <a:gd name="adj" fmla="val 10256"/>
            </a:avLst>
          </a:prstGeom>
          <a:solidFill>
            <a:srgbClr val="14181A"/>
          </a:solidFill>
          <a:ln w="12700">
            <a:solidFill>
              <a:srgbClr val="14181A"/>
            </a:solidFill>
            <a:prstDash val="solid"/>
          </a:ln>
          <a:effectLst>
            <a:outerShdw blurRad="127000" dist="38100" dir="5400000" algn="bl" rotWithShape="0">
              <a:srgbClr val="1A1A1A">
                <a:alpha val="12000"/>
              </a:srgbClr>
            </a:outerShdw>
          </a:effectLst>
        </p:spPr>
        <p:txBody>
          <a:bodyPr/>
          <a:lstStyle/>
          <a:p>
            <a:endParaRPr lang="en-US"/>
          </a:p>
        </p:txBody>
      </p:sp>
      <p:sp>
        <p:nvSpPr>
          <p:cNvPr id="17" name="Text 15">
            <a:extLst>
              <a:ext uri="{FF2B5EF4-FFF2-40B4-BE49-F238E27FC236}">
                <a16:creationId xmlns:a16="http://schemas.microsoft.com/office/drawing/2014/main" id="{46B45F0E-EC29-7181-0B20-D7CD7C803E7E}"/>
              </a:ext>
            </a:extLst>
          </p:cNvPr>
          <p:cNvSpPr/>
          <p:nvPr/>
        </p:nvSpPr>
        <p:spPr>
          <a:xfrm>
            <a:off x="2103120" y="5504688"/>
            <a:ext cx="7982712" cy="713232"/>
          </a:xfrm>
          <a:prstGeom prst="rect">
            <a:avLst/>
          </a:prstGeom>
          <a:noFill/>
          <a:ln/>
        </p:spPr>
        <p:txBody>
          <a:bodyPr wrap="square" rtlCol="0" anchor="ctr"/>
          <a:lstStyle/>
          <a:p>
            <a:pPr marL="0" indent="0" algn="ctr">
              <a:buNone/>
            </a:pPr>
            <a:r>
              <a:rPr lang="en-US" sz="1350" b="1" dirty="0">
                <a:solidFill>
                  <a:srgbClr val="2FA76B"/>
                </a:solidFill>
                <a:latin typeface="Calibri" pitchFamily="34" charset="0"/>
                <a:ea typeface="Calibri" pitchFamily="34" charset="-122"/>
                <a:cs typeface="Calibri" pitchFamily="34" charset="-120"/>
              </a:rPr>
              <a:t>Higher subscriber base and annual revenue</a:t>
            </a:r>
            <a:endParaRPr lang="en-US" sz="1350" dirty="0"/>
          </a:p>
        </p:txBody>
      </p:sp>
    </p:spTree>
    <p:extLst>
      <p:ext uri="{BB962C8B-B14F-4D97-AF65-F5344CB8AC3E}">
        <p14:creationId xmlns:p14="http://schemas.microsoft.com/office/powerpoint/2010/main" val="3572579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4">
            <a:extLst>
              <a:ext uri="{FF2B5EF4-FFF2-40B4-BE49-F238E27FC236}">
                <a16:creationId xmlns:a16="http://schemas.microsoft.com/office/drawing/2014/main" id="{64528C27-4315-7119-EA02-6C713C04B7A7}"/>
              </a:ext>
            </a:extLst>
          </p:cNvPr>
          <p:cNvSpPr/>
          <p:nvPr/>
        </p:nvSpPr>
        <p:spPr>
          <a:xfrm>
            <a:off x="502920" y="1371600"/>
            <a:ext cx="11185855" cy="658368"/>
          </a:xfrm>
          <a:prstGeom prst="roundRect">
            <a:avLst>
              <a:gd name="adj" fmla="val 13889"/>
            </a:avLst>
          </a:prstGeom>
          <a:solidFill>
            <a:srgbClr val="0B0E0F"/>
          </a:solidFill>
          <a:ln/>
        </p:spPr>
        <p:txBody>
          <a:bodyPr/>
          <a:lstStyle/>
          <a:p>
            <a:endParaRPr lang="en-US"/>
          </a:p>
        </p:txBody>
      </p:sp>
      <p:sp>
        <p:nvSpPr>
          <p:cNvPr id="5" name="Text 5">
            <a:extLst>
              <a:ext uri="{FF2B5EF4-FFF2-40B4-BE49-F238E27FC236}">
                <a16:creationId xmlns:a16="http://schemas.microsoft.com/office/drawing/2014/main" id="{54B31D3A-B57F-4CAA-AB37-59A0B346F522}"/>
              </a:ext>
            </a:extLst>
          </p:cNvPr>
          <p:cNvSpPr/>
          <p:nvPr/>
        </p:nvSpPr>
        <p:spPr>
          <a:xfrm>
            <a:off x="502920" y="1371600"/>
            <a:ext cx="11185855" cy="658368"/>
          </a:xfrm>
          <a:prstGeom prst="rect">
            <a:avLst/>
          </a:prstGeom>
          <a:noFill/>
          <a:ln/>
        </p:spPr>
        <p:txBody>
          <a:bodyPr wrap="square" rtlCol="0" anchor="ctr"/>
          <a:lstStyle/>
          <a:p>
            <a:pPr marL="0" indent="0" algn="ctr">
              <a:buNone/>
            </a:pPr>
            <a:r>
              <a:rPr lang="en-US" sz="1500" dirty="0">
                <a:solidFill>
                  <a:srgbClr val="B9BFC0"/>
                </a:solidFill>
                <a:latin typeface="Cambria" pitchFamily="34" charset="0"/>
                <a:ea typeface="Cambria" pitchFamily="34" charset="-122"/>
                <a:cs typeface="Cambria" pitchFamily="34" charset="-120"/>
              </a:rPr>
              <a:t>Revenue  =  </a:t>
            </a:r>
            <a:r>
              <a:rPr lang="en-US" sz="1500" b="1" dirty="0">
                <a:solidFill>
                  <a:srgbClr val="1CE783"/>
                </a:solidFill>
                <a:latin typeface="Cambria" pitchFamily="34" charset="0"/>
                <a:ea typeface="Cambria" pitchFamily="34" charset="-122"/>
                <a:cs typeface="Cambria" pitchFamily="34" charset="-120"/>
              </a:rPr>
              <a:t>Total Subscribers</a:t>
            </a:r>
            <a:r>
              <a:rPr lang="en-US" sz="1500" dirty="0">
                <a:solidFill>
                  <a:srgbClr val="B9BFC0"/>
                </a:solidFill>
                <a:latin typeface="Cambria" pitchFamily="34" charset="0"/>
                <a:ea typeface="Cambria" pitchFamily="34" charset="-122"/>
                <a:cs typeface="Cambria" pitchFamily="34" charset="-120"/>
              </a:rPr>
              <a:t>  ×  </a:t>
            </a:r>
            <a:r>
              <a:rPr lang="en-US" sz="1500" b="1" dirty="0">
                <a:solidFill>
                  <a:srgbClr val="1CE783"/>
                </a:solidFill>
                <a:latin typeface="Cambria" pitchFamily="34" charset="0"/>
                <a:ea typeface="Cambria" pitchFamily="34" charset="-122"/>
                <a:cs typeface="Cambria" pitchFamily="34" charset="-120"/>
              </a:rPr>
              <a:t>Avg. Monthly Revenue per User</a:t>
            </a:r>
            <a:r>
              <a:rPr lang="en-US" sz="1500" dirty="0">
                <a:solidFill>
                  <a:srgbClr val="B9BFC0"/>
                </a:solidFill>
                <a:latin typeface="Cambria" pitchFamily="34" charset="0"/>
                <a:ea typeface="Cambria" pitchFamily="34" charset="-122"/>
                <a:cs typeface="Cambria" pitchFamily="34" charset="-120"/>
              </a:rPr>
              <a:t>  ×  12</a:t>
            </a:r>
            <a:endParaRPr lang="en-US" sz="1500" dirty="0"/>
          </a:p>
        </p:txBody>
      </p:sp>
      <p:sp>
        <p:nvSpPr>
          <p:cNvPr id="6" name="Shape 6">
            <a:extLst>
              <a:ext uri="{FF2B5EF4-FFF2-40B4-BE49-F238E27FC236}">
                <a16:creationId xmlns:a16="http://schemas.microsoft.com/office/drawing/2014/main" id="{65867533-346C-C732-9D2E-D7373D253DF1}"/>
              </a:ext>
            </a:extLst>
          </p:cNvPr>
          <p:cNvSpPr/>
          <p:nvPr/>
        </p:nvSpPr>
        <p:spPr>
          <a:xfrm>
            <a:off x="502920" y="2331720"/>
            <a:ext cx="2514600" cy="566928"/>
          </a:xfrm>
          <a:prstGeom prst="rect">
            <a:avLst/>
          </a:prstGeom>
          <a:solidFill>
            <a:srgbClr val="0B0E0F"/>
          </a:solidFill>
          <a:ln w="12700">
            <a:solidFill>
              <a:srgbClr val="0B0E0F"/>
            </a:solidFill>
            <a:prstDash val="solid"/>
          </a:ln>
        </p:spPr>
        <p:txBody>
          <a:bodyPr/>
          <a:lstStyle/>
          <a:p>
            <a:endParaRPr lang="en-US" dirty="0"/>
          </a:p>
        </p:txBody>
      </p:sp>
      <p:sp>
        <p:nvSpPr>
          <p:cNvPr id="7" name="Text 7">
            <a:extLst>
              <a:ext uri="{FF2B5EF4-FFF2-40B4-BE49-F238E27FC236}">
                <a16:creationId xmlns:a16="http://schemas.microsoft.com/office/drawing/2014/main" id="{A49A1F98-88BD-C242-75A1-D07DCE924EAB}"/>
              </a:ext>
            </a:extLst>
          </p:cNvPr>
          <p:cNvSpPr/>
          <p:nvPr/>
        </p:nvSpPr>
        <p:spPr>
          <a:xfrm>
            <a:off x="640080" y="2331720"/>
            <a:ext cx="2240280" cy="566928"/>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8" name="Shape 8">
            <a:extLst>
              <a:ext uri="{FF2B5EF4-FFF2-40B4-BE49-F238E27FC236}">
                <a16:creationId xmlns:a16="http://schemas.microsoft.com/office/drawing/2014/main" id="{3280FD01-DC1E-DB86-7FD0-5C352EBAB51C}"/>
              </a:ext>
            </a:extLst>
          </p:cNvPr>
          <p:cNvSpPr/>
          <p:nvPr/>
        </p:nvSpPr>
        <p:spPr>
          <a:xfrm>
            <a:off x="3017520" y="2331720"/>
            <a:ext cx="1874520" cy="566928"/>
          </a:xfrm>
          <a:prstGeom prst="rect">
            <a:avLst/>
          </a:prstGeom>
          <a:solidFill>
            <a:srgbClr val="0B0E0F"/>
          </a:solidFill>
          <a:ln w="12700">
            <a:solidFill>
              <a:srgbClr val="0B0E0F"/>
            </a:solidFill>
            <a:prstDash val="solid"/>
          </a:ln>
        </p:spPr>
        <p:txBody>
          <a:bodyPr/>
          <a:lstStyle/>
          <a:p>
            <a:endParaRPr lang="en-US"/>
          </a:p>
        </p:txBody>
      </p:sp>
      <p:sp>
        <p:nvSpPr>
          <p:cNvPr id="9" name="Text 9">
            <a:extLst>
              <a:ext uri="{FF2B5EF4-FFF2-40B4-BE49-F238E27FC236}">
                <a16:creationId xmlns:a16="http://schemas.microsoft.com/office/drawing/2014/main" id="{856E3BA1-9651-BDB4-D69E-D3B7A4738C5C}"/>
              </a:ext>
            </a:extLst>
          </p:cNvPr>
          <p:cNvSpPr/>
          <p:nvPr/>
        </p:nvSpPr>
        <p:spPr>
          <a:xfrm>
            <a:off x="3154680" y="2331720"/>
            <a:ext cx="160020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Today</a:t>
            </a:r>
            <a:endParaRPr lang="en-US" sz="1300" dirty="0"/>
          </a:p>
        </p:txBody>
      </p:sp>
      <p:sp>
        <p:nvSpPr>
          <p:cNvPr id="10" name="Shape 10">
            <a:extLst>
              <a:ext uri="{FF2B5EF4-FFF2-40B4-BE49-F238E27FC236}">
                <a16:creationId xmlns:a16="http://schemas.microsoft.com/office/drawing/2014/main" id="{E1284851-EB02-28E6-145E-C4C06C5B39E4}"/>
              </a:ext>
            </a:extLst>
          </p:cNvPr>
          <p:cNvSpPr/>
          <p:nvPr/>
        </p:nvSpPr>
        <p:spPr>
          <a:xfrm>
            <a:off x="4892040" y="2331720"/>
            <a:ext cx="2286000" cy="566928"/>
          </a:xfrm>
          <a:prstGeom prst="rect">
            <a:avLst/>
          </a:prstGeom>
          <a:solidFill>
            <a:srgbClr val="0B0E0F"/>
          </a:solidFill>
          <a:ln w="12700">
            <a:solidFill>
              <a:srgbClr val="0B0E0F"/>
            </a:solidFill>
            <a:prstDash val="solid"/>
          </a:ln>
        </p:spPr>
        <p:txBody>
          <a:bodyPr/>
          <a:lstStyle/>
          <a:p>
            <a:endParaRPr lang="en-US"/>
          </a:p>
        </p:txBody>
      </p:sp>
      <p:sp>
        <p:nvSpPr>
          <p:cNvPr id="11" name="Text 11">
            <a:extLst>
              <a:ext uri="{FF2B5EF4-FFF2-40B4-BE49-F238E27FC236}">
                <a16:creationId xmlns:a16="http://schemas.microsoft.com/office/drawing/2014/main" id="{0261B5E1-C9F0-5496-D603-2F6856DDFBBA}"/>
              </a:ext>
            </a:extLst>
          </p:cNvPr>
          <p:cNvSpPr/>
          <p:nvPr/>
        </p:nvSpPr>
        <p:spPr>
          <a:xfrm>
            <a:off x="5029200" y="2331720"/>
            <a:ext cx="201168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Projected Impact (+7%)</a:t>
            </a:r>
            <a:endParaRPr lang="en-US" sz="1300" dirty="0"/>
          </a:p>
        </p:txBody>
      </p:sp>
      <p:sp>
        <p:nvSpPr>
          <p:cNvPr id="12" name="Shape 12">
            <a:extLst>
              <a:ext uri="{FF2B5EF4-FFF2-40B4-BE49-F238E27FC236}">
                <a16:creationId xmlns:a16="http://schemas.microsoft.com/office/drawing/2014/main" id="{3E4A843E-57A2-A6F2-4745-A389D5C91EA5}"/>
              </a:ext>
            </a:extLst>
          </p:cNvPr>
          <p:cNvSpPr/>
          <p:nvPr/>
        </p:nvSpPr>
        <p:spPr>
          <a:xfrm>
            <a:off x="502920" y="2898648"/>
            <a:ext cx="2514600" cy="566928"/>
          </a:xfrm>
          <a:prstGeom prst="rect">
            <a:avLst/>
          </a:prstGeom>
          <a:solidFill>
            <a:srgbClr val="FFFFFF"/>
          </a:solidFill>
          <a:ln w="12700">
            <a:solidFill>
              <a:srgbClr val="E4E7E8"/>
            </a:solidFill>
            <a:prstDash val="solid"/>
          </a:ln>
        </p:spPr>
        <p:txBody>
          <a:bodyPr/>
          <a:lstStyle/>
          <a:p>
            <a:endParaRPr lang="en-US"/>
          </a:p>
        </p:txBody>
      </p:sp>
      <p:sp>
        <p:nvSpPr>
          <p:cNvPr id="13" name="Text 13">
            <a:extLst>
              <a:ext uri="{FF2B5EF4-FFF2-40B4-BE49-F238E27FC236}">
                <a16:creationId xmlns:a16="http://schemas.microsoft.com/office/drawing/2014/main" id="{6D9BD2BA-A594-0CB5-0FC5-51F873DB26C2}"/>
              </a:ext>
            </a:extLst>
          </p:cNvPr>
          <p:cNvSpPr/>
          <p:nvPr/>
        </p:nvSpPr>
        <p:spPr>
          <a:xfrm>
            <a:off x="640080" y="2898648"/>
            <a:ext cx="2240280" cy="566928"/>
          </a:xfrm>
          <a:prstGeom prst="rect">
            <a:avLst/>
          </a:prstGeom>
          <a:noFill/>
          <a:ln/>
        </p:spPr>
        <p:txBody>
          <a:bodyPr wrap="square" rtlCol="0" anchor="ctr"/>
          <a:lstStyle/>
          <a:p>
            <a:pPr marL="0" indent="0" algn="l">
              <a:buNone/>
            </a:pPr>
            <a:r>
              <a:rPr lang="en-US" sz="1200" b="1" dirty="0">
                <a:solidFill>
                  <a:srgbClr val="1A1D1E"/>
                </a:solidFill>
                <a:latin typeface="Calibri" pitchFamily="34" charset="0"/>
                <a:ea typeface="Calibri" pitchFamily="34" charset="-122"/>
                <a:cs typeface="Calibri" pitchFamily="34" charset="-120"/>
              </a:rPr>
              <a:t>Total subscribers</a:t>
            </a:r>
            <a:endParaRPr lang="en-US" sz="1200" dirty="0"/>
          </a:p>
        </p:txBody>
      </p:sp>
      <p:sp>
        <p:nvSpPr>
          <p:cNvPr id="14" name="Shape 14">
            <a:extLst>
              <a:ext uri="{FF2B5EF4-FFF2-40B4-BE49-F238E27FC236}">
                <a16:creationId xmlns:a16="http://schemas.microsoft.com/office/drawing/2014/main" id="{AF45630D-9041-31A3-4CAE-4B1B61960882}"/>
              </a:ext>
            </a:extLst>
          </p:cNvPr>
          <p:cNvSpPr/>
          <p:nvPr/>
        </p:nvSpPr>
        <p:spPr>
          <a:xfrm>
            <a:off x="3017520" y="2898648"/>
            <a:ext cx="1874520" cy="566928"/>
          </a:xfrm>
          <a:prstGeom prst="rect">
            <a:avLst/>
          </a:prstGeom>
          <a:solidFill>
            <a:srgbClr val="FFFFFF"/>
          </a:solidFill>
          <a:ln w="12700">
            <a:solidFill>
              <a:srgbClr val="E4E7E8"/>
            </a:solidFill>
            <a:prstDash val="solid"/>
          </a:ln>
        </p:spPr>
        <p:txBody>
          <a:bodyPr/>
          <a:lstStyle/>
          <a:p>
            <a:endParaRPr lang="en-US"/>
          </a:p>
        </p:txBody>
      </p:sp>
      <p:sp>
        <p:nvSpPr>
          <p:cNvPr id="15" name="Text 15">
            <a:extLst>
              <a:ext uri="{FF2B5EF4-FFF2-40B4-BE49-F238E27FC236}">
                <a16:creationId xmlns:a16="http://schemas.microsoft.com/office/drawing/2014/main" id="{D6375F4F-5AB5-1574-2DF9-610E4ED30B6E}"/>
              </a:ext>
            </a:extLst>
          </p:cNvPr>
          <p:cNvSpPr/>
          <p:nvPr/>
        </p:nvSpPr>
        <p:spPr>
          <a:xfrm>
            <a:off x="3154680" y="2898648"/>
            <a:ext cx="1600200" cy="566928"/>
          </a:xfrm>
          <a:prstGeom prst="rect">
            <a:avLst/>
          </a:prstGeom>
          <a:noFill/>
          <a:ln/>
        </p:spPr>
        <p:txBody>
          <a:bodyPr wrap="square" rtlCol="0" anchor="ctr"/>
          <a:lstStyle/>
          <a:p>
            <a:pPr marL="0" indent="0" algn="ctr">
              <a:buNone/>
            </a:pPr>
            <a:r>
              <a:rPr lang="en-US" sz="1300" dirty="0">
                <a:solidFill>
                  <a:srgbClr val="1A1D1E"/>
                </a:solidFill>
                <a:latin typeface="Calibri" pitchFamily="34" charset="0"/>
                <a:ea typeface="Calibri" pitchFamily="34" charset="-122"/>
                <a:cs typeface="Calibri" pitchFamily="34" charset="-120"/>
              </a:rPr>
              <a:t>64.1M</a:t>
            </a:r>
            <a:endParaRPr lang="en-US" sz="1300" dirty="0"/>
          </a:p>
        </p:txBody>
      </p:sp>
      <p:sp>
        <p:nvSpPr>
          <p:cNvPr id="16" name="Shape 16">
            <a:extLst>
              <a:ext uri="{FF2B5EF4-FFF2-40B4-BE49-F238E27FC236}">
                <a16:creationId xmlns:a16="http://schemas.microsoft.com/office/drawing/2014/main" id="{C05EE0B2-0468-F620-777D-647F2C76F000}"/>
              </a:ext>
            </a:extLst>
          </p:cNvPr>
          <p:cNvSpPr/>
          <p:nvPr/>
        </p:nvSpPr>
        <p:spPr>
          <a:xfrm>
            <a:off x="4892040" y="2898648"/>
            <a:ext cx="2286000" cy="566928"/>
          </a:xfrm>
          <a:prstGeom prst="rect">
            <a:avLst/>
          </a:prstGeom>
          <a:solidFill>
            <a:srgbClr val="FFFFFF"/>
          </a:solidFill>
          <a:ln w="12700">
            <a:solidFill>
              <a:srgbClr val="E4E7E8"/>
            </a:solidFill>
            <a:prstDash val="solid"/>
          </a:ln>
        </p:spPr>
        <p:txBody>
          <a:bodyPr/>
          <a:lstStyle/>
          <a:p>
            <a:endParaRPr lang="en-US"/>
          </a:p>
        </p:txBody>
      </p:sp>
      <p:sp>
        <p:nvSpPr>
          <p:cNvPr id="17" name="Text 17">
            <a:extLst>
              <a:ext uri="{FF2B5EF4-FFF2-40B4-BE49-F238E27FC236}">
                <a16:creationId xmlns:a16="http://schemas.microsoft.com/office/drawing/2014/main" id="{219D1D1C-924D-608E-42B7-F32E2893BA3E}"/>
              </a:ext>
            </a:extLst>
          </p:cNvPr>
          <p:cNvSpPr/>
          <p:nvPr/>
        </p:nvSpPr>
        <p:spPr>
          <a:xfrm>
            <a:off x="5029200" y="2898648"/>
            <a:ext cx="2011680" cy="566928"/>
          </a:xfrm>
          <a:prstGeom prst="rect">
            <a:avLst/>
          </a:prstGeom>
          <a:noFill/>
          <a:ln/>
        </p:spPr>
        <p:txBody>
          <a:bodyPr wrap="square" rtlCol="0" anchor="ctr"/>
          <a:lstStyle/>
          <a:p>
            <a:pPr marL="0" indent="0" algn="ctr">
              <a:buNone/>
            </a:pPr>
            <a:r>
              <a:rPr lang="en-US" sz="1300" dirty="0">
                <a:solidFill>
                  <a:srgbClr val="1A1D1E"/>
                </a:solidFill>
                <a:latin typeface="Calibri" pitchFamily="34" charset="0"/>
                <a:ea typeface="Calibri" pitchFamily="34" charset="-122"/>
                <a:cs typeface="Calibri" pitchFamily="34" charset="-120"/>
              </a:rPr>
              <a:t>68.6M</a:t>
            </a:r>
            <a:endParaRPr lang="en-US" sz="1300" dirty="0"/>
          </a:p>
        </p:txBody>
      </p:sp>
      <p:sp>
        <p:nvSpPr>
          <p:cNvPr id="18" name="Shape 18">
            <a:extLst>
              <a:ext uri="{FF2B5EF4-FFF2-40B4-BE49-F238E27FC236}">
                <a16:creationId xmlns:a16="http://schemas.microsoft.com/office/drawing/2014/main" id="{5A8E1FB6-019A-28EB-AA72-0E54087A5FE6}"/>
              </a:ext>
            </a:extLst>
          </p:cNvPr>
          <p:cNvSpPr/>
          <p:nvPr/>
        </p:nvSpPr>
        <p:spPr>
          <a:xfrm>
            <a:off x="502920" y="3465576"/>
            <a:ext cx="2514600" cy="566928"/>
          </a:xfrm>
          <a:prstGeom prst="rect">
            <a:avLst/>
          </a:prstGeom>
          <a:solidFill>
            <a:srgbClr val="F4F5F6"/>
          </a:solidFill>
          <a:ln w="12700">
            <a:solidFill>
              <a:srgbClr val="E4E7E8"/>
            </a:solidFill>
            <a:prstDash val="solid"/>
          </a:ln>
        </p:spPr>
        <p:txBody>
          <a:bodyPr/>
          <a:lstStyle/>
          <a:p>
            <a:endParaRPr lang="en-US"/>
          </a:p>
        </p:txBody>
      </p:sp>
      <p:sp>
        <p:nvSpPr>
          <p:cNvPr id="19" name="Text 19">
            <a:extLst>
              <a:ext uri="{FF2B5EF4-FFF2-40B4-BE49-F238E27FC236}">
                <a16:creationId xmlns:a16="http://schemas.microsoft.com/office/drawing/2014/main" id="{6FDC631C-4510-279D-4ED0-9BD6267B4AD6}"/>
              </a:ext>
            </a:extLst>
          </p:cNvPr>
          <p:cNvSpPr/>
          <p:nvPr/>
        </p:nvSpPr>
        <p:spPr>
          <a:xfrm>
            <a:off x="640080" y="3465576"/>
            <a:ext cx="2240280" cy="566928"/>
          </a:xfrm>
          <a:prstGeom prst="rect">
            <a:avLst/>
          </a:prstGeom>
          <a:noFill/>
          <a:ln/>
        </p:spPr>
        <p:txBody>
          <a:bodyPr wrap="square" rtlCol="0" anchor="ctr"/>
          <a:lstStyle/>
          <a:p>
            <a:pPr marL="0" indent="0" algn="l">
              <a:buNone/>
            </a:pPr>
            <a:r>
              <a:rPr lang="en-US" sz="1200" b="1" dirty="0">
                <a:solidFill>
                  <a:srgbClr val="1A1D1E"/>
                </a:solidFill>
                <a:latin typeface="Calibri" pitchFamily="34" charset="0"/>
                <a:ea typeface="Calibri" pitchFamily="34" charset="-122"/>
                <a:cs typeface="Calibri" pitchFamily="34" charset="-120"/>
              </a:rPr>
              <a:t>Avg. monthly revenue per user</a:t>
            </a:r>
            <a:endParaRPr lang="en-US" sz="1200" dirty="0"/>
          </a:p>
        </p:txBody>
      </p:sp>
      <p:sp>
        <p:nvSpPr>
          <p:cNvPr id="20" name="Shape 20">
            <a:extLst>
              <a:ext uri="{FF2B5EF4-FFF2-40B4-BE49-F238E27FC236}">
                <a16:creationId xmlns:a16="http://schemas.microsoft.com/office/drawing/2014/main" id="{F6B84A2B-86A9-4E62-C279-75A9EC146ADB}"/>
              </a:ext>
            </a:extLst>
          </p:cNvPr>
          <p:cNvSpPr/>
          <p:nvPr/>
        </p:nvSpPr>
        <p:spPr>
          <a:xfrm>
            <a:off x="3017520" y="3465576"/>
            <a:ext cx="1874520" cy="566928"/>
          </a:xfrm>
          <a:prstGeom prst="rect">
            <a:avLst/>
          </a:prstGeom>
          <a:solidFill>
            <a:srgbClr val="F4F5F6"/>
          </a:solidFill>
          <a:ln w="12700">
            <a:solidFill>
              <a:srgbClr val="E4E7E8"/>
            </a:solidFill>
            <a:prstDash val="solid"/>
          </a:ln>
        </p:spPr>
        <p:txBody>
          <a:bodyPr/>
          <a:lstStyle/>
          <a:p>
            <a:endParaRPr lang="en-US"/>
          </a:p>
        </p:txBody>
      </p:sp>
      <p:sp>
        <p:nvSpPr>
          <p:cNvPr id="21" name="Text 21">
            <a:extLst>
              <a:ext uri="{FF2B5EF4-FFF2-40B4-BE49-F238E27FC236}">
                <a16:creationId xmlns:a16="http://schemas.microsoft.com/office/drawing/2014/main" id="{D51D5440-C002-5281-1AEB-B53697CE7972}"/>
              </a:ext>
            </a:extLst>
          </p:cNvPr>
          <p:cNvSpPr/>
          <p:nvPr/>
        </p:nvSpPr>
        <p:spPr>
          <a:xfrm>
            <a:off x="3154680" y="3465576"/>
            <a:ext cx="1600200" cy="566928"/>
          </a:xfrm>
          <a:prstGeom prst="rect">
            <a:avLst/>
          </a:prstGeom>
          <a:noFill/>
          <a:ln/>
        </p:spPr>
        <p:txBody>
          <a:bodyPr wrap="square" rtlCol="0" anchor="ctr"/>
          <a:lstStyle/>
          <a:p>
            <a:pPr marL="0" indent="0" algn="ctr">
              <a:buNone/>
            </a:pPr>
            <a:r>
              <a:rPr lang="en-US" sz="1300" dirty="0">
                <a:solidFill>
                  <a:srgbClr val="1A1D1E"/>
                </a:solidFill>
                <a:latin typeface="Calibri" pitchFamily="34" charset="0"/>
                <a:ea typeface="Calibri" pitchFamily="34" charset="-122"/>
                <a:cs typeface="Calibri" pitchFamily="34" charset="-120"/>
              </a:rPr>
              <a:t>$12.29</a:t>
            </a:r>
            <a:endParaRPr lang="en-US" sz="1300" dirty="0"/>
          </a:p>
        </p:txBody>
      </p:sp>
      <p:sp>
        <p:nvSpPr>
          <p:cNvPr id="22" name="Shape 22">
            <a:extLst>
              <a:ext uri="{FF2B5EF4-FFF2-40B4-BE49-F238E27FC236}">
                <a16:creationId xmlns:a16="http://schemas.microsoft.com/office/drawing/2014/main" id="{224CAAD6-7215-246C-E629-1D0AC8B1257B}"/>
              </a:ext>
            </a:extLst>
          </p:cNvPr>
          <p:cNvSpPr/>
          <p:nvPr/>
        </p:nvSpPr>
        <p:spPr>
          <a:xfrm>
            <a:off x="4892040" y="3465576"/>
            <a:ext cx="2286000" cy="566928"/>
          </a:xfrm>
          <a:prstGeom prst="rect">
            <a:avLst/>
          </a:prstGeom>
          <a:solidFill>
            <a:srgbClr val="F4F5F6"/>
          </a:solidFill>
          <a:ln w="12700">
            <a:solidFill>
              <a:srgbClr val="E4E7E8"/>
            </a:solidFill>
            <a:prstDash val="solid"/>
          </a:ln>
        </p:spPr>
        <p:txBody>
          <a:bodyPr/>
          <a:lstStyle/>
          <a:p>
            <a:endParaRPr lang="en-US"/>
          </a:p>
        </p:txBody>
      </p:sp>
      <p:sp>
        <p:nvSpPr>
          <p:cNvPr id="23" name="Text 23">
            <a:extLst>
              <a:ext uri="{FF2B5EF4-FFF2-40B4-BE49-F238E27FC236}">
                <a16:creationId xmlns:a16="http://schemas.microsoft.com/office/drawing/2014/main" id="{34C66548-12D6-7F6B-AA58-D9505A2ACB27}"/>
              </a:ext>
            </a:extLst>
          </p:cNvPr>
          <p:cNvSpPr/>
          <p:nvPr/>
        </p:nvSpPr>
        <p:spPr>
          <a:xfrm>
            <a:off x="5029200" y="3465576"/>
            <a:ext cx="2011680" cy="566928"/>
          </a:xfrm>
          <a:prstGeom prst="rect">
            <a:avLst/>
          </a:prstGeom>
          <a:noFill/>
          <a:ln/>
        </p:spPr>
        <p:txBody>
          <a:bodyPr wrap="square" rtlCol="0" anchor="ctr"/>
          <a:lstStyle/>
          <a:p>
            <a:pPr marL="0" indent="0" algn="ctr">
              <a:buNone/>
            </a:pPr>
            <a:r>
              <a:rPr lang="en-US" sz="1300" dirty="0">
                <a:solidFill>
                  <a:srgbClr val="1A1D1E"/>
                </a:solidFill>
                <a:latin typeface="Calibri" pitchFamily="34" charset="0"/>
                <a:ea typeface="Calibri" pitchFamily="34" charset="-122"/>
                <a:cs typeface="Calibri" pitchFamily="34" charset="-120"/>
              </a:rPr>
              <a:t>$12.29</a:t>
            </a:r>
            <a:endParaRPr lang="en-US" sz="1300" dirty="0"/>
          </a:p>
        </p:txBody>
      </p:sp>
      <p:sp>
        <p:nvSpPr>
          <p:cNvPr id="24" name="Shape 24">
            <a:extLst>
              <a:ext uri="{FF2B5EF4-FFF2-40B4-BE49-F238E27FC236}">
                <a16:creationId xmlns:a16="http://schemas.microsoft.com/office/drawing/2014/main" id="{9B10FCBF-CED8-7F9E-9352-6FB1AD720162}"/>
              </a:ext>
            </a:extLst>
          </p:cNvPr>
          <p:cNvSpPr/>
          <p:nvPr/>
        </p:nvSpPr>
        <p:spPr>
          <a:xfrm>
            <a:off x="502920" y="4032504"/>
            <a:ext cx="2514600" cy="566928"/>
          </a:xfrm>
          <a:prstGeom prst="rect">
            <a:avLst/>
          </a:prstGeom>
          <a:solidFill>
            <a:srgbClr val="E7FBF1"/>
          </a:solidFill>
          <a:ln w="12700">
            <a:solidFill>
              <a:srgbClr val="E4E7E8"/>
            </a:solidFill>
            <a:prstDash val="solid"/>
          </a:ln>
        </p:spPr>
        <p:txBody>
          <a:bodyPr/>
          <a:lstStyle/>
          <a:p>
            <a:endParaRPr lang="en-US"/>
          </a:p>
        </p:txBody>
      </p:sp>
      <p:sp>
        <p:nvSpPr>
          <p:cNvPr id="25" name="Text 25">
            <a:extLst>
              <a:ext uri="{FF2B5EF4-FFF2-40B4-BE49-F238E27FC236}">
                <a16:creationId xmlns:a16="http://schemas.microsoft.com/office/drawing/2014/main" id="{50171CEB-C746-A383-5D99-AFCCAA2E3B10}"/>
              </a:ext>
            </a:extLst>
          </p:cNvPr>
          <p:cNvSpPr/>
          <p:nvPr/>
        </p:nvSpPr>
        <p:spPr>
          <a:xfrm>
            <a:off x="640080" y="4032504"/>
            <a:ext cx="2240280" cy="566928"/>
          </a:xfrm>
          <a:prstGeom prst="rect">
            <a:avLst/>
          </a:prstGeom>
          <a:noFill/>
          <a:ln/>
        </p:spPr>
        <p:txBody>
          <a:bodyPr wrap="square" rtlCol="0" anchor="ctr"/>
          <a:lstStyle/>
          <a:p>
            <a:pPr marL="0" indent="0" algn="l">
              <a:buNone/>
            </a:pPr>
            <a:r>
              <a:rPr lang="en-US" sz="1200" b="1" dirty="0">
                <a:solidFill>
                  <a:srgbClr val="0F9D5A"/>
                </a:solidFill>
                <a:latin typeface="Calibri" pitchFamily="34" charset="0"/>
                <a:ea typeface="Calibri" pitchFamily="34" charset="-122"/>
                <a:cs typeface="Calibri" pitchFamily="34" charset="-120"/>
              </a:rPr>
              <a:t>Annual revenue</a:t>
            </a:r>
            <a:endParaRPr lang="en-US" sz="1200" dirty="0"/>
          </a:p>
        </p:txBody>
      </p:sp>
      <p:sp>
        <p:nvSpPr>
          <p:cNvPr id="26" name="Shape 26">
            <a:extLst>
              <a:ext uri="{FF2B5EF4-FFF2-40B4-BE49-F238E27FC236}">
                <a16:creationId xmlns:a16="http://schemas.microsoft.com/office/drawing/2014/main" id="{06620712-6FB7-F77D-C600-EED603D5A974}"/>
              </a:ext>
            </a:extLst>
          </p:cNvPr>
          <p:cNvSpPr/>
          <p:nvPr/>
        </p:nvSpPr>
        <p:spPr>
          <a:xfrm>
            <a:off x="3017520" y="4032504"/>
            <a:ext cx="1874520" cy="566928"/>
          </a:xfrm>
          <a:prstGeom prst="rect">
            <a:avLst/>
          </a:prstGeom>
          <a:solidFill>
            <a:srgbClr val="E7FBF1"/>
          </a:solidFill>
          <a:ln w="12700">
            <a:solidFill>
              <a:srgbClr val="E4E7E8"/>
            </a:solidFill>
            <a:prstDash val="solid"/>
          </a:ln>
        </p:spPr>
        <p:txBody>
          <a:bodyPr/>
          <a:lstStyle/>
          <a:p>
            <a:endParaRPr lang="en-US"/>
          </a:p>
        </p:txBody>
      </p:sp>
      <p:sp>
        <p:nvSpPr>
          <p:cNvPr id="27" name="Text 27">
            <a:extLst>
              <a:ext uri="{FF2B5EF4-FFF2-40B4-BE49-F238E27FC236}">
                <a16:creationId xmlns:a16="http://schemas.microsoft.com/office/drawing/2014/main" id="{49AFE952-D30A-5B34-3BBF-E21E79C1929E}"/>
              </a:ext>
            </a:extLst>
          </p:cNvPr>
          <p:cNvSpPr/>
          <p:nvPr/>
        </p:nvSpPr>
        <p:spPr>
          <a:xfrm>
            <a:off x="3154680" y="4032504"/>
            <a:ext cx="1600200" cy="566928"/>
          </a:xfrm>
          <a:prstGeom prst="rect">
            <a:avLst/>
          </a:prstGeom>
          <a:noFill/>
          <a:ln/>
        </p:spPr>
        <p:txBody>
          <a:bodyPr wrap="square" rtlCol="0" anchor="ctr"/>
          <a:lstStyle/>
          <a:p>
            <a:pPr marL="0" indent="0" algn="ctr">
              <a:buNone/>
            </a:pPr>
            <a:r>
              <a:rPr lang="en-US" sz="1300" b="1" dirty="0">
                <a:solidFill>
                  <a:srgbClr val="0F9D5A"/>
                </a:solidFill>
                <a:latin typeface="Calibri" pitchFamily="34" charset="0"/>
                <a:ea typeface="Calibri" pitchFamily="34" charset="-122"/>
                <a:cs typeface="Calibri" pitchFamily="34" charset="-120"/>
              </a:rPr>
              <a:t>$9.45B</a:t>
            </a:r>
            <a:endParaRPr lang="en-US" sz="1300" dirty="0"/>
          </a:p>
        </p:txBody>
      </p:sp>
      <p:sp>
        <p:nvSpPr>
          <p:cNvPr id="28" name="Shape 28">
            <a:extLst>
              <a:ext uri="{FF2B5EF4-FFF2-40B4-BE49-F238E27FC236}">
                <a16:creationId xmlns:a16="http://schemas.microsoft.com/office/drawing/2014/main" id="{8DF8CC76-C65D-2F91-7C0B-8F4FB9B7CFD4}"/>
              </a:ext>
            </a:extLst>
          </p:cNvPr>
          <p:cNvSpPr/>
          <p:nvPr/>
        </p:nvSpPr>
        <p:spPr>
          <a:xfrm>
            <a:off x="4892040" y="4032504"/>
            <a:ext cx="2286000" cy="566928"/>
          </a:xfrm>
          <a:prstGeom prst="rect">
            <a:avLst/>
          </a:prstGeom>
          <a:solidFill>
            <a:srgbClr val="E7FBF1"/>
          </a:solidFill>
          <a:ln w="12700">
            <a:solidFill>
              <a:srgbClr val="E4E7E8"/>
            </a:solidFill>
            <a:prstDash val="solid"/>
          </a:ln>
        </p:spPr>
        <p:txBody>
          <a:bodyPr/>
          <a:lstStyle/>
          <a:p>
            <a:endParaRPr lang="en-US"/>
          </a:p>
        </p:txBody>
      </p:sp>
      <p:sp>
        <p:nvSpPr>
          <p:cNvPr id="29" name="Text 29">
            <a:extLst>
              <a:ext uri="{FF2B5EF4-FFF2-40B4-BE49-F238E27FC236}">
                <a16:creationId xmlns:a16="http://schemas.microsoft.com/office/drawing/2014/main" id="{EE16B1B8-4ED8-0199-ED7E-7B68CC90F0DD}"/>
              </a:ext>
            </a:extLst>
          </p:cNvPr>
          <p:cNvSpPr/>
          <p:nvPr/>
        </p:nvSpPr>
        <p:spPr>
          <a:xfrm>
            <a:off x="5029200" y="4032504"/>
            <a:ext cx="2011680" cy="566928"/>
          </a:xfrm>
          <a:prstGeom prst="rect">
            <a:avLst/>
          </a:prstGeom>
          <a:noFill/>
          <a:ln/>
        </p:spPr>
        <p:txBody>
          <a:bodyPr wrap="square" rtlCol="0" anchor="ctr"/>
          <a:lstStyle/>
          <a:p>
            <a:pPr marL="0" indent="0" algn="ctr">
              <a:buNone/>
            </a:pPr>
            <a:r>
              <a:rPr lang="en-US" sz="1300" b="1" dirty="0">
                <a:solidFill>
                  <a:srgbClr val="0F9D5A"/>
                </a:solidFill>
                <a:latin typeface="Calibri" pitchFamily="34" charset="0"/>
                <a:ea typeface="Calibri" pitchFamily="34" charset="-122"/>
                <a:cs typeface="Calibri" pitchFamily="34" charset="-120"/>
              </a:rPr>
              <a:t>$9.87B</a:t>
            </a:r>
            <a:endParaRPr lang="en-US" sz="1300" dirty="0"/>
          </a:p>
        </p:txBody>
      </p:sp>
      <p:sp>
        <p:nvSpPr>
          <p:cNvPr id="31" name="Shape 31">
            <a:extLst>
              <a:ext uri="{FF2B5EF4-FFF2-40B4-BE49-F238E27FC236}">
                <a16:creationId xmlns:a16="http://schemas.microsoft.com/office/drawing/2014/main" id="{FA6C8E33-E4C5-F50E-AD8B-706DA1FD2C17}"/>
              </a:ext>
            </a:extLst>
          </p:cNvPr>
          <p:cNvSpPr/>
          <p:nvPr/>
        </p:nvSpPr>
        <p:spPr>
          <a:xfrm>
            <a:off x="7543800" y="2331720"/>
            <a:ext cx="4144975" cy="2267712"/>
          </a:xfrm>
          <a:prstGeom prst="roundRect">
            <a:avLst>
              <a:gd name="adj" fmla="val 4032"/>
            </a:avLst>
          </a:prstGeom>
          <a:gradFill flip="none" rotWithShape="1">
            <a:gsLst>
              <a:gs pos="0">
                <a:srgbClr val="00A446">
                  <a:tint val="66000"/>
                  <a:satMod val="160000"/>
                </a:srgbClr>
              </a:gs>
              <a:gs pos="50000">
                <a:srgbClr val="00A446">
                  <a:tint val="44500"/>
                  <a:satMod val="160000"/>
                </a:srgbClr>
              </a:gs>
              <a:gs pos="100000">
                <a:srgbClr val="00A446">
                  <a:tint val="23500"/>
                  <a:satMod val="160000"/>
                </a:srgbClr>
              </a:gs>
            </a:gsLst>
            <a:lin ang="16200000" scaled="1"/>
            <a:tileRect/>
          </a:gradFill>
          <a:ln/>
        </p:spPr>
        <p:txBody>
          <a:bodyPr/>
          <a:lstStyle/>
          <a:p>
            <a:endParaRPr lang="en-US" dirty="0"/>
          </a:p>
        </p:txBody>
      </p:sp>
      <p:sp>
        <p:nvSpPr>
          <p:cNvPr id="32" name="Text 32">
            <a:extLst>
              <a:ext uri="{FF2B5EF4-FFF2-40B4-BE49-F238E27FC236}">
                <a16:creationId xmlns:a16="http://schemas.microsoft.com/office/drawing/2014/main" id="{419079F9-4F0F-26DA-D7E2-94929E604897}"/>
              </a:ext>
            </a:extLst>
          </p:cNvPr>
          <p:cNvSpPr/>
          <p:nvPr/>
        </p:nvSpPr>
        <p:spPr>
          <a:xfrm>
            <a:off x="7772400" y="2532888"/>
            <a:ext cx="3687775" cy="457200"/>
          </a:xfrm>
          <a:prstGeom prst="rect">
            <a:avLst/>
          </a:prstGeom>
          <a:noFill/>
          <a:ln/>
        </p:spPr>
        <p:txBody>
          <a:bodyPr wrap="square" rtlCol="0" anchor="ctr"/>
          <a:lstStyle/>
          <a:p>
            <a:pPr marL="0" indent="0">
              <a:buNone/>
            </a:pPr>
            <a:r>
              <a:rPr lang="en-US" sz="1300" b="1" kern="0" spc="50" dirty="0">
                <a:solidFill>
                  <a:srgbClr val="0B0E0F"/>
                </a:solidFill>
                <a:latin typeface="Calibri" pitchFamily="34" charset="0"/>
                <a:ea typeface="Calibri" pitchFamily="34" charset="-122"/>
                <a:cs typeface="Calibri" pitchFamily="34" charset="-120"/>
              </a:rPr>
              <a:t>Estimated Annual Revenue Increase: </a:t>
            </a:r>
            <a:endParaRPr lang="en-US" sz="1300" dirty="0"/>
          </a:p>
        </p:txBody>
      </p:sp>
      <p:sp>
        <p:nvSpPr>
          <p:cNvPr id="33" name="Text 33">
            <a:extLst>
              <a:ext uri="{FF2B5EF4-FFF2-40B4-BE49-F238E27FC236}">
                <a16:creationId xmlns:a16="http://schemas.microsoft.com/office/drawing/2014/main" id="{C9E37846-2E53-77B1-9F12-92910A7A218B}"/>
              </a:ext>
            </a:extLst>
          </p:cNvPr>
          <p:cNvSpPr/>
          <p:nvPr/>
        </p:nvSpPr>
        <p:spPr>
          <a:xfrm>
            <a:off x="8597348" y="3182112"/>
            <a:ext cx="3687775" cy="822960"/>
          </a:xfrm>
          <a:prstGeom prst="rect">
            <a:avLst/>
          </a:prstGeom>
          <a:noFill/>
          <a:ln/>
        </p:spPr>
        <p:txBody>
          <a:bodyPr wrap="square" rtlCol="0" anchor="ctr"/>
          <a:lstStyle/>
          <a:p>
            <a:pPr marL="0" indent="0">
              <a:buNone/>
            </a:pPr>
            <a:r>
              <a:rPr lang="en-US" sz="3800" b="1" dirty="0">
                <a:solidFill>
                  <a:srgbClr val="0B0E0F"/>
                </a:solidFill>
                <a:latin typeface="Cambria" pitchFamily="34" charset="0"/>
                <a:ea typeface="Cambria" pitchFamily="34" charset="-122"/>
                <a:cs typeface="Cambria" pitchFamily="34" charset="-120"/>
              </a:rPr>
              <a:t>+$650M</a:t>
            </a:r>
            <a:endParaRPr lang="en-US" sz="3800" dirty="0"/>
          </a:p>
        </p:txBody>
      </p:sp>
      <p:sp>
        <p:nvSpPr>
          <p:cNvPr id="39" name="Text 1">
            <a:extLst>
              <a:ext uri="{FF2B5EF4-FFF2-40B4-BE49-F238E27FC236}">
                <a16:creationId xmlns:a16="http://schemas.microsoft.com/office/drawing/2014/main" id="{18E592F2-127C-BD9E-B17C-9A8F0162D689}"/>
              </a:ext>
            </a:extLst>
          </p:cNvPr>
          <p:cNvSpPr/>
          <p:nvPr/>
        </p:nvSpPr>
        <p:spPr>
          <a:xfrm>
            <a:off x="502919" y="376291"/>
            <a:ext cx="11185855" cy="548640"/>
          </a:xfrm>
          <a:prstGeom prst="rect">
            <a:avLst/>
          </a:prstGeom>
          <a:noFill/>
          <a:ln/>
        </p:spPr>
        <p:txBody>
          <a:bodyPr wrap="square" rtlCol="0" anchor="ctr"/>
          <a:lstStyle/>
          <a:p>
            <a:pPr marL="0" indent="0">
              <a:buNone/>
            </a:pPr>
            <a:r>
              <a:rPr lang="en-US" sz="3000" b="1" dirty="0">
                <a:solidFill>
                  <a:srgbClr val="0B0E0F"/>
                </a:solidFill>
                <a:latin typeface="Cambria" pitchFamily="34" charset="0"/>
                <a:ea typeface="Cambria" pitchFamily="34" charset="-122"/>
                <a:cs typeface="Cambria" pitchFamily="34" charset="-120"/>
              </a:rPr>
              <a:t>Expected Impact of Strategic Recommendation</a:t>
            </a:r>
            <a:endParaRPr lang="en-US" sz="3000" dirty="0"/>
          </a:p>
        </p:txBody>
      </p:sp>
      <p:sp>
        <p:nvSpPr>
          <p:cNvPr id="41" name="TextBox 40">
            <a:extLst>
              <a:ext uri="{FF2B5EF4-FFF2-40B4-BE49-F238E27FC236}">
                <a16:creationId xmlns:a16="http://schemas.microsoft.com/office/drawing/2014/main" id="{F6D2A938-0538-D721-4C51-7C856FA16CED}"/>
              </a:ext>
            </a:extLst>
          </p:cNvPr>
          <p:cNvSpPr txBox="1"/>
          <p:nvPr/>
        </p:nvSpPr>
        <p:spPr>
          <a:xfrm>
            <a:off x="624993" y="5076426"/>
            <a:ext cx="6553047" cy="738664"/>
          </a:xfrm>
          <a:prstGeom prst="rect">
            <a:avLst/>
          </a:prstGeom>
          <a:noFill/>
        </p:spPr>
        <p:txBody>
          <a:bodyPr wrap="square">
            <a:spAutoFit/>
          </a:bodyPr>
          <a:lstStyle/>
          <a:p>
            <a:r>
              <a:rPr lang="en-US" sz="1400" dirty="0">
                <a:solidFill>
                  <a:schemeClr val="bg2">
                    <a:lumMod val="25000"/>
                  </a:schemeClr>
                </a:solidFill>
              </a:rPr>
              <a:t>A 7% increase in subscribers through stronger content offerings could generate approximately $650M in additional annual revenue, reinforcing content investment as a key growth driver for Hulu.</a:t>
            </a:r>
          </a:p>
        </p:txBody>
      </p:sp>
    </p:spTree>
    <p:extLst>
      <p:ext uri="{BB962C8B-B14F-4D97-AF65-F5344CB8AC3E}">
        <p14:creationId xmlns:p14="http://schemas.microsoft.com/office/powerpoint/2010/main" val="2093623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0B0E0F"/>
        </a:solidFill>
        <a:effectLst/>
      </p:bgPr>
    </p:bg>
    <p:spTree>
      <p:nvGrpSpPr>
        <p:cNvPr id="1" name=""/>
        <p:cNvGrpSpPr/>
        <p:nvPr/>
      </p:nvGrpSpPr>
      <p:grpSpPr>
        <a:xfrm>
          <a:off x="0" y="0"/>
          <a:ext cx="0" cy="0"/>
          <a:chOff x="0" y="0"/>
          <a:chExt cx="0" cy="0"/>
        </a:xfrm>
      </p:grpSpPr>
      <p:sp>
        <p:nvSpPr>
          <p:cNvPr id="3" name="Text 1"/>
          <p:cNvSpPr/>
          <p:nvPr/>
        </p:nvSpPr>
        <p:spPr>
          <a:xfrm>
            <a:off x="502920" y="621792"/>
            <a:ext cx="11185855"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Expected Outcome for Hulu</a:t>
            </a:r>
            <a:endParaRPr lang="en-US" sz="3000" dirty="0"/>
          </a:p>
        </p:txBody>
      </p:sp>
      <p:sp>
        <p:nvSpPr>
          <p:cNvPr id="6" name="Shape 4"/>
          <p:cNvSpPr/>
          <p:nvPr/>
        </p:nvSpPr>
        <p:spPr>
          <a:xfrm>
            <a:off x="502920" y="1828800"/>
            <a:ext cx="2556434" cy="3291840"/>
          </a:xfrm>
          <a:prstGeom prst="roundRect">
            <a:avLst>
              <a:gd name="adj" fmla="val 3577"/>
            </a:avLst>
          </a:prstGeom>
          <a:solidFill>
            <a:srgbClr val="141819"/>
          </a:solidFill>
          <a:ln w="12700">
            <a:solidFill>
              <a:srgbClr val="252B2C"/>
            </a:solidFill>
            <a:prstDash val="solid"/>
          </a:ln>
        </p:spPr>
        <p:txBody>
          <a:bodyPr/>
          <a:lstStyle/>
          <a:p>
            <a:endParaRPr lang="en-US"/>
          </a:p>
        </p:txBody>
      </p:sp>
      <p:sp>
        <p:nvSpPr>
          <p:cNvPr id="7" name="Shape 5"/>
          <p:cNvSpPr/>
          <p:nvPr/>
        </p:nvSpPr>
        <p:spPr>
          <a:xfrm>
            <a:off x="758952" y="2103120"/>
            <a:ext cx="457200" cy="457200"/>
          </a:xfrm>
          <a:prstGeom prst="ellipse">
            <a:avLst/>
          </a:prstGeom>
          <a:solidFill>
            <a:srgbClr val="0FAF2C"/>
          </a:solidFill>
          <a:ln/>
        </p:spPr>
        <p:txBody>
          <a:bodyPr/>
          <a:lstStyle/>
          <a:p>
            <a:endParaRPr lang="en-US"/>
          </a:p>
        </p:txBody>
      </p:sp>
      <p:sp>
        <p:nvSpPr>
          <p:cNvPr id="8" name="Text 6"/>
          <p:cNvSpPr/>
          <p:nvPr/>
        </p:nvSpPr>
        <p:spPr>
          <a:xfrm>
            <a:off x="758952" y="2103120"/>
            <a:ext cx="457200" cy="457200"/>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758952" y="2743200"/>
            <a:ext cx="2044370" cy="68580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Higher Retention</a:t>
            </a:r>
            <a:endParaRPr lang="en-US" sz="1550" dirty="0"/>
          </a:p>
        </p:txBody>
      </p:sp>
      <p:sp>
        <p:nvSpPr>
          <p:cNvPr id="10" name="Text 8"/>
          <p:cNvSpPr/>
          <p:nvPr/>
        </p:nvSpPr>
        <p:spPr>
          <a:xfrm>
            <a:off x="758952" y="3429000"/>
            <a:ext cx="2044370" cy="1508760"/>
          </a:xfrm>
          <a:prstGeom prst="rect">
            <a:avLst/>
          </a:prstGeom>
          <a:noFill/>
          <a:ln/>
        </p:spPr>
        <p:txBody>
          <a:bodyPr wrap="square" rtlCol="0" anchor="ctr"/>
          <a:lstStyle/>
          <a:p>
            <a:pPr marL="0" indent="0">
              <a:lnSpc>
                <a:spcPts val="1500"/>
              </a:lnSpc>
              <a:buNone/>
            </a:pPr>
            <a:r>
              <a:rPr lang="en-US" sz="1100" dirty="0">
                <a:solidFill>
                  <a:srgbClr val="B9BFC0"/>
                </a:solidFill>
                <a:latin typeface="Calibri" pitchFamily="34" charset="0"/>
                <a:ea typeface="Calibri" pitchFamily="34" charset="-122"/>
                <a:cs typeface="Calibri" pitchFamily="34" charset="-120"/>
              </a:rPr>
              <a:t>Next-day TV drives daily engagement and strengthen viewer loyalty</a:t>
            </a:r>
            <a:endParaRPr lang="en-US" sz="1100" dirty="0"/>
          </a:p>
        </p:txBody>
      </p:sp>
      <p:sp>
        <p:nvSpPr>
          <p:cNvPr id="11" name="Shape 9"/>
          <p:cNvSpPr/>
          <p:nvPr/>
        </p:nvSpPr>
        <p:spPr>
          <a:xfrm>
            <a:off x="3379394" y="1828800"/>
            <a:ext cx="2556434" cy="3291840"/>
          </a:xfrm>
          <a:prstGeom prst="roundRect">
            <a:avLst>
              <a:gd name="adj" fmla="val 3577"/>
            </a:avLst>
          </a:prstGeom>
          <a:solidFill>
            <a:srgbClr val="141819"/>
          </a:solidFill>
          <a:ln w="12700">
            <a:solidFill>
              <a:srgbClr val="252B2C"/>
            </a:solidFill>
            <a:prstDash val="solid"/>
          </a:ln>
        </p:spPr>
        <p:txBody>
          <a:bodyPr/>
          <a:lstStyle/>
          <a:p>
            <a:endParaRPr lang="en-US"/>
          </a:p>
        </p:txBody>
      </p:sp>
      <p:sp>
        <p:nvSpPr>
          <p:cNvPr id="12" name="Shape 10"/>
          <p:cNvSpPr/>
          <p:nvPr/>
        </p:nvSpPr>
        <p:spPr>
          <a:xfrm>
            <a:off x="3635426" y="2103120"/>
            <a:ext cx="457200" cy="457200"/>
          </a:xfrm>
          <a:prstGeom prst="ellipse">
            <a:avLst/>
          </a:prstGeom>
          <a:solidFill>
            <a:srgbClr val="0FAF2C"/>
          </a:solidFill>
          <a:ln/>
        </p:spPr>
        <p:txBody>
          <a:bodyPr/>
          <a:lstStyle/>
          <a:p>
            <a:endParaRPr lang="en-US"/>
          </a:p>
        </p:txBody>
      </p:sp>
      <p:sp>
        <p:nvSpPr>
          <p:cNvPr id="13" name="Text 11"/>
          <p:cNvSpPr/>
          <p:nvPr/>
        </p:nvSpPr>
        <p:spPr>
          <a:xfrm>
            <a:off x="3635426" y="2103120"/>
            <a:ext cx="457200" cy="457200"/>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3635426" y="2743200"/>
            <a:ext cx="2044370" cy="68580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Incremental Revenue</a:t>
            </a:r>
            <a:endParaRPr lang="en-US" sz="1550" dirty="0"/>
          </a:p>
        </p:txBody>
      </p:sp>
      <p:sp>
        <p:nvSpPr>
          <p:cNvPr id="15" name="Text 13"/>
          <p:cNvSpPr/>
          <p:nvPr/>
        </p:nvSpPr>
        <p:spPr>
          <a:xfrm>
            <a:off x="3635426" y="3429000"/>
            <a:ext cx="2044370" cy="1508760"/>
          </a:xfrm>
          <a:prstGeom prst="rect">
            <a:avLst/>
          </a:prstGeom>
          <a:noFill/>
          <a:ln/>
        </p:spPr>
        <p:txBody>
          <a:bodyPr wrap="square" rtlCol="0" anchor="ctr"/>
          <a:lstStyle/>
          <a:p>
            <a:pPr marL="0" indent="0">
              <a:lnSpc>
                <a:spcPts val="1500"/>
              </a:lnSpc>
              <a:buNone/>
            </a:pPr>
            <a:r>
              <a:rPr lang="en-US" sz="1100" dirty="0">
                <a:solidFill>
                  <a:srgbClr val="B9BFC0"/>
                </a:solidFill>
                <a:latin typeface="Calibri" pitchFamily="34" charset="0"/>
                <a:ea typeface="Calibri" pitchFamily="34" charset="-122"/>
                <a:cs typeface="Calibri" pitchFamily="34" charset="-120"/>
              </a:rPr>
              <a:t>Ad-tier growth and bundling expand revenue opportunities </a:t>
            </a:r>
          </a:p>
        </p:txBody>
      </p:sp>
      <p:sp>
        <p:nvSpPr>
          <p:cNvPr id="16" name="Shape 14"/>
          <p:cNvSpPr/>
          <p:nvPr/>
        </p:nvSpPr>
        <p:spPr>
          <a:xfrm>
            <a:off x="6255868" y="1828800"/>
            <a:ext cx="2556434" cy="3291840"/>
          </a:xfrm>
          <a:prstGeom prst="roundRect">
            <a:avLst>
              <a:gd name="adj" fmla="val 3577"/>
            </a:avLst>
          </a:prstGeom>
          <a:solidFill>
            <a:srgbClr val="141819"/>
          </a:solidFill>
          <a:ln w="12700">
            <a:solidFill>
              <a:srgbClr val="252B2C"/>
            </a:solidFill>
            <a:prstDash val="solid"/>
          </a:ln>
        </p:spPr>
        <p:txBody>
          <a:bodyPr/>
          <a:lstStyle/>
          <a:p>
            <a:endParaRPr lang="en-US"/>
          </a:p>
        </p:txBody>
      </p:sp>
      <p:sp>
        <p:nvSpPr>
          <p:cNvPr id="17" name="Shape 15"/>
          <p:cNvSpPr/>
          <p:nvPr/>
        </p:nvSpPr>
        <p:spPr>
          <a:xfrm>
            <a:off x="6511900" y="2103120"/>
            <a:ext cx="457200" cy="457200"/>
          </a:xfrm>
          <a:prstGeom prst="ellipse">
            <a:avLst/>
          </a:prstGeom>
          <a:solidFill>
            <a:srgbClr val="0FAF2C"/>
          </a:solidFill>
          <a:ln/>
        </p:spPr>
        <p:txBody>
          <a:bodyPr/>
          <a:lstStyle/>
          <a:p>
            <a:endParaRPr lang="en-US"/>
          </a:p>
        </p:txBody>
      </p:sp>
      <p:sp>
        <p:nvSpPr>
          <p:cNvPr id="18" name="Text 16"/>
          <p:cNvSpPr/>
          <p:nvPr/>
        </p:nvSpPr>
        <p:spPr>
          <a:xfrm>
            <a:off x="6511900" y="2103120"/>
            <a:ext cx="457200" cy="457200"/>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511900" y="2743200"/>
            <a:ext cx="2044370" cy="68580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Broader Household Reach</a:t>
            </a:r>
            <a:endParaRPr lang="en-US" sz="1550" dirty="0"/>
          </a:p>
        </p:txBody>
      </p:sp>
      <p:sp>
        <p:nvSpPr>
          <p:cNvPr id="20" name="Text 18"/>
          <p:cNvSpPr/>
          <p:nvPr/>
        </p:nvSpPr>
        <p:spPr>
          <a:xfrm>
            <a:off x="6511900" y="3429000"/>
            <a:ext cx="2044370" cy="1508760"/>
          </a:xfrm>
          <a:prstGeom prst="rect">
            <a:avLst/>
          </a:prstGeom>
          <a:noFill/>
          <a:ln/>
        </p:spPr>
        <p:txBody>
          <a:bodyPr wrap="square" rtlCol="0" anchor="ctr"/>
          <a:lstStyle/>
          <a:p>
            <a:pPr marL="0" indent="0">
              <a:lnSpc>
                <a:spcPts val="1500"/>
              </a:lnSpc>
              <a:buNone/>
            </a:pPr>
            <a:r>
              <a:rPr lang="en-US" sz="1100" dirty="0">
                <a:solidFill>
                  <a:srgbClr val="B9BFC0"/>
                </a:solidFill>
                <a:latin typeface="Calibri" pitchFamily="34" charset="0"/>
                <a:ea typeface="Calibri" pitchFamily="34" charset="-122"/>
                <a:cs typeface="Calibri" pitchFamily="34" charset="-120"/>
              </a:rPr>
              <a:t>Targeted movie &amp; family investment narrows the gap with Disney+ and Netflix</a:t>
            </a:r>
            <a:endParaRPr lang="en-US" sz="1100" dirty="0"/>
          </a:p>
        </p:txBody>
      </p:sp>
      <p:sp>
        <p:nvSpPr>
          <p:cNvPr id="21" name="Shape 19"/>
          <p:cNvSpPr/>
          <p:nvPr/>
        </p:nvSpPr>
        <p:spPr>
          <a:xfrm>
            <a:off x="9132341" y="1828800"/>
            <a:ext cx="2556434" cy="3291840"/>
          </a:xfrm>
          <a:prstGeom prst="roundRect">
            <a:avLst>
              <a:gd name="adj" fmla="val 3577"/>
            </a:avLst>
          </a:prstGeom>
          <a:solidFill>
            <a:srgbClr val="141819"/>
          </a:solidFill>
          <a:ln w="12700">
            <a:solidFill>
              <a:srgbClr val="252B2C"/>
            </a:solidFill>
            <a:prstDash val="solid"/>
          </a:ln>
        </p:spPr>
        <p:txBody>
          <a:bodyPr/>
          <a:lstStyle/>
          <a:p>
            <a:endParaRPr lang="en-US"/>
          </a:p>
        </p:txBody>
      </p:sp>
      <p:sp>
        <p:nvSpPr>
          <p:cNvPr id="22" name="Shape 20"/>
          <p:cNvSpPr/>
          <p:nvPr/>
        </p:nvSpPr>
        <p:spPr>
          <a:xfrm>
            <a:off x="9388373" y="2103120"/>
            <a:ext cx="457200" cy="457200"/>
          </a:xfrm>
          <a:prstGeom prst="ellipse">
            <a:avLst/>
          </a:prstGeom>
          <a:solidFill>
            <a:srgbClr val="0FAF2C"/>
          </a:solidFill>
          <a:ln/>
        </p:spPr>
        <p:txBody>
          <a:bodyPr/>
          <a:lstStyle/>
          <a:p>
            <a:endParaRPr lang="en-US"/>
          </a:p>
        </p:txBody>
      </p:sp>
      <p:sp>
        <p:nvSpPr>
          <p:cNvPr id="23" name="Text 21"/>
          <p:cNvSpPr/>
          <p:nvPr/>
        </p:nvSpPr>
        <p:spPr>
          <a:xfrm>
            <a:off x="9388373" y="2103120"/>
            <a:ext cx="457200" cy="457200"/>
          </a:xfrm>
          <a:prstGeom prst="rect">
            <a:avLst/>
          </a:prstGeom>
          <a:noFill/>
          <a:ln/>
        </p:spPr>
        <p:txBody>
          <a:bodyPr wrap="square" rtlCol="0" anchor="ctr"/>
          <a:lstStyle/>
          <a:p>
            <a:pPr marL="0" indent="0" algn="ctr">
              <a:buNone/>
            </a:pPr>
            <a:r>
              <a:rPr lang="en-US" sz="1500" b="1" dirty="0">
                <a:solidFill>
                  <a:srgbClr val="0B0E0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9388373" y="2743200"/>
            <a:ext cx="2044370" cy="68580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A More Distinct, Clearer Brand Positioning</a:t>
            </a:r>
            <a:endParaRPr lang="en-US" sz="1550" dirty="0"/>
          </a:p>
        </p:txBody>
      </p:sp>
      <p:sp>
        <p:nvSpPr>
          <p:cNvPr id="25" name="Text 23"/>
          <p:cNvSpPr/>
          <p:nvPr/>
        </p:nvSpPr>
        <p:spPr>
          <a:xfrm>
            <a:off x="9388373" y="3429000"/>
            <a:ext cx="2044370" cy="1508760"/>
          </a:xfrm>
          <a:prstGeom prst="rect">
            <a:avLst/>
          </a:prstGeom>
          <a:noFill/>
          <a:ln/>
        </p:spPr>
        <p:txBody>
          <a:bodyPr wrap="square" rtlCol="0" anchor="ctr"/>
          <a:lstStyle/>
          <a:p>
            <a:pPr marL="0" indent="0">
              <a:lnSpc>
                <a:spcPts val="1500"/>
              </a:lnSpc>
              <a:buNone/>
            </a:pPr>
            <a:r>
              <a:rPr lang="en-US" sz="1100" dirty="0">
                <a:solidFill>
                  <a:srgbClr val="B9BFC0"/>
                </a:solidFill>
                <a:latin typeface="Calibri" pitchFamily="34" charset="0"/>
                <a:ea typeface="Calibri" pitchFamily="34" charset="-122"/>
                <a:cs typeface="Calibri" pitchFamily="34" charset="-120"/>
              </a:rPr>
              <a:t>Reinforced Hulu’s position as the home for drama &amp; reality TV, strengthening differentiation rather than competing directly with Netflix’s scale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1377</TotalTime>
  <Words>1377</Words>
  <Application>Microsoft Macintosh PowerPoint</Application>
  <PresentationFormat>Widescreen</PresentationFormat>
  <Paragraphs>191</Paragraphs>
  <Slides>13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Commissioner</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Streaming Business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SVoD BI Project</dc:creator>
  <cp:lastModifiedBy>Yadana, Ei</cp:lastModifiedBy>
  <cp:revision>2</cp:revision>
  <dcterms:created xsi:type="dcterms:W3CDTF">2026-07-25T16:12:56Z</dcterms:created>
  <dcterms:modified xsi:type="dcterms:W3CDTF">2026-07-26T15:13:55Z</dcterms:modified>
</cp:coreProperties>
</file>